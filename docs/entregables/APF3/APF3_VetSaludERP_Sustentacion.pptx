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b087c98d-6a20-af18-a0c7-011c36b680cc}">
          <p14:sldIdLst>
            <p14:sldId id="256"/>
            <p14:sldId id="257"/>
          </p14:sldIdLst>
        </p14:section>
        <p14:section name="Diseño" id="{6d93afd5-f4ac-78c1-c074-c37e330608f1}">
          <p14:sldIdLst>
            <p14:sldId id="258"/>
            <p14:sldId id="259"/>
            <p14:sldId id="260"/>
            <p14:sldId id="261"/>
          </p14:sldIdLst>
        </p14:section>
        <p14:section name="Construcción" id="{6691c31f-febb-84d0-ce15-719795d41f7a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Resultados" id="{59547e31-e9f5-29a3-15f4-e1215bb79ea1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[Luis Arango · 0:30] Buenos días, profesora y compañeros. Somos el grupo de VetSalud ERP: Luis Mamani, Easy Tuñoque, Jean Sánchez y yo, Luis Arango. En el APF1 analizamos la clínica veterinaria VetSalud Integral y en el APF2 diseñamos la solución. Hoy presentamos el APF3: la construcción del sistema. Mostraremos la arquitectura, los principios aplicados, la seguridad, el uso de Git y las doce pantallas funcionando, y terminaremos con las pruebas que demuestran que el código cumple lo que el documento promete.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[Luis Arango · 0:45] La clínica tenía historias clínicas en papel, citas y ventas en registros separados, inventario en hojas de cálculo y una caja aislada de la atención. Por eso los vencimientos se perdían y los reportes llegaban tarde. En el APF2 elegimos la alternativa A: un ERP web modular en Java MVC con PostgreSQL. Ese diseño comprometió doce pantallas que cubren treinta y ocho requisitos funcionales y dieciocho no funcionales. La versión 0.4.0 que presentamos implementa el cien por ciento de ese alcance.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[Luis Arango · 0:45] La arquitectura tiene cinco capas. La vista son páginas JSP con JSTL y un menú que cambia según el rol. Los controladores son servlets que heredan de un controlador base. Los servicios concentran las reglas de negocio. Los DAO separan el acceso a datos: cada uno es una interfaz con su implementación JDBC, siempre con PreparedStatement. Finalmente, PostgreSQL protege las reglas críticas con restricciones, triggers y funciones. Así, aunque alguien se salte la aplicación, la base de datos no acepta un dato inválido. Le paso la palabra a Luis Mamani.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[Luis Mamani · 0:45] La rúbrica pide al menos tres principios; aplicamos los cuatro. Responsabilidad única: un servicio por caso de uso. Abierto/cerrado: para exportar en otro formato basta con crear un exportador nuevo, sin tocar el servicio. Sustitución y segregación: interfaces DAO pequeñas que en las pruebas reemplazamos por versiones en memoria. Inversión de dependencias: cada servicio recibe sus interfaces por el constructor. Con TDD escribimos primero las pruebas de autenticación, que fallaron, y luego el servicio. Hoy son 237 pruebas en verde.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[Luis Mamani · 0:45] La seguridad está en cada capa. Las contraseñas se guardan con PBKDF2 y sal, y la cuenta se bloquea al quinto intento fallido con un mensaje que no revela si el usuario existe. La sesión dura quince minutos y su cookie es HttpOnly. Un filtro único aplica la matriz de acceso por rol. Todo formulario lleva un token CSRF; las consultas usan PreparedStatement y la salida se escapa para evitar XSS. En la base, la aplicación usa un rol con privilegio mínimo, la auditoría no se puede modificar y los logs enmascaran DNI, correos y claves.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[Luis Mamani · 0:40] Usamos las cuatro librerías de la semana diez con un propósito concreto. Google Guava valida argumentos, guarda en caché los parámetros y mantiene inmutable la matriz de acceso. Apache Commons limpia las entradas y convierte números de forma segura. Apache POI genera los reportes en Excel con formato de moneda y fecha. Logback registra errores y auditoría con el usuario y un código de seguimiento por solicitud, enmascarando los datos sensibles. Además, el sesenta y ocho por ciento del código es Java, por encima del cincuenta que exige la consigna. Continúa Easy Tuñoque.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[Easy Tuñoque · 0:40] Versionamos todo con Git y lo publicamos en GitHub. Trabajamos con tres tipos de rama: main para las versiones entregadas, con la etiqueta v0.4.0; develop para integrar; y una rama por funcionalidad, que se fusiona con merge no fast-forward para que cada módulo quede visible en el historial. Cada commit sigue la convención tipo, verbo y requisito, por ejemplo «feat: implementa venta con receta… RF-26». El repositorio guarda el cien por ciento de los entregables: scripts, código, pruebas, diagramas, evidencias e informes.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[Easy Tuñoque · 0:40] Ahora las pantallas. P01 es el acceso: si la clave es incorrecta muestra un mensaje genérico y al quinto intento bloquea la cuenta; desde «Mi cuenta» se cambia la contraseña según la política. P02 es el panel: cada rol ve sus indicadores del día, su agenda y sus alertas. P03 gestiona clientes y mascotas: el documento es único, la mascota tiene foto validada y el cambio de propietario queda registrado con su motivo.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[Easy Tuñoque · 0:45] P04 es la agenda diaria y semanal. Solo muestra las acciones válidas para cada estado y rechaza una cita que se cruza con otra del mismo veterinario. P05 es la historia clínica en orden cronológico, con consultas, diagnósticos, procedimientos, recetas y controles. P06 registra procedimientos con su tarifa y la receta imprimible. La consulta solo se firma con un diagnóstico principal; al firmarla queda de solo lectura, la cita pasa a atendida y se programa el recordatorio del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[Easy Tuñoque · 0:45] P07 controla el inventario por lotes. Sugiere el lote que vence primero, el método FEFO, y nunca vende un lote vencido. El kardex se concilia con el stock. P08 es el punto de venta: cobra la atención con sus procedimientos y productos. Un descuento mayor al diez por ciento pide la clave de un administrador, y la venta solo se confirma cuando los pagos cubren el total. P09 cierra la caja: si el efectivo contado no cuadra, exige una observación. Le paso la palabra a Jean Sánchez.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[Jean Sánchez · 0:40] P10 reúne los reportes de ventas, inventario y clínica. Los totales cuadran con las ventas confirmadas y todo se exporta a CSV o Excel con filtros, fecha y usuario. P11 es el portal del cliente: el dueño ve solo sus mascotas, citas y controles; si cambia el número en la dirección para ver otra mascota, recibe acceso denegado. P12 es la administración: usuarios con clave temporal, la matriz de permisos por rol y la auditoría con los valores antes y después de cada cambio.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[Jean Sánchez · 0:50] Este es el flujo real, ejecutado sobre la base recién instalada. Primero, recepción intenta programar una cita que se cruza con otra y el sistema la rechaza. Después, la veterinaria registra signos, diagnóstico y la vacuna, y firma la consulta: la cita queda atendida y el control programado. En caja se cobra esa atención; el sistema rechaza un descuento sin autorización, registra el pago con vuelto y emite el comprobante T001. Por último, el turno de caja muestra el cuadre por medio de pago. Todo el recorrido se automatizó y generó cuarenta y ocho capturas.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[Jean Sánchez · 0:45] Los resultados: 237 pruebas JUnit en verde, con 81,8 por ciento de cobertura de líneas en los servicios, por encima del setenta que pide el requisito RNF-12. Además, treinta y dos casos funcionales aprobados y los treinta y ocho requisitos trazados a una pantalla, a su código y a una prueba. En cada instalación, el script de pruebas de la base intenta romper catorce reglas de negocio y todas quedan bloqueadas. Las tablas y diagramas del informe se generan leyendo el código fuente, para que el documento y el código coincidan.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[Jean Sánchez · 0:35] En conclusión: la versión 0.4.0 cumple el alcance comprometido con una arquitectura MVC, DAO y SOLID construida con TDD, con seguridad desde la interfaz hasta la base de datos y un historial completo en GitHub. Para el proyecto final faltan la prueba de carga con cincuenta usuarios, las pruebas en Edge y Firefox, HTTPS en producción, el correo real para los recordatorios y los manuales por rol. Muchas gracias; quedamos atentos a sus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eanpieresanchezcabrera/Desktop/UTP/CursoIntegrador/APF3_VetSaludERP/informe/img/logo_ut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143000" cy="384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VetSalud ERP · APF3 · Curso Integrador 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60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VetSalud ERP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91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chemeClr val="accent6"/>
                </a:solidFill>
              </a:rPr>
              <a:t>Sistema integral de ventas y gestión para la Clínica Veterinaria VetSalud Integral S.A.C.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331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Avance de Proyecto Final 3 · Construcción de la solución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063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6"/>
                </a:solidFill>
              </a:rPr>
              <a:t>Curso Integrador I: Sistemas – Software (sección 20055) · Docente: Ing. Irani Guillén Gómez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6"/>
                </a:solidFill>
              </a:rPr>
              <a:t>Arango Lecca · Mamani Calizaya · Sanchez Cabrera · Tuñoque Alvarado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6"/>
                </a:solidFill>
              </a:rPr>
              <a:t>https://github.com/JeanUniSoft/vetsalud-erp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problema al alcance comprometido</a:t>
            </a:r>
            <a:endParaRPr lang="en-US" sz="2600" dirty="0"/>
          </a:p>
        </p:txBody>
      </p:sp>
      <p:sp>
        <p:nvSpPr>
          <p:cNvPr id="3" name="problema"/>
          <p:cNvSpPr/>
          <p:nvPr/>
        </p:nvSpPr>
        <p:spPr>
          <a:xfrm>
            <a:off x="457200" y="1005840"/>
            <a:ext cx="3931920" cy="3566160"/>
          </a:xfrm>
          <a:prstGeom prst="roundRect">
            <a:avLst>
              <a:gd name="adj" fmla="val 205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43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Problema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554480"/>
            <a:ext cx="3520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Historias clínicas en papel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Clientes, citas y ventas en registros separados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Inventario en hojas de cálculo: stock y vencimientos inciertos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Caja aislada de la atención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Reportes manuales y tardíos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0515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600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pantallas comprometidas (P01–P12)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766560" y="10515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16002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requisitos funcionales (RF-01 a RF-38)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22402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2788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requisitos no funcionales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224028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100 %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27889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del alcance implementado en la v0.4.0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35204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Alternativa A del APF2: ERP web modular Java MVC + PostgreSQL, desplegado como WAR en Tomcat 9 con JDK 25.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Arquitectura: MVC en capas con patrón DAO</a:t>
            </a:r>
            <a:endParaRPr lang="en-US" sz="2600" dirty="0"/>
          </a:p>
        </p:txBody>
      </p:sp>
      <p:pic>
        <p:nvPicPr>
          <p:cNvPr id="3" name="diagrama-arquitectura" descr="/Users/jeanpieresanchezcabrera/Desktop/UTP/CursoIntegrador/APF3_VetSaludERP/vetsalud-erp/docs/diagramas/arquitectu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587" y="914400"/>
            <a:ext cx="1791547" cy="3794760"/>
          </a:xfrm>
          <a:prstGeom prst="rect">
            <a:avLst/>
          </a:prstGeom>
        </p:spPr>
      </p:pic>
      <p:sp>
        <p:nvSpPr>
          <p:cNvPr id="4" name="capa-0"/>
          <p:cNvSpPr/>
          <p:nvPr/>
        </p:nvSpPr>
        <p:spPr>
          <a:xfrm>
            <a:off x="3383280" y="960120"/>
            <a:ext cx="530352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3566160" y="10058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Vista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029200" y="10058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JSP + JSTL, plantilla común y menú por rol</a:t>
            </a:r>
            <a:endParaRPr lang="en-US" sz="1300" dirty="0"/>
          </a:p>
        </p:txBody>
      </p:sp>
      <p:sp>
        <p:nvSpPr>
          <p:cNvPr id="7" name="capa-1"/>
          <p:cNvSpPr/>
          <p:nvPr/>
        </p:nvSpPr>
        <p:spPr>
          <a:xfrm>
            <a:off x="3383280" y="1709928"/>
            <a:ext cx="530352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66160" y="175564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Controlador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029200" y="175564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28 servlets que extienden ControladorBase</a:t>
            </a:r>
            <a:endParaRPr lang="en-US" sz="1300" dirty="0"/>
          </a:p>
        </p:txBody>
      </p:sp>
      <p:sp>
        <p:nvSpPr>
          <p:cNvPr id="10" name="capa-2"/>
          <p:cNvSpPr/>
          <p:nvPr/>
        </p:nvSpPr>
        <p:spPr>
          <a:xfrm>
            <a:off x="3383280" y="2459736"/>
            <a:ext cx="530352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66160" y="250545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Servicio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029200" y="250545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reglas de negocio, validaciones y auditoría</a:t>
            </a:r>
            <a:endParaRPr lang="en-US" sz="1300" dirty="0"/>
          </a:p>
        </p:txBody>
      </p:sp>
      <p:sp>
        <p:nvSpPr>
          <p:cNvPr id="13" name="capa-3"/>
          <p:cNvSpPr/>
          <p:nvPr/>
        </p:nvSpPr>
        <p:spPr>
          <a:xfrm>
            <a:off x="3383280" y="3209544"/>
            <a:ext cx="530352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566160" y="325526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DAO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0" y="325526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interfaces + implementaciones JDBC con PreparedStatement</a:t>
            </a:r>
            <a:endParaRPr lang="en-US" sz="1300" dirty="0"/>
          </a:p>
        </p:txBody>
      </p:sp>
      <p:sp>
        <p:nvSpPr>
          <p:cNvPr id="16" name="capa-4"/>
          <p:cNvSpPr/>
          <p:nvPr/>
        </p:nvSpPr>
        <p:spPr>
          <a:xfrm>
            <a:off x="3383280" y="3959352"/>
            <a:ext cx="530352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566160" y="400507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Base de datos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029200" y="400507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35 tablas, triggers y funciones que protegen RN-01 a RN-12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Principios aplicados: DAO, SOLID y TDD</a:t>
            </a:r>
            <a:endParaRPr lang="en-US" sz="2600" dirty="0"/>
          </a:p>
        </p:txBody>
      </p:sp>
      <p:sp>
        <p:nvSpPr>
          <p:cNvPr id="3" name="solid-0"/>
          <p:cNvSpPr/>
          <p:nvPr/>
        </p:nvSpPr>
        <p:spPr>
          <a:xfrm>
            <a:off x="457200" y="1033272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332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601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 servicio por caso de uso; ControladorBase centraliza parámetros y mensajes</a:t>
            </a:r>
            <a:endParaRPr lang="en-US" sz="1300" dirty="0"/>
          </a:p>
        </p:txBody>
      </p:sp>
      <p:sp>
        <p:nvSpPr>
          <p:cNvPr id="6" name="solid-1"/>
          <p:cNvSpPr/>
          <p:nvPr/>
        </p:nvSpPr>
        <p:spPr>
          <a:xfrm>
            <a:off x="457200" y="1901952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8288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Exportadores (CSV, Excel) y notificadores se agregan sin tocar el servicio</a:t>
            </a:r>
            <a:endParaRPr lang="en-US" sz="1300" dirty="0"/>
          </a:p>
        </p:txBody>
      </p:sp>
      <p:sp>
        <p:nvSpPr>
          <p:cNvPr id="9" name="solid-2"/>
          <p:cNvSpPr/>
          <p:nvPr/>
        </p:nvSpPr>
        <p:spPr>
          <a:xfrm>
            <a:off x="457200" y="2770632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770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 · I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697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Interfaces DAO pequeñas; dobles en memoria las sustituyen en las pruebas</a:t>
            </a:r>
            <a:endParaRPr lang="en-US" sz="1300" dirty="0"/>
          </a:p>
        </p:txBody>
      </p:sp>
      <p:sp>
        <p:nvSpPr>
          <p:cNvPr id="12" name="solid-3"/>
          <p:cNvSpPr/>
          <p:nvPr/>
        </p:nvSpPr>
        <p:spPr>
          <a:xfrm>
            <a:off x="457200" y="3639312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6393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5661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Los servicios reciben interfaces por constructor (inyección manual)</a:t>
            </a:r>
            <a:endParaRPr lang="en-US" sz="1300" dirty="0"/>
          </a:p>
        </p:txBody>
      </p:sp>
      <p:sp>
        <p:nvSpPr>
          <p:cNvPr id="15" name="tdd"/>
          <p:cNvSpPr/>
          <p:nvPr/>
        </p:nvSpPr>
        <p:spPr>
          <a:xfrm>
            <a:off x="5029200" y="960120"/>
            <a:ext cx="3657600" cy="3611880"/>
          </a:xfrm>
          <a:prstGeom prst="roundRect">
            <a:avLst>
              <a:gd name="adj" fmla="val 202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57800" y="1097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TDD: rojo → verde → refactor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257800" y="15544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237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5257800" y="22860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pruebas JUnit 5 en verde, sin base de datos (dobles en memoria)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257800" y="29718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La prueba de autenticación detectó que «intentos restantes» revelaba si una cuenta existía: se corrigió antes de integrar.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en todas las capas</a:t>
            </a:r>
            <a:endParaRPr lang="en-US" sz="2600" dirty="0"/>
          </a:p>
        </p:txBody>
      </p:sp>
      <p:sp>
        <p:nvSpPr>
          <p:cNvPr id="3" name="seg-0"/>
          <p:cNvSpPr/>
          <p:nvPr/>
        </p:nvSpPr>
        <p:spPr>
          <a:xfrm>
            <a:off x="457200" y="960120"/>
            <a:ext cx="40233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149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Autenticación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075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PBKDF2-SHA256 con sal · bloqueo por intentos · mensaje genérico</a:t>
            </a:r>
            <a:endParaRPr lang="en-US" sz="1150" dirty="0"/>
          </a:p>
        </p:txBody>
      </p:sp>
      <p:sp>
        <p:nvSpPr>
          <p:cNvPr id="6" name="seg-1"/>
          <p:cNvSpPr/>
          <p:nvPr/>
        </p:nvSpPr>
        <p:spPr>
          <a:xfrm>
            <a:off x="457200" y="1874520"/>
            <a:ext cx="40233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9293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Sesión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2219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15 min · nuevo id al ingresar · cookie HttpOnly y SameSite</a:t>
            </a:r>
            <a:endParaRPr lang="en-US" sz="1150" dirty="0"/>
          </a:p>
        </p:txBody>
      </p:sp>
      <p:sp>
        <p:nvSpPr>
          <p:cNvPr id="9" name="seg-2"/>
          <p:cNvSpPr/>
          <p:nvPr/>
        </p:nvSpPr>
        <p:spPr>
          <a:xfrm>
            <a:off x="457200" y="2788920"/>
            <a:ext cx="40233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843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Acceso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1363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matriz por rol en un filtro único + permisos de acción</a:t>
            </a:r>
            <a:endParaRPr lang="en-US" sz="1150" dirty="0"/>
          </a:p>
        </p:txBody>
      </p:sp>
      <p:sp>
        <p:nvSpPr>
          <p:cNvPr id="12" name="seg-3"/>
          <p:cNvSpPr/>
          <p:nvPr/>
        </p:nvSpPr>
        <p:spPr>
          <a:xfrm>
            <a:off x="457200" y="3703320"/>
            <a:ext cx="40233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7581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Entradas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0507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PreparedStatement (SQLi) · c:out (XSS) · token CSRF</a:t>
            </a:r>
            <a:endParaRPr lang="en-US" sz="1150" dirty="0"/>
          </a:p>
        </p:txBody>
      </p:sp>
      <p:sp>
        <p:nvSpPr>
          <p:cNvPr id="15" name="seg-4"/>
          <p:cNvSpPr/>
          <p:nvPr/>
        </p:nvSpPr>
        <p:spPr>
          <a:xfrm>
            <a:off x="4663440" y="960120"/>
            <a:ext cx="40233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10149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Navegador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13075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CSP estricta, X-Frame-Options, nosniff</a:t>
            </a:r>
            <a:endParaRPr lang="en-US" sz="1150" dirty="0"/>
          </a:p>
        </p:txBody>
      </p:sp>
      <p:sp>
        <p:nvSpPr>
          <p:cNvPr id="18" name="seg-5"/>
          <p:cNvSpPr/>
          <p:nvPr/>
        </p:nvSpPr>
        <p:spPr>
          <a:xfrm>
            <a:off x="4663440" y="1874520"/>
            <a:ext cx="40233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46320" y="19293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Base de datos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22219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rol de privilegio mínimo · auditoría inmutable</a:t>
            </a:r>
            <a:endParaRPr lang="en-US" sz="1150" dirty="0"/>
          </a:p>
        </p:txBody>
      </p:sp>
      <p:sp>
        <p:nvSpPr>
          <p:cNvPr id="21" name="seg-6"/>
          <p:cNvSpPr/>
          <p:nvPr/>
        </p:nvSpPr>
        <p:spPr>
          <a:xfrm>
            <a:off x="4663440" y="2788920"/>
            <a:ext cx="40233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46320" y="2843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Logs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1363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Logback con DNI, correos y claves enmascarados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Recursos Java: las cuatro librerías en uso</a:t>
            </a:r>
            <a:endParaRPr lang="en-US" sz="2600" dirty="0"/>
          </a:p>
        </p:txBody>
      </p:sp>
      <p:sp>
        <p:nvSpPr>
          <p:cNvPr id="3" name="lib-0"/>
          <p:cNvSpPr/>
          <p:nvPr/>
        </p:nvSpPr>
        <p:spPr>
          <a:xfrm>
            <a:off x="457200" y="100584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7043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Guava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459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Preconditions, caché de parámetros (5 min) y matrices inmutables</a:t>
            </a:r>
            <a:endParaRPr lang="en-US" sz="1350" dirty="0"/>
          </a:p>
        </p:txBody>
      </p:sp>
      <p:sp>
        <p:nvSpPr>
          <p:cNvPr id="6" name="lib-1"/>
          <p:cNvSpPr/>
          <p:nvPr/>
        </p:nvSpPr>
        <p:spPr>
          <a:xfrm>
            <a:off x="4663440" y="100584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17043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 Commons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6459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limpieza de entradas, parseo seguro de números y escape CSV</a:t>
            </a:r>
            <a:endParaRPr lang="en-US" sz="1350" dirty="0"/>
          </a:p>
        </p:txBody>
      </p:sp>
      <p:sp>
        <p:nvSpPr>
          <p:cNvPr id="9" name="lib-2"/>
          <p:cNvSpPr/>
          <p:nvPr/>
        </p:nvSpPr>
        <p:spPr>
          <a:xfrm>
            <a:off x="457200" y="283464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99923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 POI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4747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reportes Excel con formato de moneda y fecha</a:t>
            </a:r>
            <a:endParaRPr lang="en-US" sz="1350" dirty="0"/>
          </a:p>
        </p:txBody>
      </p:sp>
      <p:sp>
        <p:nvSpPr>
          <p:cNvPr id="12" name="lib-3"/>
          <p:cNvSpPr/>
          <p:nvPr/>
        </p:nvSpPr>
        <p:spPr>
          <a:xfrm>
            <a:off x="4663440" y="283464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299923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Logback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4747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auditoría, errores y contexto por solicitud con datos enmascarados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de versiones con Git y GitHub</a:t>
            </a:r>
            <a:endParaRPr lang="en-US" sz="2600" dirty="0"/>
          </a:p>
        </p:txBody>
      </p:sp>
      <p:pic>
        <p:nvPicPr>
          <p:cNvPr id="3" name="historial-git" descr="/Users/jeanpieresanchezcabrera/Desktop/UTP/CursoIntegrador/APF3_VetSaludERP/informe/img/git_histor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7164" y="914400"/>
            <a:ext cx="2777832" cy="3794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60720" y="96012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760720" y="1508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commits con convención tipo: verbo (RF-xx)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760720" y="205740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760720" y="2606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ramas de funcionalidad integradas con merge --no-ff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32004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main = versiones (etiqueta v0.4.0)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develop = integración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100 % de entregables en el repositorio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Interfaces implementadas: P01 a P03</a:t>
            </a:r>
            <a:endParaRPr lang="en-US" sz="2600" dirty="0"/>
          </a:p>
        </p:txBody>
      </p:sp>
      <p:pic>
        <p:nvPicPr>
          <p:cNvPr id="3" name="captura-P01" descr="/Users/jeanpieresanchezcabrera/Desktop/UTP/CursoIntegrador/APF3_VetSaludERP/informe/capturas/p01_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60120"/>
            <a:ext cx="2697480" cy="168592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11480" y="34290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P01 · Acceso y recuperación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379476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PBKDF2, bloqueo al 5.º intento, mensaje genérico y cambio de clave</a:t>
            </a:r>
            <a:endParaRPr lang="en-US" sz="1100" dirty="0"/>
          </a:p>
        </p:txBody>
      </p:sp>
      <p:pic>
        <p:nvPicPr>
          <p:cNvPr id="6" name="captura-P02" descr="/Users/jeanpieresanchezcabrera/Desktop/UTP/CursoIntegrador/APF3_VetSaludERP/informe/capturas/p02_panel_adm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832" y="960120"/>
            <a:ext cx="2697480" cy="234156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227832" y="34290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P02 · Panel principal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3227832" y="379476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Indicadores del día, agenda por rol, ventas de 7 días y alertas</a:t>
            </a:r>
            <a:endParaRPr lang="en-US" sz="1100" dirty="0"/>
          </a:p>
        </p:txBody>
      </p:sp>
      <p:pic>
        <p:nvPicPr>
          <p:cNvPr id="9" name="captura-P03" descr="/Users/jeanpieresanchezcabrera/Desktop/UTP/CursoIntegrador/APF3_VetSaludERP/informe/capturas/p03_client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184" y="960120"/>
            <a:ext cx="2697480" cy="206057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044184" y="34290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P03 · Clientes y mascotas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6044184" y="379476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Documento único, ficha del cliente, mascotas con foto e historial de dueños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Interfaces implementadas: P04 a P06</a:t>
            </a:r>
            <a:endParaRPr lang="en-US" sz="2600" dirty="0"/>
          </a:p>
        </p:txBody>
      </p:sp>
      <p:pic>
        <p:nvPicPr>
          <p:cNvPr id="3" name="captura-P04" descr="/Users/jeanpieresanchezcabrera/Desktop/UTP/CursoIntegrador/APF3_VetSaludERP/informe/capturas/p04_agen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60120"/>
            <a:ext cx="2697480" cy="234156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11480" y="34290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P04 · Citas y llegada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379476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Agenda diaria y semanal, sin cruces (RN-03) y estados válidos</a:t>
            </a:r>
            <a:endParaRPr lang="en-US" sz="1100" dirty="0"/>
          </a:p>
        </p:txBody>
      </p:sp>
      <p:pic>
        <p:nvPicPr>
          <p:cNvPr id="6" name="captura-P05" descr="/Users/jeanpieresanchezcabrera/Desktop/UTP/CursoIntegrador/APF3_VetSaludERP/informe/capturas/p05_historia_clinic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832" y="960120"/>
            <a:ext cx="2697480" cy="211302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227832" y="34290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P05 · Historia clínica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3227832" y="379476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Línea de tiempo clínica, firma con diagnóstico principal (RN-04)</a:t>
            </a:r>
            <a:endParaRPr lang="en-US" sz="1100" dirty="0"/>
          </a:p>
        </p:txBody>
      </p:sp>
      <p:pic>
        <p:nvPicPr>
          <p:cNvPr id="9" name="captura-P06" descr="/Users/jeanpieresanchezcabrera/Desktop/UTP/CursoIntegrador/APF3_VetSaludERP/informe/capturas/p06_procedimiento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753" y="960120"/>
            <a:ext cx="2282342" cy="23774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044184" y="34290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P06 · Procedimientos y receta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6044184" y="379476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Procedimiento con tarifa, receta imprimible y firma con control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Interfaces implementadas: P07 a P09</a:t>
            </a:r>
            <a:endParaRPr lang="en-US" sz="2600" dirty="0"/>
          </a:p>
        </p:txBody>
      </p:sp>
      <p:pic>
        <p:nvPicPr>
          <p:cNvPr id="3" name="captura-P07" descr="/Users/jeanpieresanchezcabrera/Desktop/UTP/CursoIntegrador/APF3_VetSaludERP/informe/capturas/p07_inventar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60120"/>
            <a:ext cx="2697480" cy="206057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11480" y="34290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P07 · Inventario por lotes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379476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Catálogo, ingreso por lote, FEFO, kardex conciliado y alertas</a:t>
            </a:r>
            <a:endParaRPr lang="en-US" sz="1100" dirty="0"/>
          </a:p>
        </p:txBody>
      </p:sp>
      <p:pic>
        <p:nvPicPr>
          <p:cNvPr id="6" name="captura-P08" descr="/Users/jeanpieresanchezcabrera/Desktop/UTP/CursoIntegrador/APF3_VetSaludERP/informe/capturas/p08_venta_line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9836" y="960120"/>
            <a:ext cx="2633472" cy="23774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227832" y="34290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P08 · Venta y pago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3227832" y="379476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Cobro de la atención, lote FEFO, descuento autorizado, pagos exactos</a:t>
            </a:r>
            <a:endParaRPr lang="en-US" sz="1100" dirty="0"/>
          </a:p>
        </p:txBody>
      </p:sp>
      <p:pic>
        <p:nvPicPr>
          <p:cNvPr id="9" name="captura-P09" descr="/Users/jeanpieresanchezcabrera/Desktop/UTP/CursoIntegrador/APF3_VetSaludERP/informe/capturas/p09_caj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184" y="960120"/>
            <a:ext cx="2697480" cy="211864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044184" y="34290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P09 · Cierre de caja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6044184" y="379476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Turno con cuadre por medio de pago y diferencia justificada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Interfaces implementadas: P10 a P12</a:t>
            </a:r>
            <a:endParaRPr lang="en-US" sz="2600" dirty="0"/>
          </a:p>
        </p:txBody>
      </p:sp>
      <p:pic>
        <p:nvPicPr>
          <p:cNvPr id="3" name="captura-P10" descr="/Users/jeanpieresanchezcabrera/Desktop/UTP/CursoIntegrador/APF3_VetSaludERP/informe/capturas/p10_repor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60120"/>
            <a:ext cx="2697480" cy="228536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11480" y="34290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P10 · Reportes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379476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Ventas, inventario y clínica con gráficos y exportación CSV/Excel</a:t>
            </a:r>
            <a:endParaRPr lang="en-US" sz="1100" dirty="0"/>
          </a:p>
        </p:txBody>
      </p:sp>
      <p:pic>
        <p:nvPicPr>
          <p:cNvPr id="6" name="captura-P11" descr="/Users/jeanpieresanchezcabrera/Desktop/UTP/CursoIntegrador/APF3_VetSaludERP/informe/capturas/p11_port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832" y="960120"/>
            <a:ext cx="2697480" cy="224415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227832" y="34290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P11 · Portal del cliente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3227832" y="379476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El dueño ve solo sus mascotas, citas, controles y recordatorios</a:t>
            </a:r>
            <a:endParaRPr lang="en-US" sz="1100" dirty="0"/>
          </a:p>
        </p:txBody>
      </p:sp>
      <p:pic>
        <p:nvPicPr>
          <p:cNvPr id="9" name="captura-P12" descr="/Users/jeanpieresanchezcabrera/Desktop/UTP/CursoIntegrador/APF3_VetSaludERP/informe/capturas/p12_usuario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184" y="960120"/>
            <a:ext cx="2697480" cy="198751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044184" y="34290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P12 · Usuarios y auditoría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6044184" y="379476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Usuarios, matriz de permisos, auditoría antes/después y parámetros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Demostración: de la cita a la caja</a:t>
            </a:r>
            <a:endParaRPr lang="en-US" sz="2600" dirty="0"/>
          </a:p>
        </p:txBody>
      </p:sp>
      <p:pic>
        <p:nvPicPr>
          <p:cNvPr id="3" name="flujo-0" descr="/Users/jeanpieresanchezcabrera/Desktop/UTP/CursoIntegrador/APF3_VetSaludERP/informe/capturas/p04_cita_cru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60120"/>
            <a:ext cx="1993392" cy="124587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65760" y="329184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 · Cita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3639312"/>
            <a:ext cx="199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El cruce de horario se rechaza (RN-03)</a:t>
            </a:r>
            <a:endParaRPr lang="en-US" sz="1150" dirty="0"/>
          </a:p>
        </p:txBody>
      </p:sp>
      <p:pic>
        <p:nvPicPr>
          <p:cNvPr id="6" name="flujo-1" descr="/Users/jeanpieresanchezcabrera/Desktop/UTP/CursoIntegrador/APF3_VetSaludERP/informe/capturas/p06_consulta_firmad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2" y="960120"/>
            <a:ext cx="1993392" cy="152273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496312" y="329184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 · Consulta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2496312" y="3639312"/>
            <a:ext cx="199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Firma: cita atendida y control programado</a:t>
            </a:r>
            <a:endParaRPr lang="en-US" sz="1150" dirty="0"/>
          </a:p>
        </p:txBody>
      </p:sp>
      <p:pic>
        <p:nvPicPr>
          <p:cNvPr id="9" name="flujo-2" descr="/Users/jeanpieresanchezcabrera/Desktop/UTP/CursoIntegrador/APF3_VetSaludERP/informe/capturas/p08_comproban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864" y="960120"/>
            <a:ext cx="1993392" cy="1507503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626864" y="329184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 · Venta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4626864" y="3639312"/>
            <a:ext cx="199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Cobro de la atención y comprobante T001</a:t>
            </a:r>
            <a:endParaRPr lang="en-US" sz="1150" dirty="0"/>
          </a:p>
        </p:txBody>
      </p:sp>
      <p:pic>
        <p:nvPicPr>
          <p:cNvPr id="12" name="flujo-3" descr="/Users/jeanpieresanchezcabrera/Desktop/UTP/CursoIntegrador/APF3_VetSaludERP/informe/capturas/p09_caj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416" y="960120"/>
            <a:ext cx="1993392" cy="1565643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757416" y="329184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4 · Caja</a:t>
            </a:r>
            <a:endParaRPr lang="en-US" sz="1400" dirty="0"/>
          </a:p>
        </p:txBody>
      </p:sp>
      <p:sp>
        <p:nvSpPr>
          <p:cNvPr id="14" name="Text 8"/>
          <p:cNvSpPr txBox="1"/>
          <p:nvPr/>
        </p:nvSpPr>
        <p:spPr>
          <a:xfrm>
            <a:off x="6757416" y="3639312"/>
            <a:ext cx="199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Cuadre del turno por medio de pago</a:t>
            </a:r>
            <a:endParaRPr lang="en-US" sz="1150" dirty="0"/>
          </a:p>
        </p:txBody>
      </p:sp>
      <p:sp>
        <p:nvSpPr>
          <p:cNvPr id="15" name="Text 9"/>
          <p:cNvSpPr txBox="1"/>
          <p:nvPr/>
        </p:nvSpPr>
        <p:spPr>
          <a:xfrm>
            <a:off x="365760" y="4389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Recorrido ejecutado sobre la base recién instalada: 48 capturas automatizadas con Playwright.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Resultados: pruebas y coherencia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237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pruebas JUnit en verde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0058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81,8 %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1554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cobertura de líneas en servicios (JaCoCo)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0058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554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casos funcionales aprobados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10058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38/38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1554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requisitos con pantalla, código y prueba</a:t>
            </a:r>
            <a:endParaRPr lang="en-US" sz="1200" dirty="0"/>
          </a:p>
        </p:txBody>
      </p:sp>
      <p:sp>
        <p:nvSpPr>
          <p:cNvPr id="11" name="coherencia"/>
          <p:cNvSpPr/>
          <p:nvPr/>
        </p:nvSpPr>
        <p:spPr>
          <a:xfrm>
            <a:off x="457200" y="2377440"/>
            <a:ext cx="822960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2514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Cómo aseguramos que documento y código coinciden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2926080"/>
            <a:ext cx="7772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Las tablas de clases, rutas y pruebas del informe se generan escaneando el código fuente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Los diagramas de clases se dibujan desde el código (PlantUML)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06_pruebas.sql intenta romper 14 reglas en la BD en cada instalación: todas quedan bloqueadas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Cada pantalla se probó con su rol y con un rol no autorizado (acceso denegado)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 y siguientes pasos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4206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Versión 0.4.0 con las 12 pantallas del alcance comprometido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Arquitectura MVC + DAO + SOLID, construida con TDD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Seguridad aplicada de la interfaz a la base de datos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Guava, Commons, POI y Logback con propósito concreto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Historial Git completo en GitHub</a:t>
            </a:r>
            <a:endParaRPr lang="en-US" sz="1500" dirty="0"/>
          </a:p>
        </p:txBody>
      </p:sp>
      <p:sp>
        <p:nvSpPr>
          <p:cNvPr id="4" name="siguientes"/>
          <p:cNvSpPr/>
          <p:nvPr/>
        </p:nvSpPr>
        <p:spPr>
          <a:xfrm>
            <a:off x="4937760" y="1005840"/>
            <a:ext cx="374904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66360" y="1143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Hacia el proyecto final (S18)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166360" y="160020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Pruebas de carga (50 usuarios) y en Edge/Firefox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HTTPS en el Tomcat de producción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Correo real para recordatorios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Manuales por rol y capacitación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¡Gracias! · Quedamos atentos a sus preguntas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tSalud">
  <a:themeElements>
    <a:clrScheme name="VetSalud">
      <a:dk1>
        <a:srgbClr val="18242B"/>
      </a:dk1>
      <a:lt1>
        <a:srgbClr val="FFFFFF"/>
      </a:lt1>
      <a:dk2>
        <a:srgbClr val="0C2F2D"/>
      </a:dk2>
      <a:lt2>
        <a:srgbClr val="EEF4F3"/>
      </a:lt2>
      <a:accent1>
        <a:srgbClr val="0F766E"/>
      </a:accent1>
      <a:accent2>
        <a:srgbClr val="0B4F4A"/>
      </a:accent2>
      <a:accent3>
        <a:srgbClr val="B45309"/>
      </a:accent3>
      <a:accent4>
        <a:srgbClr val="157347"/>
      </a:accent4>
      <a:accent5>
        <a:srgbClr val="5B6B75"/>
      </a:accent5>
      <a:accent6>
        <a:srgbClr val="9CC9C2"/>
      </a:accent6>
      <a:hlink>
        <a:srgbClr val="0F766E"/>
      </a:hlink>
      <a:folHlink>
        <a:srgbClr val="5B6B75"/>
      </a:folHlink>
    </a:clrScheme>
    <a:fontScheme name="VetSalu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APF3 · VetSalud ERP</dc:title>
  <dc:subject>PptxGenJS Presentation</dc:subject>
  <dc:creator>Grupo VetSalud ERP</dc:creator>
  <cp:lastModifiedBy>Grupo VetSalud ERP</cp:lastModifiedBy>
  <cp:revision>1</cp:revision>
  <dcterms:created xsi:type="dcterms:W3CDTF">2026-10-26T01:30:20Z</dcterms:created>
  <dcterms:modified xsi:type="dcterms:W3CDTF">2026-10-26T01:30:20Z</dcterms:modified>
</cp:coreProperties>
</file>