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300" r:id="rId66"/>
    <p:sldId id="301" r:id="rId67"/>
    <p:sldId id="302" r:id="rId68"/>
    <p:sldId id="303" r:id="rId69"/>
    <p:sldId id="304" r:id="rId70"/>
    <p:sldId id="305" r:id="rId71"/>
    <p:sldId id="291" r:id="rId42"/>
    <p:sldId id="306" r:id="rId72"/>
    <p:sldId id="307" r:id="rId73"/>
    <p:sldId id="308" r:id="rId74"/>
    <p:sldId id="309" r:id="rId75"/>
    <p:sldId id="310" r:id="rId76"/>
    <p:sldId id="311" r:id="rId77"/>
    <p:sldId id="312" r:id="rId78"/>
    <p:sldId id="297" r:id="rId48"/>
    <p:sldId id="298" r:id="rId49"/>
    <p:sldId id="313" r:id="rId79"/>
    <p:sldId id="314" r:id="rId80"/>
    <p:sldId id="299" r:id="rId50"/>
  </p:sldIdLst>
  <p:sldSz cy="10287000" cx="18288000"/>
  <p:notesSz cx="6858000" cy="9144000"/>
  <p:embeddedFontLst>
    <p:embeddedFont>
      <p:font typeface="IBM Plex Sans"/>
      <p:bold r:id="rId51"/>
      <p:boldItalic r:id="rId52"/>
    </p:embeddedFont>
    <p:embeddedFont>
      <p:font typeface="Libre Franklin"/>
      <p:regular r:id="rId53"/>
      <p:bold r:id="rId54"/>
      <p:italic r:id="rId55"/>
      <p:boldItalic r:id="rId56"/>
    </p:embeddedFont>
    <p:embeddedFont>
      <p:font typeface="Proxima Nova"/>
      <p:regular r:id="rId57"/>
      <p:bold r:id="rId58"/>
      <p:italic r:id="rId59"/>
      <p:boldItalic r:id="rId60"/>
    </p:embeddedFont>
    <p:embeddedFont>
      <p:font typeface="IBM Plex Sans Medium"/>
      <p:regular r:id="rId61"/>
      <p:bold r:id="rId62"/>
      <p:italic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65" roundtripDataSignature="AMtx7mitrwF4eYnVh7a61oOrMOVop1y3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0BA56E-E222-4D4F-A9BD-C1C85CC4FC20}">
  <a:tblStyle styleId="{F10BA56E-E222-4D4F-A9BD-C1C85CC4FC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42" Type="http://schemas.openxmlformats.org/officeDocument/2006/relationships/slide" Target="slides/slide3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62" Type="http://schemas.openxmlformats.org/officeDocument/2006/relationships/font" Target="fonts/IBMPlexSansMedium-bold.fntdata"/><Relationship Id="rId61" Type="http://schemas.openxmlformats.org/officeDocument/2006/relationships/font" Target="fonts/IBMPlexSansMedium-regular.fntdata"/><Relationship Id="rId20" Type="http://schemas.openxmlformats.org/officeDocument/2006/relationships/slide" Target="slides/slide14.xml"/><Relationship Id="rId64" Type="http://schemas.openxmlformats.org/officeDocument/2006/relationships/font" Target="fonts/IBMPlexSansMedium-boldItalic.fntdata"/><Relationship Id="rId63" Type="http://schemas.openxmlformats.org/officeDocument/2006/relationships/font" Target="fonts/IBMPlexSansMedium-italic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65" Type="http://customschemas.google.com/relationships/presentationmetadata" Target="meta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font" Target="fonts/ProximaNova-boldItalic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IBMPlexSans-bold.fntdata"/><Relationship Id="rId50" Type="http://schemas.openxmlformats.org/officeDocument/2006/relationships/slide" Target="slides/slide44.xml"/><Relationship Id="rId53" Type="http://schemas.openxmlformats.org/officeDocument/2006/relationships/font" Target="fonts/LibreFranklin-regular.fntdata"/><Relationship Id="rId52" Type="http://schemas.openxmlformats.org/officeDocument/2006/relationships/font" Target="fonts/IBMPlexSans-boldItalic.fntdata"/><Relationship Id="rId11" Type="http://schemas.openxmlformats.org/officeDocument/2006/relationships/slide" Target="slides/slide5.xml"/><Relationship Id="rId55" Type="http://schemas.openxmlformats.org/officeDocument/2006/relationships/font" Target="fonts/LibreFranklin-italic.fntdata"/><Relationship Id="rId10" Type="http://schemas.openxmlformats.org/officeDocument/2006/relationships/slide" Target="slides/slide4.xml"/><Relationship Id="rId54" Type="http://schemas.openxmlformats.org/officeDocument/2006/relationships/font" Target="fonts/LibreFranklin-bold.fntdata"/><Relationship Id="rId13" Type="http://schemas.openxmlformats.org/officeDocument/2006/relationships/slide" Target="slides/slide7.xml"/><Relationship Id="rId57" Type="http://schemas.openxmlformats.org/officeDocument/2006/relationships/font" Target="fonts/ProximaNova-regular.fntdata"/><Relationship Id="rId12" Type="http://schemas.openxmlformats.org/officeDocument/2006/relationships/slide" Target="slides/slide6.xml"/><Relationship Id="rId56" Type="http://schemas.openxmlformats.org/officeDocument/2006/relationships/font" Target="fonts/LibreFranklin-boldItalic.fntdata"/><Relationship Id="rId15" Type="http://schemas.openxmlformats.org/officeDocument/2006/relationships/slide" Target="slides/slide9.xml"/><Relationship Id="rId59" Type="http://schemas.openxmlformats.org/officeDocument/2006/relationships/font" Target="fonts/ProximaNova-italic.fntdata"/><Relationship Id="rId14" Type="http://schemas.openxmlformats.org/officeDocument/2006/relationships/slide" Target="slides/slide8.xml"/><Relationship Id="rId58" Type="http://schemas.openxmlformats.org/officeDocument/2006/relationships/font" Target="fonts/ProximaNova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  <Relationship Id="rId66" Type="http://schemas.openxmlformats.org/officeDocument/2006/relationships/slide" Target="slides/slide45.xml"/>
  <Relationship Id="rId67" Type="http://schemas.openxmlformats.org/officeDocument/2006/relationships/slide" Target="slides/slide46.xml"/>
  <Relationship Id="rId68" Type="http://schemas.openxmlformats.org/officeDocument/2006/relationships/slide" Target="slides/slide47.xml"/>
  <Relationship Id="rId69" Type="http://schemas.openxmlformats.org/officeDocument/2006/relationships/slide" Target="slides/slide48.xml"/>
  <Relationship Id="rId70" Type="http://schemas.openxmlformats.org/officeDocument/2006/relationships/slide" Target="slides/slide49.xml"/>
  <Relationship Id="rId71" Type="http://schemas.openxmlformats.org/officeDocument/2006/relationships/slide" Target="slides/slide50.xml"/>
  <Relationship Id="rId72" Type="http://schemas.openxmlformats.org/officeDocument/2006/relationships/slide" Target="slides/slide51.xml"/>
  <Relationship Id="rId73" Type="http://schemas.openxmlformats.org/officeDocument/2006/relationships/slide" Target="slides/slide52.xml"/>
  <Relationship Id="rId74" Type="http://schemas.openxmlformats.org/officeDocument/2006/relationships/slide" Target="slides/slide53.xml"/>
  <Relationship Id="rId75" Type="http://schemas.openxmlformats.org/officeDocument/2006/relationships/slide" Target="slides/slide54.xml"/>
  <Relationship Id="rId76" Type="http://schemas.openxmlformats.org/officeDocument/2006/relationships/slide" Target="slides/slide55.xml"/>
  <Relationship Id="rId77" Type="http://schemas.openxmlformats.org/officeDocument/2006/relationships/slide" Target="slides/slide56.xml"/>
  <Relationship Id="rId78" Type="http://schemas.openxmlformats.org/officeDocument/2006/relationships/slide" Target="slides/slide57.xml"/>
  <Relationship Id="rId79" Type="http://schemas.openxmlformats.org/officeDocument/2006/relationships/slide" Target="slides/slide58.xml"/>
  <Relationship Id="rId80" Type="http://schemas.openxmlformats.org/officeDocument/2006/relationships/slide" Target="slides/slide59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" name="Google Shape;763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1" name="Google Shape;821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0" name="Google Shape;840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7" name="Google Shape;897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6" name="Google Shape;916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5" name="Google Shape;1185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4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6" name="Google Shape;1206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3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5" name="Google Shape;1225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5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5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5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5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5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5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5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5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4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jpg"/><Relationship Id="rId4" Type="http://schemas.openxmlformats.org/officeDocument/2006/relationships/image" Target="../media/image7.jpg"/><Relationship Id="rId5" Type="http://schemas.openxmlformats.org/officeDocument/2006/relationships/image" Target="../media/image3.jpg"/><Relationship Id="rId6" Type="http://schemas.openxmlformats.org/officeDocument/2006/relationships/image" Target="../media/image13.png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2.png"/><Relationship Id="rId7" Type="http://schemas.openxmlformats.org/officeDocument/2006/relationships/image" Target="../media/image1.png"/><Relationship Id="rId8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34.png"/><Relationship Id="rId7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1" Type="http://schemas.openxmlformats.org/officeDocument/2006/relationships/image" Target="../media/image33.png"/><Relationship Id="rId10" Type="http://schemas.openxmlformats.org/officeDocument/2006/relationships/image" Target="../media/image12.png"/><Relationship Id="rId13" Type="http://schemas.openxmlformats.org/officeDocument/2006/relationships/image" Target="../media/image9.png"/><Relationship Id="rId1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11.png"/><Relationship Id="rId1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10.png"/><Relationship Id="rId8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1" Type="http://schemas.openxmlformats.org/officeDocument/2006/relationships/image" Target="../media/image28.png"/><Relationship Id="rId10" Type="http://schemas.openxmlformats.org/officeDocument/2006/relationships/image" Target="../media/image14.png"/><Relationship Id="rId13" Type="http://schemas.openxmlformats.org/officeDocument/2006/relationships/image" Target="../media/image4.png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23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10.png"/><Relationship Id="rId8" Type="http://schemas.openxmlformats.org/officeDocument/2006/relationships/image" Target="../media/image24.png"/></Relationships>
</file>

<file path=ppt/slides/_rels/slide17.xml.rels><?xml version="1.0" encoding="UTF-8" standalone="yes"?><Relationships xmlns="http://schemas.openxmlformats.org/package/2006/relationships"><Relationship Id="rId11" Type="http://schemas.openxmlformats.org/officeDocument/2006/relationships/image" Target="../media/image38.png"/><Relationship Id="rId10" Type="http://schemas.openxmlformats.org/officeDocument/2006/relationships/image" Target="../media/image21.png"/><Relationship Id="rId13" Type="http://schemas.openxmlformats.org/officeDocument/2006/relationships/image" Target="../media/image4.png"/><Relationship Id="rId1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27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10.png"/><Relationship Id="rId8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17.jpg"/><Relationship Id="rId8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0.png"/><Relationship Id="rId8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1" Type="http://schemas.openxmlformats.org/officeDocument/2006/relationships/image" Target="../media/image25.png"/><Relationship Id="rId10" Type="http://schemas.openxmlformats.org/officeDocument/2006/relationships/image" Target="../media/image19.png"/><Relationship Id="rId13" Type="http://schemas.openxmlformats.org/officeDocument/2006/relationships/image" Target="../media/image58.png"/><Relationship Id="rId12" Type="http://schemas.openxmlformats.org/officeDocument/2006/relationships/image" Target="../media/image30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37.jpg"/><Relationship Id="rId1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6.png"/><Relationship Id="rId8" Type="http://schemas.openxmlformats.org/officeDocument/2006/relationships/image" Target="../media/image4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6.png"/><Relationship Id="rId8" Type="http://schemas.openxmlformats.org/officeDocument/2006/relationships/image" Target="../media/image5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57.png"/><Relationship Id="rId8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2.png"/><Relationship Id="rId8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1.png"/><Relationship Id="rId8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5.png"/><Relationship Id="rId8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7.png"/><Relationship Id="rId8" Type="http://schemas.openxmlformats.org/officeDocument/2006/relationships/image" Target="../media/image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9.png"/><Relationship Id="rId8" Type="http://schemas.openxmlformats.org/officeDocument/2006/relationships/image" Target="../media/image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jp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01_login.png"/><Relationship Id="rId8" Type="http://schemas.openxmlformats.org/officeDocument/2006/relationships/image" Target="../media/apf3_p02_panel_admin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aquetes.png"/><Relationship Id="rId8" Type="http://schemas.openxmlformats.org/officeDocument/2006/relationships/image" Target="../media/image4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clases_ventas.png"/><Relationship Id="rId8" Type="http://schemas.openxmlformats.org/officeDocument/2006/relationships/image" Target="../media/image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git.png"/><Relationship Id="rId8" Type="http://schemas.openxmlformats.org/officeDocument/2006/relationships/image" Target="../media/image4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03_ficha_cliente.png"/><Relationship Id="rId8" Type="http://schemas.openxmlformats.org/officeDocument/2006/relationships/image" Target="../media/apf3_p04_agenda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05_historia_clinica.png"/><Relationship Id="rId8" Type="http://schemas.openxmlformats.org/officeDocument/2006/relationships/image" Target="../media/apf3_p06_procedimientos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07_producto_fefo.png"/><Relationship Id="rId8" Type="http://schemas.openxmlformats.org/officeDocument/2006/relationships/image" Target="../media/apf3_p08_venta_lineas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09_caja.png"/><Relationship Id="rId8" Type="http://schemas.openxmlformats.org/officeDocument/2006/relationships/image" Target="../media/apf3_p10_reporte_ventas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p11_portal.png"/><Relationship Id="rId8" Type="http://schemas.openxmlformats.org/officeDocument/2006/relationships/image" Target="../media/apf3_p12_roles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apf3_mvn_test.png"/><Relationship Id="rId8" Type="http://schemas.openxmlformats.org/officeDocument/2006/relationships/image" Target="../media/image4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jp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7391400" y="0"/>
            <a:ext cx="10909251" cy="10287000"/>
          </a:xfrm>
          <a:custGeom>
            <a:rect b="b" l="l" r="r" t="t"/>
            <a:pathLst>
              <a:path extrusionOk="0" h="10287000" w="10477500">
                <a:moveTo>
                  <a:pt x="0" y="0"/>
                </a:moveTo>
                <a:lnTo>
                  <a:pt x="10477500" y="0"/>
                </a:lnTo>
                <a:lnTo>
                  <a:pt x="104775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37272" r="-37272" t="0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0" y="0"/>
            <a:ext cx="1129284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814" l="0" r="-92330" t="-814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19273730" y="2317513"/>
            <a:ext cx="7076727" cy="7076727"/>
          </a:xfrm>
          <a:custGeom>
            <a:rect b="b" l="l" r="r" t="t"/>
            <a:pathLst>
              <a:path extrusionOk="0" h="812800" w="812800">
                <a:moveTo>
                  <a:pt x="583958" y="9283"/>
                </a:moveTo>
                <a:lnTo>
                  <a:pt x="803517" y="228842"/>
                </a:lnTo>
                <a:cubicBezTo>
                  <a:pt x="809461" y="234786"/>
                  <a:pt x="812800" y="242847"/>
                  <a:pt x="812800" y="251253"/>
                </a:cubicBezTo>
                <a:lnTo>
                  <a:pt x="812800" y="561547"/>
                </a:lnTo>
                <a:cubicBezTo>
                  <a:pt x="812800" y="569953"/>
                  <a:pt x="809461" y="578014"/>
                  <a:pt x="803517" y="583958"/>
                </a:cubicBezTo>
                <a:lnTo>
                  <a:pt x="583958" y="803517"/>
                </a:lnTo>
                <a:cubicBezTo>
                  <a:pt x="578014" y="809461"/>
                  <a:pt x="569953" y="812800"/>
                  <a:pt x="561547" y="812800"/>
                </a:cubicBezTo>
                <a:lnTo>
                  <a:pt x="251253" y="812800"/>
                </a:lnTo>
                <a:cubicBezTo>
                  <a:pt x="242847" y="812800"/>
                  <a:pt x="234786" y="809461"/>
                  <a:pt x="228842" y="803517"/>
                </a:cubicBezTo>
                <a:lnTo>
                  <a:pt x="9283" y="583958"/>
                </a:lnTo>
                <a:cubicBezTo>
                  <a:pt x="3339" y="578014"/>
                  <a:pt x="0" y="569953"/>
                  <a:pt x="0" y="561547"/>
                </a:cubicBezTo>
                <a:lnTo>
                  <a:pt x="0" y="251253"/>
                </a:lnTo>
                <a:cubicBezTo>
                  <a:pt x="0" y="242847"/>
                  <a:pt x="3339" y="234786"/>
                  <a:pt x="9283" y="228842"/>
                </a:cubicBezTo>
                <a:lnTo>
                  <a:pt x="228842" y="9283"/>
                </a:lnTo>
                <a:cubicBezTo>
                  <a:pt x="234786" y="3339"/>
                  <a:pt x="242847" y="0"/>
                  <a:pt x="251253" y="0"/>
                </a:cubicBezTo>
                <a:lnTo>
                  <a:pt x="561547" y="0"/>
                </a:lnTo>
                <a:cubicBezTo>
                  <a:pt x="569953" y="0"/>
                  <a:pt x="578014" y="3339"/>
                  <a:pt x="583958" y="9283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"/>
          <p:cNvSpPr/>
          <p:nvPr/>
        </p:nvSpPr>
        <p:spPr>
          <a:xfrm>
            <a:off x="19497900" y="2594325"/>
            <a:ext cx="6628385" cy="6628385"/>
          </a:xfrm>
          <a:custGeom>
            <a:rect b="b" l="l" r="r" t="t"/>
            <a:pathLst>
              <a:path extrusionOk="0" h="812800" w="812800">
                <a:moveTo>
                  <a:pt x="584586" y="9911"/>
                </a:moveTo>
                <a:lnTo>
                  <a:pt x="802889" y="228214"/>
                </a:lnTo>
                <a:cubicBezTo>
                  <a:pt x="809235" y="234560"/>
                  <a:pt x="812800" y="243167"/>
                  <a:pt x="812800" y="252141"/>
                </a:cubicBezTo>
                <a:lnTo>
                  <a:pt x="812800" y="560659"/>
                </a:lnTo>
                <a:cubicBezTo>
                  <a:pt x="812800" y="569633"/>
                  <a:pt x="809235" y="578240"/>
                  <a:pt x="802889" y="584586"/>
                </a:cubicBezTo>
                <a:lnTo>
                  <a:pt x="584586" y="802889"/>
                </a:lnTo>
                <a:cubicBezTo>
                  <a:pt x="578240" y="809235"/>
                  <a:pt x="569633" y="812800"/>
                  <a:pt x="560659" y="812800"/>
                </a:cubicBezTo>
                <a:lnTo>
                  <a:pt x="252141" y="812800"/>
                </a:lnTo>
                <a:cubicBezTo>
                  <a:pt x="243167" y="812800"/>
                  <a:pt x="234560" y="809235"/>
                  <a:pt x="228214" y="802889"/>
                </a:cubicBezTo>
                <a:lnTo>
                  <a:pt x="9911" y="584586"/>
                </a:lnTo>
                <a:cubicBezTo>
                  <a:pt x="3565" y="578240"/>
                  <a:pt x="0" y="569633"/>
                  <a:pt x="0" y="560659"/>
                </a:cubicBezTo>
                <a:lnTo>
                  <a:pt x="0" y="252141"/>
                </a:lnTo>
                <a:cubicBezTo>
                  <a:pt x="0" y="243167"/>
                  <a:pt x="3565" y="234560"/>
                  <a:pt x="9911" y="228214"/>
                </a:cubicBezTo>
                <a:lnTo>
                  <a:pt x="228214" y="9911"/>
                </a:lnTo>
                <a:cubicBezTo>
                  <a:pt x="234560" y="3565"/>
                  <a:pt x="243167" y="0"/>
                  <a:pt x="252141" y="0"/>
                </a:cubicBezTo>
                <a:lnTo>
                  <a:pt x="560659" y="0"/>
                </a:lnTo>
                <a:cubicBezTo>
                  <a:pt x="569633" y="0"/>
                  <a:pt x="578240" y="3565"/>
                  <a:pt x="584586" y="9911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25001" r="-25001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8" name="Google Shape;88;p1"/>
          <p:cNvGrpSpPr/>
          <p:nvPr/>
        </p:nvGrpSpPr>
        <p:grpSpPr>
          <a:xfrm rot="10800000">
            <a:off x="1493974" y="6303552"/>
            <a:ext cx="6929599" cy="1049091"/>
            <a:chOff x="0" y="-47625"/>
            <a:chExt cx="1825080" cy="276304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1825079" cy="228679"/>
            </a:xfrm>
            <a:custGeom>
              <a:rect b="b" l="l" r="r" t="t"/>
              <a:pathLst>
                <a:path extrusionOk="0" h="228679" w="1825079">
                  <a:moveTo>
                    <a:pt x="13407" y="0"/>
                  </a:moveTo>
                  <a:lnTo>
                    <a:pt x="1811673" y="0"/>
                  </a:lnTo>
                  <a:cubicBezTo>
                    <a:pt x="1815229" y="0"/>
                    <a:pt x="1818639" y="1412"/>
                    <a:pt x="1821153" y="3927"/>
                  </a:cubicBezTo>
                  <a:cubicBezTo>
                    <a:pt x="1823667" y="6441"/>
                    <a:pt x="1825079" y="9851"/>
                    <a:pt x="1825079" y="13407"/>
                  </a:cubicBezTo>
                  <a:lnTo>
                    <a:pt x="1825079" y="215272"/>
                  </a:lnTo>
                  <a:cubicBezTo>
                    <a:pt x="1825079" y="218828"/>
                    <a:pt x="1823667" y="222238"/>
                    <a:pt x="1821153" y="224752"/>
                  </a:cubicBezTo>
                  <a:cubicBezTo>
                    <a:pt x="1818639" y="227266"/>
                    <a:pt x="1815229" y="228679"/>
                    <a:pt x="1811673" y="228679"/>
                  </a:cubicBezTo>
                  <a:lnTo>
                    <a:pt x="13407" y="228679"/>
                  </a:lnTo>
                  <a:cubicBezTo>
                    <a:pt x="9851" y="228679"/>
                    <a:pt x="6441" y="227266"/>
                    <a:pt x="3927" y="224752"/>
                  </a:cubicBezTo>
                  <a:cubicBezTo>
                    <a:pt x="1412" y="222238"/>
                    <a:pt x="0" y="218828"/>
                    <a:pt x="0" y="215272"/>
                  </a:cubicBezTo>
                  <a:lnTo>
                    <a:pt x="0" y="13407"/>
                  </a:lnTo>
                  <a:cubicBezTo>
                    <a:pt x="0" y="9851"/>
                    <a:pt x="1412" y="6441"/>
                    <a:pt x="3927" y="3927"/>
                  </a:cubicBezTo>
                  <a:cubicBezTo>
                    <a:pt x="6441" y="1412"/>
                    <a:pt x="9851" y="0"/>
                    <a:pt x="13407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1825080" cy="276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1" name="Google Shape;91;p1"/>
          <p:cNvSpPr/>
          <p:nvPr/>
        </p:nvSpPr>
        <p:spPr>
          <a:xfrm>
            <a:off x="2198170" y="1250599"/>
            <a:ext cx="1154875" cy="602137"/>
          </a:xfrm>
          <a:custGeom>
            <a:rect b="b" l="l" r="r" t="t"/>
            <a:pathLst>
              <a:path extrusionOk="0" h="602137" w="1154875">
                <a:moveTo>
                  <a:pt x="0" y="0"/>
                </a:moveTo>
                <a:lnTo>
                  <a:pt x="1154875" y="0"/>
                </a:lnTo>
                <a:lnTo>
                  <a:pt x="1154875" y="602137"/>
                </a:lnTo>
                <a:lnTo>
                  <a:pt x="0" y="60213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2" name="Google Shape;92;p1"/>
          <p:cNvSpPr/>
          <p:nvPr/>
        </p:nvSpPr>
        <p:spPr>
          <a:xfrm>
            <a:off x="16590199" y="8123047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2"/>
                </a:lnTo>
                <a:lnTo>
                  <a:pt x="0" y="14909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"/>
          <p:cNvSpPr/>
          <p:nvPr/>
        </p:nvSpPr>
        <p:spPr>
          <a:xfrm>
            <a:off x="9477057" y="19169"/>
            <a:ext cx="2196857" cy="10267831"/>
          </a:xfrm>
          <a:custGeom>
            <a:rect b="b" l="l" r="r" t="t"/>
            <a:pathLst>
              <a:path extrusionOk="0" h="13716000" w="6350000">
                <a:moveTo>
                  <a:pt x="0" y="0"/>
                </a:moveTo>
                <a:lnTo>
                  <a:pt x="6350000" y="0"/>
                </a:lnTo>
                <a:lnTo>
                  <a:pt x="6350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0A1531">
              <a:alpha val="58039"/>
            </a:srgbClr>
          </a:solidFill>
          <a:ln>
            <a:noFill/>
          </a:ln>
        </p:spPr>
      </p:sp>
      <p:sp>
        <p:nvSpPr>
          <p:cNvPr id="94" name="Google Shape;94;p1"/>
          <p:cNvSpPr/>
          <p:nvPr/>
        </p:nvSpPr>
        <p:spPr>
          <a:xfrm>
            <a:off x="-1026531" y="373368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95" name="Google Shape;95;p1"/>
          <p:cNvCxnSpPr/>
          <p:nvPr/>
        </p:nvCxnSpPr>
        <p:spPr>
          <a:xfrm>
            <a:off x="-499881" y="8620176"/>
            <a:ext cx="10500515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1"/>
          <p:cNvSpPr/>
          <p:nvPr/>
        </p:nvSpPr>
        <p:spPr>
          <a:xfrm flipH="1">
            <a:off x="1493974" y="8930670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4" y="0"/>
                </a:moveTo>
                <a:lnTo>
                  <a:pt x="0" y="0"/>
                </a:lnTo>
                <a:lnTo>
                  <a:pt x="0" y="337125"/>
                </a:lnTo>
                <a:lnTo>
                  <a:pt x="707704" y="337125"/>
                </a:lnTo>
                <a:lnTo>
                  <a:pt x="707704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7" name="Google Shape;97;p1"/>
          <p:cNvSpPr txBox="1"/>
          <p:nvPr/>
        </p:nvSpPr>
        <p:spPr>
          <a:xfrm>
            <a:off x="394550" y="2854650"/>
            <a:ext cx="115536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7200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SISTEMA INTEGRAL DE  VENTAS Y GESTIÓN</a:t>
            </a:r>
            <a:endParaRPr/>
          </a:p>
        </p:txBody>
      </p:sp>
      <p:sp>
        <p:nvSpPr>
          <p:cNvPr id="98" name="Google Shape;98;p1"/>
          <p:cNvSpPr txBox="1"/>
          <p:nvPr/>
        </p:nvSpPr>
        <p:spPr>
          <a:xfrm>
            <a:off x="1876401" y="6473736"/>
            <a:ext cx="6085853" cy="48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841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AVANCE DE PROYECTO FINAL 3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6936662" y="8902065"/>
            <a:ext cx="2572058" cy="3390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100" u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OCT 2026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2512535" y="8902065"/>
            <a:ext cx="3621185" cy="3390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1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CURSO INTEGRADOR I </a:t>
            </a:r>
            <a:endParaRPr/>
          </a:p>
        </p:txBody>
      </p:sp>
      <p:sp>
        <p:nvSpPr>
          <p:cNvPr id="101" name="Google Shape;101;p1"/>
          <p:cNvSpPr txBox="1"/>
          <p:nvPr/>
        </p:nvSpPr>
        <p:spPr>
          <a:xfrm>
            <a:off x="2314804" y="1250599"/>
            <a:ext cx="6553240" cy="7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6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6000">
                <a:solidFill>
                  <a:srgbClr val="EF6F6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VE</a:t>
            </a:r>
            <a:r>
              <a:rPr b="1" lang="es-PE" sz="1800">
                <a:solidFill>
                  <a:srgbClr val="EF6F6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</a:t>
            </a:r>
            <a:r>
              <a:rPr b="1" lang="es-PE" sz="6000">
                <a:solidFill>
                  <a:srgbClr val="EF6F6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TSALUD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7" name="Google Shape;107;p2"/>
          <p:cNvSpPr/>
          <p:nvPr/>
        </p:nvSpPr>
        <p:spPr>
          <a:xfrm>
            <a:off x="-1219741" y="0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4" y="0"/>
                </a:lnTo>
                <a:lnTo>
                  <a:pt x="2927694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8" name="Google Shape;108;p2"/>
          <p:cNvSpPr/>
          <p:nvPr/>
        </p:nvSpPr>
        <p:spPr>
          <a:xfrm rot="10800000">
            <a:off x="16580047" y="8051306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4" y="0"/>
                </a:lnTo>
                <a:lnTo>
                  <a:pt x="2927694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9" name="Google Shape;109;p2"/>
          <p:cNvGrpSpPr/>
          <p:nvPr/>
        </p:nvGrpSpPr>
        <p:grpSpPr>
          <a:xfrm>
            <a:off x="1322132" y="915173"/>
            <a:ext cx="15643737" cy="8343127"/>
            <a:chOff x="0" y="-38100"/>
            <a:chExt cx="4120161" cy="2197367"/>
          </a:xfrm>
        </p:grpSpPr>
        <p:sp>
          <p:nvSpPr>
            <p:cNvPr id="110" name="Google Shape;110;p2"/>
            <p:cNvSpPr/>
            <p:nvPr/>
          </p:nvSpPr>
          <p:spPr>
            <a:xfrm>
              <a:off x="0" y="0"/>
              <a:ext cx="4120161" cy="2159267"/>
            </a:xfrm>
            <a:custGeom>
              <a:rect b="b" l="l" r="r" t="t"/>
              <a:pathLst>
                <a:path extrusionOk="0" h="2159267" w="4120161">
                  <a:moveTo>
                    <a:pt x="14847" y="0"/>
                  </a:moveTo>
                  <a:lnTo>
                    <a:pt x="4105315" y="0"/>
                  </a:lnTo>
                  <a:cubicBezTo>
                    <a:pt x="4109252" y="0"/>
                    <a:pt x="4113028" y="1564"/>
                    <a:pt x="4115813" y="4348"/>
                  </a:cubicBezTo>
                  <a:cubicBezTo>
                    <a:pt x="4118597" y="7133"/>
                    <a:pt x="4120161" y="10909"/>
                    <a:pt x="4120161" y="14847"/>
                  </a:cubicBezTo>
                  <a:lnTo>
                    <a:pt x="4120161" y="2144420"/>
                  </a:lnTo>
                  <a:cubicBezTo>
                    <a:pt x="4120161" y="2152620"/>
                    <a:pt x="4113514" y="2159267"/>
                    <a:pt x="4105315" y="2159267"/>
                  </a:cubicBezTo>
                  <a:lnTo>
                    <a:pt x="14847" y="2159267"/>
                  </a:lnTo>
                  <a:cubicBezTo>
                    <a:pt x="10909" y="2159267"/>
                    <a:pt x="7133" y="2157703"/>
                    <a:pt x="4348" y="2154918"/>
                  </a:cubicBezTo>
                  <a:cubicBezTo>
                    <a:pt x="1564" y="2152134"/>
                    <a:pt x="0" y="2148358"/>
                    <a:pt x="0" y="2144420"/>
                  </a:cubicBezTo>
                  <a:lnTo>
                    <a:pt x="0" y="14847"/>
                  </a:lnTo>
                  <a:cubicBezTo>
                    <a:pt x="0" y="10909"/>
                    <a:pt x="1564" y="7133"/>
                    <a:pt x="4348" y="4348"/>
                  </a:cubicBezTo>
                  <a:cubicBezTo>
                    <a:pt x="7133" y="1564"/>
                    <a:pt x="10909" y="0"/>
                    <a:pt x="148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2"/>
            <p:cNvSpPr txBox="1"/>
            <p:nvPr/>
          </p:nvSpPr>
          <p:spPr>
            <a:xfrm>
              <a:off x="0" y="-38100"/>
              <a:ext cx="4120161" cy="219736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" name="Google Shape;112;p2"/>
          <p:cNvGrpSpPr/>
          <p:nvPr/>
        </p:nvGrpSpPr>
        <p:grpSpPr>
          <a:xfrm>
            <a:off x="467877" y="9704189"/>
            <a:ext cx="17352246" cy="921017"/>
            <a:chOff x="0" y="-38100"/>
            <a:chExt cx="4570139" cy="242572"/>
          </a:xfrm>
        </p:grpSpPr>
        <p:sp>
          <p:nvSpPr>
            <p:cNvPr id="113" name="Google Shape;113;p2"/>
            <p:cNvSpPr/>
            <p:nvPr/>
          </p:nvSpPr>
          <p:spPr>
            <a:xfrm>
              <a:off x="0" y="0"/>
              <a:ext cx="4570139" cy="204472"/>
            </a:xfrm>
            <a:custGeom>
              <a:rect b="b" l="l" r="r" t="t"/>
              <a:pathLst>
                <a:path extrusionOk="0" h="204472" w="4570139">
                  <a:moveTo>
                    <a:pt x="13385" y="0"/>
                  </a:moveTo>
                  <a:lnTo>
                    <a:pt x="4556754" y="0"/>
                  </a:lnTo>
                  <a:cubicBezTo>
                    <a:pt x="4560304" y="0"/>
                    <a:pt x="4563708" y="1410"/>
                    <a:pt x="4566219" y="3920"/>
                  </a:cubicBezTo>
                  <a:cubicBezTo>
                    <a:pt x="4568729" y="6430"/>
                    <a:pt x="4570139" y="9835"/>
                    <a:pt x="4570139" y="13385"/>
                  </a:cubicBezTo>
                  <a:lnTo>
                    <a:pt x="4570139" y="191088"/>
                  </a:lnTo>
                  <a:cubicBezTo>
                    <a:pt x="4570139" y="198480"/>
                    <a:pt x="4564146" y="204472"/>
                    <a:pt x="4556754" y="204472"/>
                  </a:cubicBezTo>
                  <a:lnTo>
                    <a:pt x="13385" y="204472"/>
                  </a:lnTo>
                  <a:cubicBezTo>
                    <a:pt x="9835" y="204472"/>
                    <a:pt x="6430" y="203062"/>
                    <a:pt x="3920" y="200552"/>
                  </a:cubicBezTo>
                  <a:cubicBezTo>
                    <a:pt x="1410" y="198042"/>
                    <a:pt x="0" y="194637"/>
                    <a:pt x="0" y="191088"/>
                  </a:cubicBezTo>
                  <a:lnTo>
                    <a:pt x="0" y="13385"/>
                  </a:lnTo>
                  <a:cubicBezTo>
                    <a:pt x="0" y="9835"/>
                    <a:pt x="1410" y="6430"/>
                    <a:pt x="3920" y="3920"/>
                  </a:cubicBezTo>
                  <a:cubicBezTo>
                    <a:pt x="6430" y="1410"/>
                    <a:pt x="9835" y="0"/>
                    <a:pt x="13385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2"/>
            <p:cNvSpPr txBox="1"/>
            <p:nvPr/>
          </p:nvSpPr>
          <p:spPr>
            <a:xfrm>
              <a:off x="0" y="-38100"/>
              <a:ext cx="4570139" cy="2425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5" name="Google Shape;115;p2"/>
          <p:cNvSpPr/>
          <p:nvPr/>
        </p:nvSpPr>
        <p:spPr>
          <a:xfrm>
            <a:off x="4642596" y="2506805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10336941" y="2506805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4642596" y="3699668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10336941" y="3699668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4642596" y="4892531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10336941" y="4892531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"/>
          <p:cNvSpPr/>
          <p:nvPr/>
        </p:nvSpPr>
        <p:spPr>
          <a:xfrm>
            <a:off x="4642596" y="6085394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"/>
          <p:cNvSpPr/>
          <p:nvPr/>
        </p:nvSpPr>
        <p:spPr>
          <a:xfrm>
            <a:off x="4642596" y="7283519"/>
            <a:ext cx="908568" cy="908568"/>
          </a:xfrm>
          <a:custGeom>
            <a:rect b="b" l="l" r="r" t="t"/>
            <a:pathLst>
              <a:path extrusionOk="0" h="812800" w="812800">
                <a:moveTo>
                  <a:pt x="610827" y="36152"/>
                </a:moveTo>
                <a:lnTo>
                  <a:pt x="776648" y="201973"/>
                </a:lnTo>
                <a:cubicBezTo>
                  <a:pt x="799796" y="225121"/>
                  <a:pt x="812800" y="256516"/>
                  <a:pt x="812800" y="289251"/>
                </a:cubicBezTo>
                <a:lnTo>
                  <a:pt x="812800" y="523549"/>
                </a:lnTo>
                <a:cubicBezTo>
                  <a:pt x="812800" y="556284"/>
                  <a:pt x="799796" y="587679"/>
                  <a:pt x="776648" y="610827"/>
                </a:cubicBezTo>
                <a:lnTo>
                  <a:pt x="610827" y="776648"/>
                </a:lnTo>
                <a:cubicBezTo>
                  <a:pt x="587679" y="799796"/>
                  <a:pt x="556284" y="812800"/>
                  <a:pt x="523549" y="812800"/>
                </a:cubicBezTo>
                <a:lnTo>
                  <a:pt x="289251" y="812800"/>
                </a:lnTo>
                <a:cubicBezTo>
                  <a:pt x="256516" y="812800"/>
                  <a:pt x="225121" y="799796"/>
                  <a:pt x="201973" y="776648"/>
                </a:cubicBezTo>
                <a:lnTo>
                  <a:pt x="36152" y="610827"/>
                </a:lnTo>
                <a:cubicBezTo>
                  <a:pt x="13004" y="587679"/>
                  <a:pt x="0" y="556284"/>
                  <a:pt x="0" y="523549"/>
                </a:cubicBezTo>
                <a:lnTo>
                  <a:pt x="0" y="289251"/>
                </a:lnTo>
                <a:cubicBezTo>
                  <a:pt x="0" y="256516"/>
                  <a:pt x="13004" y="225121"/>
                  <a:pt x="36152" y="201973"/>
                </a:cubicBezTo>
                <a:lnTo>
                  <a:pt x="201973" y="36152"/>
                </a:lnTo>
                <a:cubicBezTo>
                  <a:pt x="225121" y="13004"/>
                  <a:pt x="256516" y="0"/>
                  <a:pt x="289251" y="0"/>
                </a:cubicBezTo>
                <a:lnTo>
                  <a:pt x="523549" y="0"/>
                </a:lnTo>
                <a:cubicBezTo>
                  <a:pt x="556284" y="0"/>
                  <a:pt x="587679" y="13004"/>
                  <a:pt x="610827" y="36152"/>
                </a:cubicBezTo>
                <a:close/>
              </a:path>
            </a:pathLst>
          </a:custGeom>
          <a:gradFill>
            <a:gsLst>
              <a:gs pos="0">
                <a:srgbClr val="256AB3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9950921" y="13205125"/>
            <a:ext cx="800350" cy="417292"/>
          </a:xfrm>
          <a:custGeom>
            <a:rect b="b" l="l" r="r" t="t"/>
            <a:pathLst>
              <a:path extrusionOk="0" h="417292" w="800350">
                <a:moveTo>
                  <a:pt x="0" y="0"/>
                </a:moveTo>
                <a:lnTo>
                  <a:pt x="800350" y="0"/>
                </a:lnTo>
                <a:lnTo>
                  <a:pt x="800350" y="417292"/>
                </a:lnTo>
                <a:lnTo>
                  <a:pt x="0" y="4172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4" name="Google Shape;124;p2"/>
          <p:cNvSpPr txBox="1"/>
          <p:nvPr/>
        </p:nvSpPr>
        <p:spPr>
          <a:xfrm>
            <a:off x="4848734" y="2672819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01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10543079" y="2672819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06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4848734" y="3865682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02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10543079" y="3865682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4848734" y="5058546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03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10543079" y="5058546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08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4848734" y="6251409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04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4848734" y="7449534"/>
            <a:ext cx="579411" cy="519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052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05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5831968" y="2708087"/>
            <a:ext cx="3098900" cy="3945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Resumen ejecutivo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3" name="Google Shape;133;p2"/>
          <p:cNvSpPr txBox="1"/>
          <p:nvPr/>
        </p:nvSpPr>
        <p:spPr>
          <a:xfrm>
            <a:off x="11526313" y="2552227"/>
            <a:ext cx="3098900" cy="8177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Construcción de la solución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5831968" y="3928691"/>
            <a:ext cx="38484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Introducci</a:t>
            </a: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ó</a:t>
            </a: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n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11526313" y="3928691"/>
            <a:ext cx="3794303" cy="40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Resultados y verificación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5831968" y="4909378"/>
            <a:ext cx="3098900" cy="8177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Análisis del contexto de la empresa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11526313" y="5121555"/>
            <a:ext cx="3442564" cy="40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Conclusiones y recomendaciones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5757302" y="6094244"/>
            <a:ext cx="3525166" cy="8177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Planteamiento de alternativas de solución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9" name="Google Shape;139;p2"/>
          <p:cNvSpPr txBox="1"/>
          <p:nvPr/>
        </p:nvSpPr>
        <p:spPr>
          <a:xfrm>
            <a:off x="5790325" y="7300366"/>
            <a:ext cx="3961357" cy="8177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370">
                <a:solidFill>
                  <a:srgbClr val="0B1B45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Diseño de la solución</a:t>
            </a:r>
            <a:endParaRPr b="1" sz="2370">
              <a:solidFill>
                <a:srgbClr val="0B1B45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40" name="Google Shape;140;p2"/>
          <p:cNvSpPr txBox="1"/>
          <p:nvPr/>
        </p:nvSpPr>
        <p:spPr>
          <a:xfrm rot="-5400000">
            <a:off x="-368621" y="4517707"/>
            <a:ext cx="6548803" cy="1251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735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Contenido</a:t>
            </a:r>
            <a:endParaRPr/>
          </a:p>
        </p:txBody>
      </p:sp>
      <p:grpSp>
        <p:nvGrpSpPr>
          <p:cNvPr id="141" name="Google Shape;141;p2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42" name="Google Shape;142;p2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43" name="Google Shape;143;p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9" name="Google Shape;149;p3"/>
          <p:cNvGrpSpPr/>
          <p:nvPr/>
        </p:nvGrpSpPr>
        <p:grpSpPr>
          <a:xfrm>
            <a:off x="643758" y="2367835"/>
            <a:ext cx="5299842" cy="4182302"/>
            <a:chOff x="0" y="-192881"/>
            <a:chExt cx="9224487" cy="7181718"/>
          </a:xfrm>
        </p:grpSpPr>
        <p:grpSp>
          <p:nvGrpSpPr>
            <p:cNvPr id="150" name="Google Shape;150;p3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151" name="Google Shape;151;p3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3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3" name="Google Shape;153;p3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154" name="Google Shape;154;p3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3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56" name="Google Shape;156;p3"/>
          <p:cNvGrpSpPr/>
          <p:nvPr/>
        </p:nvGrpSpPr>
        <p:grpSpPr>
          <a:xfrm>
            <a:off x="1340605" y="1622041"/>
            <a:ext cx="3906147" cy="1421259"/>
            <a:chOff x="2180343" y="1597578"/>
            <a:chExt cx="3906147" cy="1421259"/>
          </a:xfrm>
        </p:grpSpPr>
        <p:grpSp>
          <p:nvGrpSpPr>
            <p:cNvPr id="157" name="Google Shape;157;p3"/>
            <p:cNvGrpSpPr/>
            <p:nvPr/>
          </p:nvGrpSpPr>
          <p:grpSpPr>
            <a:xfrm>
              <a:off x="2180343" y="1597578"/>
              <a:ext cx="3906147" cy="1421259"/>
              <a:chOff x="0" y="-96933"/>
              <a:chExt cx="1652322" cy="601200"/>
            </a:xfrm>
          </p:grpSpPr>
          <p:sp>
            <p:nvSpPr>
              <p:cNvPr id="158" name="Google Shape;158;p3"/>
              <p:cNvSpPr/>
              <p:nvPr/>
            </p:nvSpPr>
            <p:spPr>
              <a:xfrm>
                <a:off x="25783" y="61439"/>
                <a:ext cx="1626539" cy="441657"/>
              </a:xfrm>
              <a:custGeom>
                <a:rect b="b" l="l" r="r" t="t"/>
                <a:pathLst>
                  <a:path extrusionOk="0" h="553713" w="1626539">
                    <a:moveTo>
                      <a:pt x="40268" y="0"/>
                    </a:moveTo>
                    <a:lnTo>
                      <a:pt x="1586271" y="0"/>
                    </a:lnTo>
                    <a:cubicBezTo>
                      <a:pt x="1596950" y="0"/>
                      <a:pt x="1607193" y="4243"/>
                      <a:pt x="1614744" y="11794"/>
                    </a:cubicBezTo>
                    <a:cubicBezTo>
                      <a:pt x="1622296" y="19346"/>
                      <a:pt x="1626539" y="29588"/>
                      <a:pt x="1626539" y="40268"/>
                    </a:cubicBezTo>
                    <a:lnTo>
                      <a:pt x="1626539" y="513445"/>
                    </a:lnTo>
                    <a:cubicBezTo>
                      <a:pt x="1626539" y="524125"/>
                      <a:pt x="1622296" y="534367"/>
                      <a:pt x="1614744" y="541919"/>
                    </a:cubicBezTo>
                    <a:cubicBezTo>
                      <a:pt x="1607193" y="549471"/>
                      <a:pt x="1596950" y="553713"/>
                      <a:pt x="1586271" y="553713"/>
                    </a:cubicBezTo>
                    <a:lnTo>
                      <a:pt x="40268" y="553713"/>
                    </a:lnTo>
                    <a:cubicBezTo>
                      <a:pt x="29588" y="553713"/>
                      <a:pt x="19346" y="549471"/>
                      <a:pt x="11794" y="541919"/>
                    </a:cubicBezTo>
                    <a:cubicBezTo>
                      <a:pt x="4243" y="534367"/>
                      <a:pt x="0" y="524125"/>
                      <a:pt x="0" y="513445"/>
                    </a:cubicBezTo>
                    <a:lnTo>
                      <a:pt x="0" y="40268"/>
                    </a:lnTo>
                    <a:cubicBezTo>
                      <a:pt x="0" y="29588"/>
                      <a:pt x="4243" y="19346"/>
                      <a:pt x="11794" y="11794"/>
                    </a:cubicBezTo>
                    <a:cubicBezTo>
                      <a:pt x="19346" y="4243"/>
                      <a:pt x="29588" y="0"/>
                      <a:pt x="40268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8122E"/>
                  </a:gs>
                  <a:gs pos="100000">
                    <a:srgbClr val="2D5297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3"/>
              <p:cNvSpPr txBox="1"/>
              <p:nvPr/>
            </p:nvSpPr>
            <p:spPr>
              <a:xfrm>
                <a:off x="0" y="-96933"/>
                <a:ext cx="1626600" cy="60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7525" lIns="47525" spcFirstLastPara="1" rIns="47525" wrap="square" tIns="47525">
                <a:noAutofit/>
              </a:bodyPr>
              <a:lstStyle/>
              <a:p>
                <a:pPr indent="0" lvl="0" marL="0" marR="0" rtl="0" algn="ctr">
                  <a:lnSpc>
                    <a:spcPct val="1898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0" name="Google Shape;160;p3"/>
            <p:cNvSpPr txBox="1"/>
            <p:nvPr/>
          </p:nvSpPr>
          <p:spPr>
            <a:xfrm>
              <a:off x="2579429" y="2153020"/>
              <a:ext cx="3059371" cy="5397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015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SITUACIÓN ACTUAL</a:t>
              </a:r>
              <a:endParaRPr/>
            </a:p>
          </p:txBody>
        </p:sp>
      </p:grpSp>
      <p:sp>
        <p:nvSpPr>
          <p:cNvPr id="161" name="Google Shape;161;p3"/>
          <p:cNvSpPr txBox="1"/>
          <p:nvPr/>
        </p:nvSpPr>
        <p:spPr>
          <a:xfrm>
            <a:off x="852122" y="3515281"/>
            <a:ext cx="5072428" cy="1753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Operación fragmentada: historias clínicas en papel, hojas de cálculo y registros manuales de caja e inventario.</a:t>
            </a:r>
            <a:endParaRPr/>
          </a:p>
        </p:txBody>
      </p:sp>
      <p:cxnSp>
        <p:nvCxnSpPr>
          <p:cNvPr id="162" name="Google Shape;162;p3"/>
          <p:cNvCxnSpPr/>
          <p:nvPr/>
        </p:nvCxnSpPr>
        <p:spPr>
          <a:xfrm>
            <a:off x="1205974" y="9122068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3" name="Google Shape;163;p3"/>
          <p:cNvSpPr/>
          <p:nvPr/>
        </p:nvSpPr>
        <p:spPr>
          <a:xfrm>
            <a:off x="16580809" y="0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5" y="0"/>
                </a:lnTo>
                <a:lnTo>
                  <a:pt x="2927695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4" name="Google Shape;164;p3"/>
          <p:cNvSpPr txBox="1"/>
          <p:nvPr/>
        </p:nvSpPr>
        <p:spPr>
          <a:xfrm>
            <a:off x="-472052" y="382127"/>
            <a:ext cx="5657850" cy="539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1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1.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RESUMEN EJECUTIVO</a:t>
            </a:r>
            <a:endParaRPr/>
          </a:p>
        </p:txBody>
      </p:sp>
      <p:grpSp>
        <p:nvGrpSpPr>
          <p:cNvPr id="165" name="Google Shape;165;p3"/>
          <p:cNvGrpSpPr/>
          <p:nvPr/>
        </p:nvGrpSpPr>
        <p:grpSpPr>
          <a:xfrm>
            <a:off x="6509132" y="2367835"/>
            <a:ext cx="5299842" cy="4182302"/>
            <a:chOff x="0" y="-192881"/>
            <a:chExt cx="9224487" cy="7181718"/>
          </a:xfrm>
        </p:grpSpPr>
        <p:grpSp>
          <p:nvGrpSpPr>
            <p:cNvPr id="166" name="Google Shape;166;p3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167" name="Google Shape;167;p3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3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9" name="Google Shape;169;p3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170" name="Google Shape;170;p3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3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72" name="Google Shape;172;p3"/>
          <p:cNvGrpSpPr/>
          <p:nvPr/>
        </p:nvGrpSpPr>
        <p:grpSpPr>
          <a:xfrm>
            <a:off x="7205979" y="1738608"/>
            <a:ext cx="3906147" cy="1421585"/>
            <a:chOff x="2180343" y="1714145"/>
            <a:chExt cx="3906147" cy="1421585"/>
          </a:xfrm>
        </p:grpSpPr>
        <p:grpSp>
          <p:nvGrpSpPr>
            <p:cNvPr id="173" name="Google Shape;173;p3"/>
            <p:cNvGrpSpPr/>
            <p:nvPr/>
          </p:nvGrpSpPr>
          <p:grpSpPr>
            <a:xfrm>
              <a:off x="2180343" y="1714145"/>
              <a:ext cx="3906147" cy="1421585"/>
              <a:chOff x="0" y="-47625"/>
              <a:chExt cx="1652322" cy="601338"/>
            </a:xfrm>
          </p:grpSpPr>
          <p:sp>
            <p:nvSpPr>
              <p:cNvPr id="174" name="Google Shape;174;p3"/>
              <p:cNvSpPr/>
              <p:nvPr/>
            </p:nvSpPr>
            <p:spPr>
              <a:xfrm>
                <a:off x="25783" y="61439"/>
                <a:ext cx="1626539" cy="441657"/>
              </a:xfrm>
              <a:custGeom>
                <a:rect b="b" l="l" r="r" t="t"/>
                <a:pathLst>
                  <a:path extrusionOk="0" h="553713" w="1626539">
                    <a:moveTo>
                      <a:pt x="40268" y="0"/>
                    </a:moveTo>
                    <a:lnTo>
                      <a:pt x="1586271" y="0"/>
                    </a:lnTo>
                    <a:cubicBezTo>
                      <a:pt x="1596950" y="0"/>
                      <a:pt x="1607193" y="4243"/>
                      <a:pt x="1614744" y="11794"/>
                    </a:cubicBezTo>
                    <a:cubicBezTo>
                      <a:pt x="1622296" y="19346"/>
                      <a:pt x="1626539" y="29588"/>
                      <a:pt x="1626539" y="40268"/>
                    </a:cubicBezTo>
                    <a:lnTo>
                      <a:pt x="1626539" y="513445"/>
                    </a:lnTo>
                    <a:cubicBezTo>
                      <a:pt x="1626539" y="524125"/>
                      <a:pt x="1622296" y="534367"/>
                      <a:pt x="1614744" y="541919"/>
                    </a:cubicBezTo>
                    <a:cubicBezTo>
                      <a:pt x="1607193" y="549471"/>
                      <a:pt x="1596950" y="553713"/>
                      <a:pt x="1586271" y="553713"/>
                    </a:cubicBezTo>
                    <a:lnTo>
                      <a:pt x="40268" y="553713"/>
                    </a:lnTo>
                    <a:cubicBezTo>
                      <a:pt x="29588" y="553713"/>
                      <a:pt x="19346" y="549471"/>
                      <a:pt x="11794" y="541919"/>
                    </a:cubicBezTo>
                    <a:cubicBezTo>
                      <a:pt x="4243" y="534367"/>
                      <a:pt x="0" y="524125"/>
                      <a:pt x="0" y="513445"/>
                    </a:cubicBezTo>
                    <a:lnTo>
                      <a:pt x="0" y="40268"/>
                    </a:lnTo>
                    <a:cubicBezTo>
                      <a:pt x="0" y="29588"/>
                      <a:pt x="4243" y="19346"/>
                      <a:pt x="11794" y="11794"/>
                    </a:cubicBezTo>
                    <a:cubicBezTo>
                      <a:pt x="19346" y="4243"/>
                      <a:pt x="29588" y="0"/>
                      <a:pt x="40268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8122E"/>
                  </a:gs>
                  <a:gs pos="100000">
                    <a:srgbClr val="2D5297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3"/>
              <p:cNvSpPr txBox="1"/>
              <p:nvPr/>
            </p:nvSpPr>
            <p:spPr>
              <a:xfrm>
                <a:off x="0" y="-47625"/>
                <a:ext cx="1626538" cy="6013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7525" lIns="47525" spcFirstLastPara="1" rIns="47525" wrap="square" tIns="47525">
                <a:noAutofit/>
              </a:bodyPr>
              <a:lstStyle/>
              <a:p>
                <a:pPr indent="0" lvl="0" marL="0" marR="0" rtl="0" algn="ctr">
                  <a:lnSpc>
                    <a:spcPct val="1898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6" name="Google Shape;176;p3"/>
            <p:cNvSpPr txBox="1"/>
            <p:nvPr/>
          </p:nvSpPr>
          <p:spPr>
            <a:xfrm>
              <a:off x="2569605" y="2153020"/>
              <a:ext cx="3196836" cy="5397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015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PROBLEMA CENTRAL</a:t>
              </a:r>
              <a:endParaRPr/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12402165" y="2335634"/>
            <a:ext cx="5299842" cy="4182302"/>
            <a:chOff x="0" y="-192881"/>
            <a:chExt cx="9224487" cy="7181718"/>
          </a:xfrm>
        </p:grpSpPr>
        <p:grpSp>
          <p:nvGrpSpPr>
            <p:cNvPr id="178" name="Google Shape;178;p3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179" name="Google Shape;179;p3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3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1" name="Google Shape;181;p3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182" name="Google Shape;182;p3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3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84" name="Google Shape;184;p3"/>
          <p:cNvGrpSpPr/>
          <p:nvPr/>
        </p:nvGrpSpPr>
        <p:grpSpPr>
          <a:xfrm>
            <a:off x="13099012" y="1706407"/>
            <a:ext cx="3906147" cy="1421585"/>
            <a:chOff x="2180343" y="1714145"/>
            <a:chExt cx="3906147" cy="1421585"/>
          </a:xfrm>
        </p:grpSpPr>
        <p:grpSp>
          <p:nvGrpSpPr>
            <p:cNvPr id="185" name="Google Shape;185;p3"/>
            <p:cNvGrpSpPr/>
            <p:nvPr/>
          </p:nvGrpSpPr>
          <p:grpSpPr>
            <a:xfrm>
              <a:off x="2180343" y="1714145"/>
              <a:ext cx="3906147" cy="1421585"/>
              <a:chOff x="0" y="-47625"/>
              <a:chExt cx="1652322" cy="601338"/>
            </a:xfrm>
          </p:grpSpPr>
          <p:sp>
            <p:nvSpPr>
              <p:cNvPr id="186" name="Google Shape;186;p3"/>
              <p:cNvSpPr/>
              <p:nvPr/>
            </p:nvSpPr>
            <p:spPr>
              <a:xfrm>
                <a:off x="25783" y="61439"/>
                <a:ext cx="1626539" cy="441657"/>
              </a:xfrm>
              <a:custGeom>
                <a:rect b="b" l="l" r="r" t="t"/>
                <a:pathLst>
                  <a:path extrusionOk="0" h="553713" w="1626539">
                    <a:moveTo>
                      <a:pt x="40268" y="0"/>
                    </a:moveTo>
                    <a:lnTo>
                      <a:pt x="1586271" y="0"/>
                    </a:lnTo>
                    <a:cubicBezTo>
                      <a:pt x="1596950" y="0"/>
                      <a:pt x="1607193" y="4243"/>
                      <a:pt x="1614744" y="11794"/>
                    </a:cubicBezTo>
                    <a:cubicBezTo>
                      <a:pt x="1622296" y="19346"/>
                      <a:pt x="1626539" y="29588"/>
                      <a:pt x="1626539" y="40268"/>
                    </a:cubicBezTo>
                    <a:lnTo>
                      <a:pt x="1626539" y="513445"/>
                    </a:lnTo>
                    <a:cubicBezTo>
                      <a:pt x="1626539" y="524125"/>
                      <a:pt x="1622296" y="534367"/>
                      <a:pt x="1614744" y="541919"/>
                    </a:cubicBezTo>
                    <a:cubicBezTo>
                      <a:pt x="1607193" y="549471"/>
                      <a:pt x="1596950" y="553713"/>
                      <a:pt x="1586271" y="553713"/>
                    </a:cubicBezTo>
                    <a:lnTo>
                      <a:pt x="40268" y="553713"/>
                    </a:lnTo>
                    <a:cubicBezTo>
                      <a:pt x="29588" y="553713"/>
                      <a:pt x="19346" y="549471"/>
                      <a:pt x="11794" y="541919"/>
                    </a:cubicBezTo>
                    <a:cubicBezTo>
                      <a:pt x="4243" y="534367"/>
                      <a:pt x="0" y="524125"/>
                      <a:pt x="0" y="513445"/>
                    </a:cubicBezTo>
                    <a:lnTo>
                      <a:pt x="0" y="40268"/>
                    </a:lnTo>
                    <a:cubicBezTo>
                      <a:pt x="0" y="29588"/>
                      <a:pt x="4243" y="19346"/>
                      <a:pt x="11794" y="11794"/>
                    </a:cubicBezTo>
                    <a:cubicBezTo>
                      <a:pt x="19346" y="4243"/>
                      <a:pt x="29588" y="0"/>
                      <a:pt x="40268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8122E"/>
                  </a:gs>
                  <a:gs pos="100000">
                    <a:srgbClr val="2D5297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3"/>
              <p:cNvSpPr txBox="1"/>
              <p:nvPr/>
            </p:nvSpPr>
            <p:spPr>
              <a:xfrm>
                <a:off x="0" y="-47625"/>
                <a:ext cx="1626538" cy="6013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7525" lIns="47525" spcFirstLastPara="1" rIns="47525" wrap="square" tIns="47525">
                <a:noAutofit/>
              </a:bodyPr>
              <a:lstStyle/>
              <a:p>
                <a:pPr indent="0" lvl="0" marL="0" marR="0" rtl="0" algn="ctr">
                  <a:lnSpc>
                    <a:spcPct val="1898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88" name="Google Shape;188;p3"/>
            <p:cNvSpPr txBox="1"/>
            <p:nvPr/>
          </p:nvSpPr>
          <p:spPr>
            <a:xfrm>
              <a:off x="2579429" y="2153020"/>
              <a:ext cx="3059371" cy="5397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015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SOLUCIÓN CONSTRUIDA</a:t>
              </a:r>
              <a:endParaRPr/>
            </a:p>
          </p:txBody>
        </p:sp>
      </p:grpSp>
      <p:sp>
        <p:nvSpPr>
          <p:cNvPr id="189" name="Google Shape;189;p3"/>
          <p:cNvSpPr txBox="1"/>
          <p:nvPr/>
        </p:nvSpPr>
        <p:spPr>
          <a:xfrm>
            <a:off x="6755596" y="3515281"/>
            <a:ext cx="5072428" cy="1305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No existe una plataforma única que conecte los procesos clínicos, comerciales y administrativos.</a:t>
            </a:r>
            <a:endParaRPr/>
          </a:p>
        </p:txBody>
      </p:sp>
      <p:sp>
        <p:nvSpPr>
          <p:cNvPr id="190" name="Google Shape;190;p3"/>
          <p:cNvSpPr txBox="1"/>
          <p:nvPr/>
        </p:nvSpPr>
        <p:spPr>
          <a:xfrm>
            <a:off x="12546347" y="3559431"/>
            <a:ext cx="5072428" cy="1305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VetSalud ERP v0.4.0: web Java MVC con 12 pantallas, 237 pruebas en verde y código en GitHub.</a:t>
            </a:r>
            <a:endParaRPr/>
          </a:p>
        </p:txBody>
      </p:sp>
      <p:sp>
        <p:nvSpPr>
          <p:cNvPr id="191" name="Google Shape;191;p3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2" name="Google Shape;192;p3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93" name="Google Shape;193;p3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94" name="Google Shape;194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200" name="Google Shape;200;p4"/>
          <p:cNvSpPr/>
          <p:nvPr/>
        </p:nvSpPr>
        <p:spPr>
          <a:xfrm>
            <a:off x="9950921" y="13205125"/>
            <a:ext cx="800350" cy="417292"/>
          </a:xfrm>
          <a:custGeom>
            <a:rect b="b" l="l" r="r" t="t"/>
            <a:pathLst>
              <a:path extrusionOk="0" h="417292" w="800350">
                <a:moveTo>
                  <a:pt x="0" y="0"/>
                </a:moveTo>
                <a:lnTo>
                  <a:pt x="800350" y="0"/>
                </a:lnTo>
                <a:lnTo>
                  <a:pt x="800350" y="417292"/>
                </a:lnTo>
                <a:lnTo>
                  <a:pt x="0" y="4172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01" name="Google Shape;201;p4"/>
          <p:cNvGrpSpPr/>
          <p:nvPr/>
        </p:nvGrpSpPr>
        <p:grpSpPr>
          <a:xfrm>
            <a:off x="1889850" y="1833791"/>
            <a:ext cx="14506381" cy="7040203"/>
            <a:chOff x="0" y="-192881"/>
            <a:chExt cx="19341841" cy="8094978"/>
          </a:xfrm>
        </p:grpSpPr>
        <p:grpSp>
          <p:nvGrpSpPr>
            <p:cNvPr id="202" name="Google Shape;202;p4"/>
            <p:cNvGrpSpPr/>
            <p:nvPr/>
          </p:nvGrpSpPr>
          <p:grpSpPr>
            <a:xfrm>
              <a:off x="0" y="330683"/>
              <a:ext cx="1331591" cy="7047850"/>
              <a:chOff x="0" y="-38100"/>
              <a:chExt cx="263030" cy="1392168"/>
            </a:xfrm>
          </p:grpSpPr>
          <p:sp>
            <p:nvSpPr>
              <p:cNvPr id="203" name="Google Shape;203;p4"/>
              <p:cNvSpPr/>
              <p:nvPr/>
            </p:nvSpPr>
            <p:spPr>
              <a:xfrm>
                <a:off x="0" y="0"/>
                <a:ext cx="263030" cy="1354068"/>
              </a:xfrm>
              <a:custGeom>
                <a:rect b="b" l="l" r="r" t="t"/>
                <a:pathLst>
                  <a:path extrusionOk="0" h="1354068" w="263030">
                    <a:moveTo>
                      <a:pt x="131515" y="0"/>
                    </a:moveTo>
                    <a:lnTo>
                      <a:pt x="131515" y="0"/>
                    </a:lnTo>
                    <a:cubicBezTo>
                      <a:pt x="166395" y="0"/>
                      <a:pt x="199847" y="13856"/>
                      <a:pt x="224510" y="38520"/>
                    </a:cubicBezTo>
                    <a:cubicBezTo>
                      <a:pt x="249174" y="63184"/>
                      <a:pt x="263030" y="96635"/>
                      <a:pt x="263030" y="131515"/>
                    </a:cubicBezTo>
                    <a:lnTo>
                      <a:pt x="263030" y="1222553"/>
                    </a:lnTo>
                    <a:cubicBezTo>
                      <a:pt x="263030" y="1257433"/>
                      <a:pt x="249174" y="1290884"/>
                      <a:pt x="224510" y="1315548"/>
                    </a:cubicBezTo>
                    <a:cubicBezTo>
                      <a:pt x="199847" y="1340212"/>
                      <a:pt x="166395" y="1354068"/>
                      <a:pt x="131515" y="1354068"/>
                    </a:cubicBezTo>
                    <a:lnTo>
                      <a:pt x="131515" y="1354068"/>
                    </a:lnTo>
                    <a:cubicBezTo>
                      <a:pt x="96635" y="1354068"/>
                      <a:pt x="63184" y="1340212"/>
                      <a:pt x="38520" y="1315548"/>
                    </a:cubicBezTo>
                    <a:cubicBezTo>
                      <a:pt x="13856" y="1290884"/>
                      <a:pt x="0" y="1257433"/>
                      <a:pt x="0" y="1222553"/>
                    </a:cubicBezTo>
                    <a:lnTo>
                      <a:pt x="0" y="131515"/>
                    </a:lnTo>
                    <a:cubicBezTo>
                      <a:pt x="0" y="96635"/>
                      <a:pt x="13856" y="63184"/>
                      <a:pt x="38520" y="38520"/>
                    </a:cubicBezTo>
                    <a:cubicBezTo>
                      <a:pt x="63184" y="13856"/>
                      <a:pt x="96635" y="0"/>
                      <a:pt x="131515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" name="Google Shape;204;p4"/>
              <p:cNvSpPr txBox="1"/>
              <p:nvPr/>
            </p:nvSpPr>
            <p:spPr>
              <a:xfrm>
                <a:off x="0" y="-38100"/>
                <a:ext cx="263030" cy="1392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5" name="Google Shape;205;p4"/>
            <p:cNvGrpSpPr/>
            <p:nvPr/>
          </p:nvGrpSpPr>
          <p:grpSpPr>
            <a:xfrm rot="10800000">
              <a:off x="18010250" y="523564"/>
              <a:ext cx="1331591" cy="7047850"/>
              <a:chOff x="0" y="-38100"/>
              <a:chExt cx="263030" cy="1392168"/>
            </a:xfrm>
          </p:grpSpPr>
          <p:sp>
            <p:nvSpPr>
              <p:cNvPr id="206" name="Google Shape;206;p4"/>
              <p:cNvSpPr/>
              <p:nvPr/>
            </p:nvSpPr>
            <p:spPr>
              <a:xfrm>
                <a:off x="0" y="0"/>
                <a:ext cx="263030" cy="1354068"/>
              </a:xfrm>
              <a:custGeom>
                <a:rect b="b" l="l" r="r" t="t"/>
                <a:pathLst>
                  <a:path extrusionOk="0" h="1354068" w="263030">
                    <a:moveTo>
                      <a:pt x="131515" y="0"/>
                    </a:moveTo>
                    <a:lnTo>
                      <a:pt x="131515" y="0"/>
                    </a:lnTo>
                    <a:cubicBezTo>
                      <a:pt x="166395" y="0"/>
                      <a:pt x="199847" y="13856"/>
                      <a:pt x="224510" y="38520"/>
                    </a:cubicBezTo>
                    <a:cubicBezTo>
                      <a:pt x="249174" y="63184"/>
                      <a:pt x="263030" y="96635"/>
                      <a:pt x="263030" y="131515"/>
                    </a:cubicBezTo>
                    <a:lnTo>
                      <a:pt x="263030" y="1222553"/>
                    </a:lnTo>
                    <a:cubicBezTo>
                      <a:pt x="263030" y="1257433"/>
                      <a:pt x="249174" y="1290884"/>
                      <a:pt x="224510" y="1315548"/>
                    </a:cubicBezTo>
                    <a:cubicBezTo>
                      <a:pt x="199847" y="1340212"/>
                      <a:pt x="166395" y="1354068"/>
                      <a:pt x="131515" y="1354068"/>
                    </a:cubicBezTo>
                    <a:lnTo>
                      <a:pt x="131515" y="1354068"/>
                    </a:lnTo>
                    <a:cubicBezTo>
                      <a:pt x="96635" y="1354068"/>
                      <a:pt x="63184" y="1340212"/>
                      <a:pt x="38520" y="1315548"/>
                    </a:cubicBezTo>
                    <a:cubicBezTo>
                      <a:pt x="13856" y="1290884"/>
                      <a:pt x="0" y="1257433"/>
                      <a:pt x="0" y="1222553"/>
                    </a:cubicBezTo>
                    <a:lnTo>
                      <a:pt x="0" y="131515"/>
                    </a:lnTo>
                    <a:cubicBezTo>
                      <a:pt x="0" y="96635"/>
                      <a:pt x="13856" y="63184"/>
                      <a:pt x="38520" y="38520"/>
                    </a:cubicBezTo>
                    <a:cubicBezTo>
                      <a:pt x="63184" y="13856"/>
                      <a:pt x="96635" y="0"/>
                      <a:pt x="131515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4"/>
              <p:cNvSpPr txBox="1"/>
              <p:nvPr/>
            </p:nvSpPr>
            <p:spPr>
              <a:xfrm>
                <a:off x="0" y="-38100"/>
                <a:ext cx="263030" cy="1392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8" name="Google Shape;208;p4"/>
            <p:cNvGrpSpPr/>
            <p:nvPr/>
          </p:nvGrpSpPr>
          <p:grpSpPr>
            <a:xfrm>
              <a:off x="439765" y="-192881"/>
              <a:ext cx="18464880" cy="8094978"/>
              <a:chOff x="0" y="-38100"/>
              <a:chExt cx="3647384" cy="1599008"/>
            </a:xfrm>
          </p:grpSpPr>
          <p:sp>
            <p:nvSpPr>
              <p:cNvPr id="209" name="Google Shape;209;p4"/>
              <p:cNvSpPr/>
              <p:nvPr/>
            </p:nvSpPr>
            <p:spPr>
              <a:xfrm>
                <a:off x="0" y="0"/>
                <a:ext cx="3647384" cy="1560908"/>
              </a:xfrm>
              <a:custGeom>
                <a:rect b="b" l="l" r="r" t="t"/>
                <a:pathLst>
                  <a:path extrusionOk="0" h="1560908" w="3647384">
                    <a:moveTo>
                      <a:pt x="16771" y="0"/>
                    </a:moveTo>
                    <a:lnTo>
                      <a:pt x="3630613" y="0"/>
                    </a:lnTo>
                    <a:cubicBezTo>
                      <a:pt x="3639875" y="0"/>
                      <a:pt x="3647384" y="7509"/>
                      <a:pt x="3647384" y="16771"/>
                    </a:cubicBezTo>
                    <a:lnTo>
                      <a:pt x="3647384" y="1544137"/>
                    </a:lnTo>
                    <a:cubicBezTo>
                      <a:pt x="3647384" y="1553399"/>
                      <a:pt x="3639875" y="1560908"/>
                      <a:pt x="3630613" y="1560908"/>
                    </a:cubicBezTo>
                    <a:lnTo>
                      <a:pt x="16771" y="1560908"/>
                    </a:lnTo>
                    <a:cubicBezTo>
                      <a:pt x="7509" y="1560908"/>
                      <a:pt x="0" y="1553399"/>
                      <a:pt x="0" y="1544137"/>
                    </a:cubicBezTo>
                    <a:lnTo>
                      <a:pt x="0" y="16771"/>
                    </a:lnTo>
                    <a:cubicBezTo>
                      <a:pt x="0" y="7509"/>
                      <a:pt x="7509" y="0"/>
                      <a:pt x="167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4"/>
              <p:cNvSpPr txBox="1"/>
              <p:nvPr/>
            </p:nvSpPr>
            <p:spPr>
              <a:xfrm>
                <a:off x="0" y="-38100"/>
                <a:ext cx="3647384" cy="15990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1" name="Google Shape;211;p4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212" name="Google Shape;212;p4"/>
            <p:cNvSpPr/>
            <p:nvPr/>
          </p:nvSpPr>
          <p:spPr>
            <a:xfrm>
              <a:off x="0" y="133575"/>
              <a:ext cx="3871319" cy="420138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4"/>
            <p:cNvSpPr/>
            <p:nvPr/>
          </p:nvSpPr>
          <p:spPr>
            <a:xfrm>
              <a:off x="0" y="-47625"/>
              <a:ext cx="3871319" cy="601338"/>
            </a:xfrm>
            <a:prstGeom prst="roundRect">
              <a:avLst>
                <a:gd fmla="val 14945" name="adj"/>
              </a:avLst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4" name="Google Shape;214;p4"/>
          <p:cNvSpPr txBox="1"/>
          <p:nvPr/>
        </p:nvSpPr>
        <p:spPr>
          <a:xfrm>
            <a:off x="2772915" y="2879178"/>
            <a:ext cx="12742169" cy="4829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735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Una clínica veterinaria combina actividades asistenciales y comerciales que deben ejecutarse de forma coordinada. La recepción registra al propietario y a la mascota, agenda la atención y controla la llegada; el médico consulta antecedentes y documenta el diagnóstico; farmacia valida recetas, lotes y existencias; finalmente, caja integra servicios y productos en una venta. Cuando estos datos permanecen en soportes separados, cada área trabaja con una versión distinta de la realidad.</a:t>
            </a:r>
            <a:endParaRPr/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35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735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La digitalización integral se justifica por la necesidad de reducir tiempos improductivos, conservar una historia clínica trazable, evitar ventas de productos vencidos o sin stock y disponer de información gerencial oportuna. </a:t>
            </a:r>
            <a:endParaRPr sz="2735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215" name="Google Shape;215;p4"/>
          <p:cNvCxnSpPr/>
          <p:nvPr/>
        </p:nvCxnSpPr>
        <p:spPr>
          <a:xfrm>
            <a:off x="1261946" y="9105900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" name="Google Shape;216;p4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7" name="Google Shape;217;p4"/>
          <p:cNvSpPr txBox="1"/>
          <p:nvPr/>
        </p:nvSpPr>
        <p:spPr>
          <a:xfrm>
            <a:off x="4122188" y="1621512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CONTEXTO Y JUSTIFICACIÓN </a:t>
            </a:r>
            <a:endParaRPr/>
          </a:p>
        </p:txBody>
      </p:sp>
      <p:sp>
        <p:nvSpPr>
          <p:cNvPr id="218" name="Google Shape;218;p4"/>
          <p:cNvSpPr txBox="1"/>
          <p:nvPr/>
        </p:nvSpPr>
        <p:spPr>
          <a:xfrm>
            <a:off x="459557" y="361381"/>
            <a:ext cx="5657850" cy="539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1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2.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INTRODUCCIÓN</a:t>
            </a:r>
            <a:endParaRPr b="1" sz="3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219" name="Google Shape;219;p4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220" name="Google Shape;220;p4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1" name="Google Shape;221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227" name="Google Shape;227;p5"/>
          <p:cNvSpPr/>
          <p:nvPr/>
        </p:nvSpPr>
        <p:spPr>
          <a:xfrm>
            <a:off x="9950921" y="13205125"/>
            <a:ext cx="800350" cy="417292"/>
          </a:xfrm>
          <a:custGeom>
            <a:rect b="b" l="l" r="r" t="t"/>
            <a:pathLst>
              <a:path extrusionOk="0" h="417292" w="800350">
                <a:moveTo>
                  <a:pt x="0" y="0"/>
                </a:moveTo>
                <a:lnTo>
                  <a:pt x="800350" y="0"/>
                </a:lnTo>
                <a:lnTo>
                  <a:pt x="800350" y="417292"/>
                </a:lnTo>
                <a:lnTo>
                  <a:pt x="0" y="4172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28" name="Google Shape;228;p5"/>
          <p:cNvGrpSpPr/>
          <p:nvPr/>
        </p:nvGrpSpPr>
        <p:grpSpPr>
          <a:xfrm>
            <a:off x="1889846" y="1833808"/>
            <a:ext cx="14506381" cy="6071234"/>
            <a:chOff x="0" y="-192881"/>
            <a:chExt cx="19341841" cy="8094978"/>
          </a:xfrm>
        </p:grpSpPr>
        <p:grpSp>
          <p:nvGrpSpPr>
            <p:cNvPr id="229" name="Google Shape;229;p5"/>
            <p:cNvGrpSpPr/>
            <p:nvPr/>
          </p:nvGrpSpPr>
          <p:grpSpPr>
            <a:xfrm>
              <a:off x="0" y="330683"/>
              <a:ext cx="1331591" cy="7047850"/>
              <a:chOff x="0" y="-38100"/>
              <a:chExt cx="263030" cy="1392168"/>
            </a:xfrm>
          </p:grpSpPr>
          <p:sp>
            <p:nvSpPr>
              <p:cNvPr id="230" name="Google Shape;230;p5"/>
              <p:cNvSpPr/>
              <p:nvPr/>
            </p:nvSpPr>
            <p:spPr>
              <a:xfrm>
                <a:off x="0" y="0"/>
                <a:ext cx="263030" cy="1354068"/>
              </a:xfrm>
              <a:custGeom>
                <a:rect b="b" l="l" r="r" t="t"/>
                <a:pathLst>
                  <a:path extrusionOk="0" h="1354068" w="263030">
                    <a:moveTo>
                      <a:pt x="131515" y="0"/>
                    </a:moveTo>
                    <a:lnTo>
                      <a:pt x="131515" y="0"/>
                    </a:lnTo>
                    <a:cubicBezTo>
                      <a:pt x="166395" y="0"/>
                      <a:pt x="199847" y="13856"/>
                      <a:pt x="224510" y="38520"/>
                    </a:cubicBezTo>
                    <a:cubicBezTo>
                      <a:pt x="249174" y="63184"/>
                      <a:pt x="263030" y="96635"/>
                      <a:pt x="263030" y="131515"/>
                    </a:cubicBezTo>
                    <a:lnTo>
                      <a:pt x="263030" y="1222553"/>
                    </a:lnTo>
                    <a:cubicBezTo>
                      <a:pt x="263030" y="1257433"/>
                      <a:pt x="249174" y="1290884"/>
                      <a:pt x="224510" y="1315548"/>
                    </a:cubicBezTo>
                    <a:cubicBezTo>
                      <a:pt x="199847" y="1340212"/>
                      <a:pt x="166395" y="1354068"/>
                      <a:pt x="131515" y="1354068"/>
                    </a:cubicBezTo>
                    <a:lnTo>
                      <a:pt x="131515" y="1354068"/>
                    </a:lnTo>
                    <a:cubicBezTo>
                      <a:pt x="96635" y="1354068"/>
                      <a:pt x="63184" y="1340212"/>
                      <a:pt x="38520" y="1315548"/>
                    </a:cubicBezTo>
                    <a:cubicBezTo>
                      <a:pt x="13856" y="1290884"/>
                      <a:pt x="0" y="1257433"/>
                      <a:pt x="0" y="1222553"/>
                    </a:cubicBezTo>
                    <a:lnTo>
                      <a:pt x="0" y="131515"/>
                    </a:lnTo>
                    <a:cubicBezTo>
                      <a:pt x="0" y="96635"/>
                      <a:pt x="13856" y="63184"/>
                      <a:pt x="38520" y="38520"/>
                    </a:cubicBezTo>
                    <a:cubicBezTo>
                      <a:pt x="63184" y="13856"/>
                      <a:pt x="96635" y="0"/>
                      <a:pt x="131515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5"/>
              <p:cNvSpPr txBox="1"/>
              <p:nvPr/>
            </p:nvSpPr>
            <p:spPr>
              <a:xfrm>
                <a:off x="0" y="-38100"/>
                <a:ext cx="263030" cy="1392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5"/>
            <p:cNvGrpSpPr/>
            <p:nvPr/>
          </p:nvGrpSpPr>
          <p:grpSpPr>
            <a:xfrm rot="10800000">
              <a:off x="18010250" y="523564"/>
              <a:ext cx="1331591" cy="7047850"/>
              <a:chOff x="0" y="-38100"/>
              <a:chExt cx="263030" cy="1392168"/>
            </a:xfrm>
          </p:grpSpPr>
          <p:sp>
            <p:nvSpPr>
              <p:cNvPr id="233" name="Google Shape;233;p5"/>
              <p:cNvSpPr/>
              <p:nvPr/>
            </p:nvSpPr>
            <p:spPr>
              <a:xfrm>
                <a:off x="0" y="0"/>
                <a:ext cx="263030" cy="1354068"/>
              </a:xfrm>
              <a:custGeom>
                <a:rect b="b" l="l" r="r" t="t"/>
                <a:pathLst>
                  <a:path extrusionOk="0" h="1354068" w="263030">
                    <a:moveTo>
                      <a:pt x="131515" y="0"/>
                    </a:moveTo>
                    <a:lnTo>
                      <a:pt x="131515" y="0"/>
                    </a:lnTo>
                    <a:cubicBezTo>
                      <a:pt x="166395" y="0"/>
                      <a:pt x="199847" y="13856"/>
                      <a:pt x="224510" y="38520"/>
                    </a:cubicBezTo>
                    <a:cubicBezTo>
                      <a:pt x="249174" y="63184"/>
                      <a:pt x="263030" y="96635"/>
                      <a:pt x="263030" y="131515"/>
                    </a:cubicBezTo>
                    <a:lnTo>
                      <a:pt x="263030" y="1222553"/>
                    </a:lnTo>
                    <a:cubicBezTo>
                      <a:pt x="263030" y="1257433"/>
                      <a:pt x="249174" y="1290884"/>
                      <a:pt x="224510" y="1315548"/>
                    </a:cubicBezTo>
                    <a:cubicBezTo>
                      <a:pt x="199847" y="1340212"/>
                      <a:pt x="166395" y="1354068"/>
                      <a:pt x="131515" y="1354068"/>
                    </a:cubicBezTo>
                    <a:lnTo>
                      <a:pt x="131515" y="1354068"/>
                    </a:lnTo>
                    <a:cubicBezTo>
                      <a:pt x="96635" y="1354068"/>
                      <a:pt x="63184" y="1340212"/>
                      <a:pt x="38520" y="1315548"/>
                    </a:cubicBezTo>
                    <a:cubicBezTo>
                      <a:pt x="13856" y="1290884"/>
                      <a:pt x="0" y="1257433"/>
                      <a:pt x="0" y="1222553"/>
                    </a:cubicBezTo>
                    <a:lnTo>
                      <a:pt x="0" y="131515"/>
                    </a:lnTo>
                    <a:cubicBezTo>
                      <a:pt x="0" y="96635"/>
                      <a:pt x="13856" y="63184"/>
                      <a:pt x="38520" y="38520"/>
                    </a:cubicBezTo>
                    <a:cubicBezTo>
                      <a:pt x="63184" y="13856"/>
                      <a:pt x="96635" y="0"/>
                      <a:pt x="131515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5"/>
              <p:cNvSpPr txBox="1"/>
              <p:nvPr/>
            </p:nvSpPr>
            <p:spPr>
              <a:xfrm>
                <a:off x="0" y="-38100"/>
                <a:ext cx="263030" cy="1392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5" name="Google Shape;235;p5"/>
            <p:cNvGrpSpPr/>
            <p:nvPr/>
          </p:nvGrpSpPr>
          <p:grpSpPr>
            <a:xfrm>
              <a:off x="439765" y="-192881"/>
              <a:ext cx="18464880" cy="8094978"/>
              <a:chOff x="0" y="-38100"/>
              <a:chExt cx="3647384" cy="1599008"/>
            </a:xfrm>
          </p:grpSpPr>
          <p:sp>
            <p:nvSpPr>
              <p:cNvPr id="236" name="Google Shape;236;p5"/>
              <p:cNvSpPr/>
              <p:nvPr/>
            </p:nvSpPr>
            <p:spPr>
              <a:xfrm>
                <a:off x="0" y="0"/>
                <a:ext cx="3647384" cy="1560908"/>
              </a:xfrm>
              <a:custGeom>
                <a:rect b="b" l="l" r="r" t="t"/>
                <a:pathLst>
                  <a:path extrusionOk="0" h="1560908" w="3647384">
                    <a:moveTo>
                      <a:pt x="16771" y="0"/>
                    </a:moveTo>
                    <a:lnTo>
                      <a:pt x="3630613" y="0"/>
                    </a:lnTo>
                    <a:cubicBezTo>
                      <a:pt x="3639875" y="0"/>
                      <a:pt x="3647384" y="7509"/>
                      <a:pt x="3647384" y="16771"/>
                    </a:cubicBezTo>
                    <a:lnTo>
                      <a:pt x="3647384" y="1544137"/>
                    </a:lnTo>
                    <a:cubicBezTo>
                      <a:pt x="3647384" y="1553399"/>
                      <a:pt x="3639875" y="1560908"/>
                      <a:pt x="3630613" y="1560908"/>
                    </a:cubicBezTo>
                    <a:lnTo>
                      <a:pt x="16771" y="1560908"/>
                    </a:lnTo>
                    <a:cubicBezTo>
                      <a:pt x="7509" y="1560908"/>
                      <a:pt x="0" y="1553399"/>
                      <a:pt x="0" y="1544137"/>
                    </a:cubicBezTo>
                    <a:lnTo>
                      <a:pt x="0" y="16771"/>
                    </a:lnTo>
                    <a:cubicBezTo>
                      <a:pt x="0" y="7509"/>
                      <a:pt x="7509" y="0"/>
                      <a:pt x="167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5"/>
              <p:cNvSpPr txBox="1"/>
              <p:nvPr/>
            </p:nvSpPr>
            <p:spPr>
              <a:xfrm>
                <a:off x="0" y="-38100"/>
                <a:ext cx="3647384" cy="15990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38" name="Google Shape;238;p5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239" name="Google Shape;239;p5"/>
            <p:cNvSpPr/>
            <p:nvPr/>
          </p:nvSpPr>
          <p:spPr>
            <a:xfrm>
              <a:off x="0" y="0"/>
              <a:ext cx="3871319" cy="553713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5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1" name="Google Shape;241;p5"/>
          <p:cNvSpPr txBox="1"/>
          <p:nvPr/>
        </p:nvSpPr>
        <p:spPr>
          <a:xfrm>
            <a:off x="3156337" y="3501617"/>
            <a:ext cx="11501271" cy="28802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735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Analizar, diseñar, construir y verificar un aplicativo web Java que integre el ciclo de atención y venta de una clínica veterinaria de una sede, con trazabilidad entre problema, alcance, requisitos, arquitectura, interfaz, código y evidencia de pruebas.</a:t>
            </a:r>
            <a:endParaRPr sz="2735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242" name="Google Shape;242;p5"/>
          <p:cNvCxnSpPr/>
          <p:nvPr/>
        </p:nvCxnSpPr>
        <p:spPr>
          <a:xfrm>
            <a:off x="1253084" y="9105900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" name="Google Shape;243;p5"/>
          <p:cNvSpPr/>
          <p:nvPr/>
        </p:nvSpPr>
        <p:spPr>
          <a:xfrm flipH="1">
            <a:off x="1267870" y="9407643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4" name="Google Shape;244;p5"/>
          <p:cNvSpPr txBox="1"/>
          <p:nvPr/>
        </p:nvSpPr>
        <p:spPr>
          <a:xfrm>
            <a:off x="4122190" y="1416458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OBJETIVO GENERAL</a:t>
            </a:r>
            <a:endParaRPr/>
          </a:p>
        </p:txBody>
      </p:sp>
      <p:sp>
        <p:nvSpPr>
          <p:cNvPr id="245" name="Google Shape;245;p5"/>
          <p:cNvSpPr txBox="1"/>
          <p:nvPr/>
        </p:nvSpPr>
        <p:spPr>
          <a:xfrm>
            <a:off x="459557" y="361381"/>
            <a:ext cx="5657850" cy="539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1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2.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INTRODUCCIÓN</a:t>
            </a:r>
            <a:endParaRPr b="1" sz="3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246" name="Google Shape;246;p5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247" name="Google Shape;247;p5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48" name="Google Shape;248;p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254" name="Google Shape;254;p6"/>
          <p:cNvGrpSpPr/>
          <p:nvPr/>
        </p:nvGrpSpPr>
        <p:grpSpPr>
          <a:xfrm>
            <a:off x="509757" y="3219404"/>
            <a:ext cx="2778725" cy="5041564"/>
            <a:chOff x="0" y="-38100"/>
            <a:chExt cx="1040052" cy="1397054"/>
          </a:xfrm>
        </p:grpSpPr>
        <p:sp>
          <p:nvSpPr>
            <p:cNvPr id="255" name="Google Shape;255;p6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6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7" name="Google Shape;257;p6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6"/>
          <p:cNvSpPr/>
          <p:nvPr/>
        </p:nvSpPr>
        <p:spPr>
          <a:xfrm>
            <a:off x="16590198" y="-14140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59" name="Google Shape;259;p6"/>
          <p:cNvGrpSpPr/>
          <p:nvPr/>
        </p:nvGrpSpPr>
        <p:grpSpPr>
          <a:xfrm>
            <a:off x="1143086" y="2687194"/>
            <a:ext cx="1547861" cy="1536821"/>
            <a:chOff x="2125482" y="2588485"/>
            <a:chExt cx="1547861" cy="1536821"/>
          </a:xfrm>
        </p:grpSpPr>
        <p:sp>
          <p:nvSpPr>
            <p:cNvPr id="260" name="Google Shape;260;p6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6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262" name="Google Shape;262;p6"/>
          <p:cNvSpPr txBox="1"/>
          <p:nvPr/>
        </p:nvSpPr>
        <p:spPr>
          <a:xfrm>
            <a:off x="697913" y="4490241"/>
            <a:ext cx="2449245" cy="17007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Caracterizar la empresa, su misión, visión, entorno, estrategias, planes y problema operativo.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63" name="Google Shape;263;p6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264" name="Google Shape;264;p6"/>
            <p:cNvSpPr/>
            <p:nvPr/>
          </p:nvSpPr>
          <p:spPr>
            <a:xfrm>
              <a:off x="0" y="0"/>
              <a:ext cx="3871319" cy="553713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6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6" name="Google Shape;266;p6"/>
          <p:cNvSpPr txBox="1"/>
          <p:nvPr/>
        </p:nvSpPr>
        <p:spPr>
          <a:xfrm>
            <a:off x="4122190" y="1416458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OBJETIVOS ESPECÍFICOS</a:t>
            </a:r>
            <a:endParaRPr/>
          </a:p>
        </p:txBody>
      </p:sp>
      <p:grpSp>
        <p:nvGrpSpPr>
          <p:cNvPr id="267" name="Google Shape;267;p6"/>
          <p:cNvGrpSpPr/>
          <p:nvPr/>
        </p:nvGrpSpPr>
        <p:grpSpPr>
          <a:xfrm>
            <a:off x="3447882" y="3219404"/>
            <a:ext cx="2778725" cy="5041564"/>
            <a:chOff x="0" y="-38100"/>
            <a:chExt cx="1040052" cy="1397054"/>
          </a:xfrm>
        </p:grpSpPr>
        <p:sp>
          <p:nvSpPr>
            <p:cNvPr id="268" name="Google Shape;268;p6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6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6"/>
          <p:cNvGrpSpPr/>
          <p:nvPr/>
        </p:nvGrpSpPr>
        <p:grpSpPr>
          <a:xfrm>
            <a:off x="6377446" y="3250750"/>
            <a:ext cx="2778725" cy="5041564"/>
            <a:chOff x="0" y="-38100"/>
            <a:chExt cx="1040052" cy="1397054"/>
          </a:xfrm>
        </p:grpSpPr>
        <p:sp>
          <p:nvSpPr>
            <p:cNvPr id="271" name="Google Shape;271;p6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6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6"/>
          <p:cNvGrpSpPr/>
          <p:nvPr/>
        </p:nvGrpSpPr>
        <p:grpSpPr>
          <a:xfrm>
            <a:off x="9315571" y="3250750"/>
            <a:ext cx="2778725" cy="5041564"/>
            <a:chOff x="0" y="-38100"/>
            <a:chExt cx="1040052" cy="1397054"/>
          </a:xfrm>
        </p:grpSpPr>
        <p:sp>
          <p:nvSpPr>
            <p:cNvPr id="274" name="Google Shape;274;p6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6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6"/>
          <p:cNvGrpSpPr/>
          <p:nvPr/>
        </p:nvGrpSpPr>
        <p:grpSpPr>
          <a:xfrm>
            <a:off x="12262711" y="3213224"/>
            <a:ext cx="2778725" cy="5041564"/>
            <a:chOff x="0" y="-38100"/>
            <a:chExt cx="1040052" cy="1397054"/>
          </a:xfrm>
        </p:grpSpPr>
        <p:sp>
          <p:nvSpPr>
            <p:cNvPr id="277" name="Google Shape;277;p6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6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6"/>
          <p:cNvGrpSpPr/>
          <p:nvPr/>
        </p:nvGrpSpPr>
        <p:grpSpPr>
          <a:xfrm>
            <a:off x="15200825" y="3213224"/>
            <a:ext cx="2982661" cy="5079130"/>
            <a:chOff x="0" y="-38100"/>
            <a:chExt cx="1040052" cy="1397054"/>
          </a:xfrm>
        </p:grpSpPr>
        <p:sp>
          <p:nvSpPr>
            <p:cNvPr id="280" name="Google Shape;280;p6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6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" name="Google Shape;282;p6"/>
          <p:cNvGrpSpPr/>
          <p:nvPr/>
        </p:nvGrpSpPr>
        <p:grpSpPr>
          <a:xfrm>
            <a:off x="4081211" y="2699105"/>
            <a:ext cx="1547861" cy="1536821"/>
            <a:chOff x="2125482" y="2588485"/>
            <a:chExt cx="1547861" cy="1536821"/>
          </a:xfrm>
        </p:grpSpPr>
        <p:sp>
          <p:nvSpPr>
            <p:cNvPr id="283" name="Google Shape;283;p6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6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grpSp>
        <p:nvGrpSpPr>
          <p:cNvPr id="285" name="Google Shape;285;p6"/>
          <p:cNvGrpSpPr/>
          <p:nvPr/>
        </p:nvGrpSpPr>
        <p:grpSpPr>
          <a:xfrm>
            <a:off x="6992877" y="2702211"/>
            <a:ext cx="1547861" cy="1536821"/>
            <a:chOff x="2125482" y="2588485"/>
            <a:chExt cx="1547861" cy="1536821"/>
          </a:xfrm>
        </p:grpSpPr>
        <p:sp>
          <p:nvSpPr>
            <p:cNvPr id="286" name="Google Shape;286;p6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6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288" name="Google Shape;288;p6"/>
          <p:cNvGrpSpPr/>
          <p:nvPr/>
        </p:nvGrpSpPr>
        <p:grpSpPr>
          <a:xfrm>
            <a:off x="9903751" y="2699105"/>
            <a:ext cx="1547861" cy="1536821"/>
            <a:chOff x="2125482" y="2588485"/>
            <a:chExt cx="1547861" cy="1536821"/>
          </a:xfrm>
        </p:grpSpPr>
        <p:sp>
          <p:nvSpPr>
            <p:cNvPr id="289" name="Google Shape;289;p6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6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291" name="Google Shape;291;p6"/>
          <p:cNvGrpSpPr/>
          <p:nvPr/>
        </p:nvGrpSpPr>
        <p:grpSpPr>
          <a:xfrm>
            <a:off x="12905395" y="2699105"/>
            <a:ext cx="1547861" cy="1536821"/>
            <a:chOff x="2125482" y="2588485"/>
            <a:chExt cx="1547861" cy="1536821"/>
          </a:xfrm>
        </p:grpSpPr>
        <p:sp>
          <p:nvSpPr>
            <p:cNvPr id="292" name="Google Shape;292;p6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6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grpSp>
        <p:nvGrpSpPr>
          <p:cNvPr id="294" name="Google Shape;294;p6"/>
          <p:cNvGrpSpPr/>
          <p:nvPr/>
        </p:nvGrpSpPr>
        <p:grpSpPr>
          <a:xfrm>
            <a:off x="15944614" y="2660593"/>
            <a:ext cx="1547861" cy="1536821"/>
            <a:chOff x="2125482" y="2588485"/>
            <a:chExt cx="1547861" cy="1536821"/>
          </a:xfrm>
        </p:grpSpPr>
        <p:sp>
          <p:nvSpPr>
            <p:cNvPr id="295" name="Google Shape;295;p6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6"/>
            <p:cNvSpPr txBox="1"/>
            <p:nvPr/>
          </p:nvSpPr>
          <p:spPr>
            <a:xfrm>
              <a:off x="2125482" y="2946052"/>
              <a:ext cx="1541100" cy="64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06</a:t>
              </a:r>
              <a:endParaRPr/>
            </a:p>
          </p:txBody>
        </p:sp>
      </p:grpSp>
      <p:sp>
        <p:nvSpPr>
          <p:cNvPr id="297" name="Google Shape;297;p6"/>
          <p:cNvSpPr txBox="1"/>
          <p:nvPr/>
        </p:nvSpPr>
        <p:spPr>
          <a:xfrm>
            <a:off x="3757187" y="4578298"/>
            <a:ext cx="2449245" cy="13544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Delimitar el alcance funcional y no funcional de la solución propuesta.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8" name="Google Shape;298;p6"/>
          <p:cNvSpPr txBox="1"/>
          <p:nvPr/>
        </p:nvSpPr>
        <p:spPr>
          <a:xfrm>
            <a:off x="6694754" y="4611113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Plantear y comparar tres alternativas de solución basadas en TIC, cada una con al menos cinco pantallas y más del 50 % de participación de Java.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9" name="Google Shape;299;p6"/>
          <p:cNvSpPr txBox="1"/>
          <p:nvPr/>
        </p:nvSpPr>
        <p:spPr>
          <a:xfrm>
            <a:off x="9527166" y="4663365"/>
            <a:ext cx="2449245" cy="2046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Planificar el proyecto mediante un Project Charter, un cronograma de Gantt y una WBS orientada a entregables.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00" name="Google Shape;300;p6"/>
          <p:cNvSpPr txBox="1"/>
          <p:nvPr/>
        </p:nvSpPr>
        <p:spPr>
          <a:xfrm>
            <a:off x="12460222" y="4663365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Modelar los actores, casos de uso, requisitos funcionales, requisitos no funcionales y reglas de negocio bajo una estructura SRS..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01" name="Google Shape;301;p6"/>
          <p:cNvSpPr txBox="1"/>
          <p:nvPr/>
        </p:nvSpPr>
        <p:spPr>
          <a:xfrm>
            <a:off x="15305926" y="4554225"/>
            <a:ext cx="2778600" cy="36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Diseñar e implementar la arquitectura, los módulos, el proceso y el modelo de datos, y demostrar su funcionamiento con una interfaz navegable, pruebas automatizadas y un repositorio en GitHub.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02" name="Google Shape;302;p6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3" name="Google Shape;303;p6"/>
          <p:cNvSpPr txBox="1"/>
          <p:nvPr/>
        </p:nvSpPr>
        <p:spPr>
          <a:xfrm>
            <a:off x="459557" y="361381"/>
            <a:ext cx="5657850" cy="539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1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2.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INTRODUCCIÓN</a:t>
            </a:r>
            <a:endParaRPr b="1" sz="3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304" name="Google Shape;304;p6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305" name="Google Shape;305;p6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06" name="Google Shape;306;p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312" name="Google Shape;312;p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3" name="Google Shape;313;p7"/>
          <p:cNvSpPr/>
          <p:nvPr/>
        </p:nvSpPr>
        <p:spPr>
          <a:xfrm>
            <a:off x="11305435" y="1028700"/>
            <a:ext cx="8551195" cy="8650293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9501980" y="1990544"/>
            <a:ext cx="17886728" cy="7323146"/>
          </a:xfrm>
          <a:custGeom>
            <a:rect b="b" l="l" r="r" t="t"/>
            <a:pathLst>
              <a:path extrusionOk="0" h="1354099" w="1260374">
                <a:moveTo>
                  <a:pt x="28549" y="0"/>
                </a:moveTo>
                <a:lnTo>
                  <a:pt x="1231825" y="0"/>
                </a:lnTo>
                <a:cubicBezTo>
                  <a:pt x="1247592" y="0"/>
                  <a:pt x="1260374" y="12782"/>
                  <a:pt x="1260374" y="28549"/>
                </a:cubicBezTo>
                <a:lnTo>
                  <a:pt x="1260374" y="1325550"/>
                </a:lnTo>
                <a:cubicBezTo>
                  <a:pt x="1260374" y="1341317"/>
                  <a:pt x="1247592" y="1354099"/>
                  <a:pt x="1231825" y="1354099"/>
                </a:cubicBezTo>
                <a:lnTo>
                  <a:pt x="28549" y="1354099"/>
                </a:lnTo>
                <a:cubicBezTo>
                  <a:pt x="12782" y="1354099"/>
                  <a:pt x="0" y="1341317"/>
                  <a:pt x="0" y="1325550"/>
                </a:cubicBezTo>
                <a:lnTo>
                  <a:pt x="0" y="28549"/>
                </a:lnTo>
                <a:cubicBezTo>
                  <a:pt x="0" y="12782"/>
                  <a:pt x="12782" y="0"/>
                  <a:pt x="28549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1158" r="-10990" t="-70538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 txBox="1"/>
          <p:nvPr/>
        </p:nvSpPr>
        <p:spPr>
          <a:xfrm>
            <a:off x="1028700" y="4852049"/>
            <a:ext cx="7743875" cy="35493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Clínica Veterinaria VetSalud, la organización opera en una sede ubicada en Lima Metropolitana, atiende animales de compañía y mantiene una farmacia interna. Su estructura contempla dirección, recepción, médicos veterinarios, técnicos, farmacia-almacén, caja y administración. La empresa dispone de equipos informáticos básicos, pero no cuenta con una plataforma que integre sus procesos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17" name="Google Shape;317;p7"/>
          <p:cNvSpPr/>
          <p:nvPr/>
        </p:nvSpPr>
        <p:spPr>
          <a:xfrm>
            <a:off x="16611600" y="-6536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8" name="Google Shape;318;p7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19" name="Google Shape;319;p7"/>
          <p:cNvSpPr/>
          <p:nvPr/>
        </p:nvSpPr>
        <p:spPr>
          <a:xfrm rot="10800000">
            <a:off x="992880" y="3102451"/>
            <a:ext cx="7815520" cy="1043749"/>
          </a:xfrm>
          <a:custGeom>
            <a:rect b="b" l="l" r="r" t="t"/>
            <a:pathLst>
              <a:path extrusionOk="0" h="553713" w="1626539">
                <a:moveTo>
                  <a:pt x="40268" y="0"/>
                </a:moveTo>
                <a:lnTo>
                  <a:pt x="1586271" y="0"/>
                </a:lnTo>
                <a:cubicBezTo>
                  <a:pt x="1596950" y="0"/>
                  <a:pt x="1607193" y="4243"/>
                  <a:pt x="1614744" y="11794"/>
                </a:cubicBezTo>
                <a:cubicBezTo>
                  <a:pt x="1622296" y="19346"/>
                  <a:pt x="1626539" y="29588"/>
                  <a:pt x="1626539" y="40268"/>
                </a:cubicBezTo>
                <a:lnTo>
                  <a:pt x="1626539" y="513445"/>
                </a:lnTo>
                <a:cubicBezTo>
                  <a:pt x="1626539" y="524125"/>
                  <a:pt x="1622296" y="534367"/>
                  <a:pt x="1614744" y="541919"/>
                </a:cubicBezTo>
                <a:cubicBezTo>
                  <a:pt x="1607193" y="549471"/>
                  <a:pt x="1596950" y="553713"/>
                  <a:pt x="1586271" y="553713"/>
                </a:cubicBezTo>
                <a:lnTo>
                  <a:pt x="40268" y="553713"/>
                </a:lnTo>
                <a:cubicBezTo>
                  <a:pt x="29588" y="553713"/>
                  <a:pt x="19346" y="549471"/>
                  <a:pt x="11794" y="541919"/>
                </a:cubicBezTo>
                <a:cubicBezTo>
                  <a:pt x="4243" y="534367"/>
                  <a:pt x="0" y="524125"/>
                  <a:pt x="0" y="513445"/>
                </a:cubicBezTo>
                <a:lnTo>
                  <a:pt x="0" y="40268"/>
                </a:lnTo>
                <a:cubicBezTo>
                  <a:pt x="0" y="29588"/>
                  <a:pt x="4243" y="19346"/>
                  <a:pt x="11794" y="11794"/>
                </a:cubicBezTo>
                <a:cubicBezTo>
                  <a:pt x="19346" y="4243"/>
                  <a:pt x="29588" y="0"/>
                  <a:pt x="40268" y="0"/>
                </a:cubicBezTo>
                <a:close/>
              </a:path>
            </a:pathLst>
          </a:custGeom>
          <a:gradFill>
            <a:gsLst>
              <a:gs pos="0">
                <a:srgbClr val="08122E">
                  <a:alpha val="72941"/>
                </a:srgbClr>
              </a:gs>
              <a:gs pos="15000">
                <a:srgbClr val="08122E">
                  <a:alpha val="72941"/>
                </a:srgbClr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7"/>
          <p:cNvSpPr txBox="1"/>
          <p:nvPr/>
        </p:nvSpPr>
        <p:spPr>
          <a:xfrm>
            <a:off x="1203175" y="3265773"/>
            <a:ext cx="7569400" cy="880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94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DESCRIPCIÓN DE LA EMPRESA</a:t>
            </a:r>
            <a:endParaRPr/>
          </a:p>
        </p:txBody>
      </p:sp>
      <p:sp>
        <p:nvSpPr>
          <p:cNvPr id="321" name="Google Shape;321;p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22" name="Google Shape;322;p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323" name="Google Shape;323;p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24" name="Google Shape;324;p7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330" name="Google Shape;330;p8"/>
          <p:cNvGrpSpPr/>
          <p:nvPr/>
        </p:nvGrpSpPr>
        <p:grpSpPr>
          <a:xfrm>
            <a:off x="1627175" y="2335503"/>
            <a:ext cx="6918365" cy="5780565"/>
            <a:chOff x="0" y="-192881"/>
            <a:chExt cx="9224487" cy="7181718"/>
          </a:xfrm>
        </p:grpSpPr>
        <p:grpSp>
          <p:nvGrpSpPr>
            <p:cNvPr id="331" name="Google Shape;331;p8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332" name="Google Shape;332;p8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" name="Google Shape;333;p8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4" name="Google Shape;334;p8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335" name="Google Shape;335;p8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8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37" name="Google Shape;337;p8"/>
          <p:cNvGrpSpPr/>
          <p:nvPr/>
        </p:nvGrpSpPr>
        <p:grpSpPr>
          <a:xfrm>
            <a:off x="9742462" y="2495769"/>
            <a:ext cx="6918365" cy="5620413"/>
            <a:chOff x="0" y="-192881"/>
            <a:chExt cx="9224487" cy="7181718"/>
          </a:xfrm>
        </p:grpSpPr>
        <p:grpSp>
          <p:nvGrpSpPr>
            <p:cNvPr id="338" name="Google Shape;338;p8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339" name="Google Shape;339;p8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" name="Google Shape;340;p8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1" name="Google Shape;341;p8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342" name="Google Shape;342;p8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8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44" name="Google Shape;344;p8"/>
          <p:cNvGrpSpPr/>
          <p:nvPr/>
        </p:nvGrpSpPr>
        <p:grpSpPr>
          <a:xfrm>
            <a:off x="3163753" y="1714145"/>
            <a:ext cx="3845195" cy="1421585"/>
            <a:chOff x="0" y="-47625"/>
            <a:chExt cx="1626539" cy="601338"/>
          </a:xfrm>
        </p:grpSpPr>
        <p:sp>
          <p:nvSpPr>
            <p:cNvPr id="345" name="Google Shape;345;p8"/>
            <p:cNvSpPr/>
            <p:nvPr/>
          </p:nvSpPr>
          <p:spPr>
            <a:xfrm>
              <a:off x="0" y="0"/>
              <a:ext cx="1626539" cy="553713"/>
            </a:xfrm>
            <a:custGeom>
              <a:rect b="b" l="l" r="r" t="t"/>
              <a:pathLst>
                <a:path extrusionOk="0" h="553713" w="1626539">
                  <a:moveTo>
                    <a:pt x="40268" y="0"/>
                  </a:moveTo>
                  <a:lnTo>
                    <a:pt x="1586271" y="0"/>
                  </a:lnTo>
                  <a:cubicBezTo>
                    <a:pt x="1596950" y="0"/>
                    <a:pt x="1607193" y="4243"/>
                    <a:pt x="1614744" y="11794"/>
                  </a:cubicBezTo>
                  <a:cubicBezTo>
                    <a:pt x="1622296" y="19346"/>
                    <a:pt x="1626539" y="29588"/>
                    <a:pt x="1626539" y="40268"/>
                  </a:cubicBezTo>
                  <a:lnTo>
                    <a:pt x="1626539" y="513445"/>
                  </a:lnTo>
                  <a:cubicBezTo>
                    <a:pt x="1626539" y="524125"/>
                    <a:pt x="1622296" y="534367"/>
                    <a:pt x="1614744" y="541919"/>
                  </a:cubicBezTo>
                  <a:cubicBezTo>
                    <a:pt x="1607193" y="549471"/>
                    <a:pt x="1596950" y="553713"/>
                    <a:pt x="1586271" y="553713"/>
                  </a:cubicBezTo>
                  <a:lnTo>
                    <a:pt x="40268" y="553713"/>
                  </a:lnTo>
                  <a:cubicBezTo>
                    <a:pt x="29588" y="553713"/>
                    <a:pt x="19346" y="549471"/>
                    <a:pt x="11794" y="541919"/>
                  </a:cubicBezTo>
                  <a:cubicBezTo>
                    <a:pt x="4243" y="534367"/>
                    <a:pt x="0" y="524125"/>
                    <a:pt x="0" y="513445"/>
                  </a:cubicBezTo>
                  <a:lnTo>
                    <a:pt x="0" y="40268"/>
                  </a:lnTo>
                  <a:cubicBezTo>
                    <a:pt x="0" y="29588"/>
                    <a:pt x="4243" y="19346"/>
                    <a:pt x="11794" y="11794"/>
                  </a:cubicBezTo>
                  <a:cubicBezTo>
                    <a:pt x="19346" y="4243"/>
                    <a:pt x="29588" y="0"/>
                    <a:pt x="40268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8"/>
            <p:cNvSpPr txBox="1"/>
            <p:nvPr/>
          </p:nvSpPr>
          <p:spPr>
            <a:xfrm>
              <a:off x="0" y="-47625"/>
              <a:ext cx="1626538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7" name="Google Shape;347;p8"/>
          <p:cNvGrpSpPr/>
          <p:nvPr/>
        </p:nvGrpSpPr>
        <p:grpSpPr>
          <a:xfrm>
            <a:off x="11279053" y="1714145"/>
            <a:ext cx="3845195" cy="1421585"/>
            <a:chOff x="0" y="-47625"/>
            <a:chExt cx="1626539" cy="601338"/>
          </a:xfrm>
        </p:grpSpPr>
        <p:sp>
          <p:nvSpPr>
            <p:cNvPr id="348" name="Google Shape;348;p8"/>
            <p:cNvSpPr/>
            <p:nvPr/>
          </p:nvSpPr>
          <p:spPr>
            <a:xfrm>
              <a:off x="0" y="0"/>
              <a:ext cx="1626539" cy="553713"/>
            </a:xfrm>
            <a:custGeom>
              <a:rect b="b" l="l" r="r" t="t"/>
              <a:pathLst>
                <a:path extrusionOk="0" h="553713" w="1626539">
                  <a:moveTo>
                    <a:pt x="40268" y="0"/>
                  </a:moveTo>
                  <a:lnTo>
                    <a:pt x="1586271" y="0"/>
                  </a:lnTo>
                  <a:cubicBezTo>
                    <a:pt x="1596950" y="0"/>
                    <a:pt x="1607193" y="4243"/>
                    <a:pt x="1614744" y="11794"/>
                  </a:cubicBezTo>
                  <a:cubicBezTo>
                    <a:pt x="1622296" y="19346"/>
                    <a:pt x="1626539" y="29588"/>
                    <a:pt x="1626539" y="40268"/>
                  </a:cubicBezTo>
                  <a:lnTo>
                    <a:pt x="1626539" y="513445"/>
                  </a:lnTo>
                  <a:cubicBezTo>
                    <a:pt x="1626539" y="524125"/>
                    <a:pt x="1622296" y="534367"/>
                    <a:pt x="1614744" y="541919"/>
                  </a:cubicBezTo>
                  <a:cubicBezTo>
                    <a:pt x="1607193" y="549471"/>
                    <a:pt x="1596950" y="553713"/>
                    <a:pt x="1586271" y="553713"/>
                  </a:cubicBezTo>
                  <a:lnTo>
                    <a:pt x="40268" y="553713"/>
                  </a:lnTo>
                  <a:cubicBezTo>
                    <a:pt x="29588" y="553713"/>
                    <a:pt x="19346" y="549471"/>
                    <a:pt x="11794" y="541919"/>
                  </a:cubicBezTo>
                  <a:cubicBezTo>
                    <a:pt x="4243" y="534367"/>
                    <a:pt x="0" y="524125"/>
                    <a:pt x="0" y="513445"/>
                  </a:cubicBezTo>
                  <a:lnTo>
                    <a:pt x="0" y="40268"/>
                  </a:lnTo>
                  <a:cubicBezTo>
                    <a:pt x="0" y="29588"/>
                    <a:pt x="4243" y="19346"/>
                    <a:pt x="11794" y="11794"/>
                  </a:cubicBezTo>
                  <a:cubicBezTo>
                    <a:pt x="19346" y="4243"/>
                    <a:pt x="29588" y="0"/>
                    <a:pt x="40268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8"/>
            <p:cNvSpPr txBox="1"/>
            <p:nvPr/>
          </p:nvSpPr>
          <p:spPr>
            <a:xfrm>
              <a:off x="0" y="-47625"/>
              <a:ext cx="1626538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0" name="Google Shape;350;p8"/>
          <p:cNvSpPr txBox="1"/>
          <p:nvPr/>
        </p:nvSpPr>
        <p:spPr>
          <a:xfrm>
            <a:off x="3556665" y="2153020"/>
            <a:ext cx="3059371" cy="587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45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MISIÓN</a:t>
            </a:r>
            <a:endParaRPr/>
          </a:p>
        </p:txBody>
      </p:sp>
      <p:sp>
        <p:nvSpPr>
          <p:cNvPr id="351" name="Google Shape;351;p8"/>
          <p:cNvSpPr txBox="1"/>
          <p:nvPr/>
        </p:nvSpPr>
        <p:spPr>
          <a:xfrm>
            <a:off x="11671965" y="2153020"/>
            <a:ext cx="3059371" cy="587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45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VISIÓN</a:t>
            </a:r>
            <a:endParaRPr/>
          </a:p>
        </p:txBody>
      </p:sp>
      <p:sp>
        <p:nvSpPr>
          <p:cNvPr id="352" name="Google Shape;352;p8"/>
          <p:cNvSpPr txBox="1"/>
          <p:nvPr/>
        </p:nvSpPr>
        <p:spPr>
          <a:xfrm>
            <a:off x="2550136" y="3824227"/>
            <a:ext cx="5072428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Ser una clínica veterinaria reconocida en Lima por brindar atención integral, segura y oportuna, apoyada en procesos digitales que fortalezcan la confianza de los propietarios y el bienestar de sus mascotas.</a:t>
            </a:r>
            <a:endParaRPr sz="2477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53" name="Google Shape;353;p8"/>
          <p:cNvSpPr txBox="1"/>
          <p:nvPr/>
        </p:nvSpPr>
        <p:spPr>
          <a:xfrm>
            <a:off x="10665435" y="3444798"/>
            <a:ext cx="5072428" cy="35493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Cuidar la salud de los animales de compañía mediante servicios veterinarios responsables, un equipo comprometido y una gestión coordinada que asegure continuidad clínica, disponibilidad de medicamentos y trato cercano al cliente.</a:t>
            </a:r>
            <a:endParaRPr sz="2477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354" name="Google Shape;354;p8"/>
          <p:cNvCxnSpPr/>
          <p:nvPr/>
        </p:nvCxnSpPr>
        <p:spPr>
          <a:xfrm>
            <a:off x="1253085" y="8544287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5" name="Google Shape;355;p8"/>
          <p:cNvSpPr/>
          <p:nvPr/>
        </p:nvSpPr>
        <p:spPr>
          <a:xfrm>
            <a:off x="16580809" y="0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5" y="0"/>
                </a:lnTo>
                <a:lnTo>
                  <a:pt x="2927695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6" name="Google Shape;356;p8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57" name="Google Shape;357;p8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358" name="Google Shape;358;p8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59" name="Google Shape;359;p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60" name="Google Shape;360;p8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366" name="Google Shape;366;p9"/>
          <p:cNvSpPr/>
          <p:nvPr/>
        </p:nvSpPr>
        <p:spPr>
          <a:xfrm>
            <a:off x="9950921" y="13205125"/>
            <a:ext cx="800350" cy="417292"/>
          </a:xfrm>
          <a:custGeom>
            <a:rect b="b" l="l" r="r" t="t"/>
            <a:pathLst>
              <a:path extrusionOk="0" h="417292" w="800350">
                <a:moveTo>
                  <a:pt x="0" y="0"/>
                </a:moveTo>
                <a:lnTo>
                  <a:pt x="800350" y="0"/>
                </a:lnTo>
                <a:lnTo>
                  <a:pt x="800350" y="417292"/>
                </a:lnTo>
                <a:lnTo>
                  <a:pt x="0" y="4172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67" name="Google Shape;367;p9"/>
          <p:cNvGrpSpPr/>
          <p:nvPr/>
        </p:nvGrpSpPr>
        <p:grpSpPr>
          <a:xfrm>
            <a:off x="1889846" y="1824947"/>
            <a:ext cx="14506381" cy="6443139"/>
            <a:chOff x="0" y="-192881"/>
            <a:chExt cx="19341841" cy="8094978"/>
          </a:xfrm>
        </p:grpSpPr>
        <p:grpSp>
          <p:nvGrpSpPr>
            <p:cNvPr id="368" name="Google Shape;368;p9"/>
            <p:cNvGrpSpPr/>
            <p:nvPr/>
          </p:nvGrpSpPr>
          <p:grpSpPr>
            <a:xfrm>
              <a:off x="0" y="330683"/>
              <a:ext cx="1331591" cy="7047850"/>
              <a:chOff x="0" y="-38100"/>
              <a:chExt cx="263030" cy="1392168"/>
            </a:xfrm>
          </p:grpSpPr>
          <p:sp>
            <p:nvSpPr>
              <p:cNvPr id="369" name="Google Shape;369;p9"/>
              <p:cNvSpPr/>
              <p:nvPr/>
            </p:nvSpPr>
            <p:spPr>
              <a:xfrm>
                <a:off x="0" y="0"/>
                <a:ext cx="263030" cy="1354068"/>
              </a:xfrm>
              <a:custGeom>
                <a:rect b="b" l="l" r="r" t="t"/>
                <a:pathLst>
                  <a:path extrusionOk="0" h="1354068" w="263030">
                    <a:moveTo>
                      <a:pt x="131515" y="0"/>
                    </a:moveTo>
                    <a:lnTo>
                      <a:pt x="131515" y="0"/>
                    </a:lnTo>
                    <a:cubicBezTo>
                      <a:pt x="166395" y="0"/>
                      <a:pt x="199847" y="13856"/>
                      <a:pt x="224510" y="38520"/>
                    </a:cubicBezTo>
                    <a:cubicBezTo>
                      <a:pt x="249174" y="63184"/>
                      <a:pt x="263030" y="96635"/>
                      <a:pt x="263030" y="131515"/>
                    </a:cubicBezTo>
                    <a:lnTo>
                      <a:pt x="263030" y="1222553"/>
                    </a:lnTo>
                    <a:cubicBezTo>
                      <a:pt x="263030" y="1257433"/>
                      <a:pt x="249174" y="1290884"/>
                      <a:pt x="224510" y="1315548"/>
                    </a:cubicBezTo>
                    <a:cubicBezTo>
                      <a:pt x="199847" y="1340212"/>
                      <a:pt x="166395" y="1354068"/>
                      <a:pt x="131515" y="1354068"/>
                    </a:cubicBezTo>
                    <a:lnTo>
                      <a:pt x="131515" y="1354068"/>
                    </a:lnTo>
                    <a:cubicBezTo>
                      <a:pt x="96635" y="1354068"/>
                      <a:pt x="63184" y="1340212"/>
                      <a:pt x="38520" y="1315548"/>
                    </a:cubicBezTo>
                    <a:cubicBezTo>
                      <a:pt x="13856" y="1290884"/>
                      <a:pt x="0" y="1257433"/>
                      <a:pt x="0" y="1222553"/>
                    </a:cubicBezTo>
                    <a:lnTo>
                      <a:pt x="0" y="131515"/>
                    </a:lnTo>
                    <a:cubicBezTo>
                      <a:pt x="0" y="96635"/>
                      <a:pt x="13856" y="63184"/>
                      <a:pt x="38520" y="38520"/>
                    </a:cubicBezTo>
                    <a:cubicBezTo>
                      <a:pt x="63184" y="13856"/>
                      <a:pt x="96635" y="0"/>
                      <a:pt x="131515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" name="Google Shape;370;p9"/>
              <p:cNvSpPr txBox="1"/>
              <p:nvPr/>
            </p:nvSpPr>
            <p:spPr>
              <a:xfrm>
                <a:off x="0" y="-38100"/>
                <a:ext cx="263030" cy="1392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1" name="Google Shape;371;p9"/>
            <p:cNvGrpSpPr/>
            <p:nvPr/>
          </p:nvGrpSpPr>
          <p:grpSpPr>
            <a:xfrm rot="10800000">
              <a:off x="18010250" y="523564"/>
              <a:ext cx="1331591" cy="7047850"/>
              <a:chOff x="0" y="-38100"/>
              <a:chExt cx="263030" cy="1392168"/>
            </a:xfrm>
          </p:grpSpPr>
          <p:sp>
            <p:nvSpPr>
              <p:cNvPr id="372" name="Google Shape;372;p9"/>
              <p:cNvSpPr/>
              <p:nvPr/>
            </p:nvSpPr>
            <p:spPr>
              <a:xfrm>
                <a:off x="0" y="0"/>
                <a:ext cx="263030" cy="1354068"/>
              </a:xfrm>
              <a:custGeom>
                <a:rect b="b" l="l" r="r" t="t"/>
                <a:pathLst>
                  <a:path extrusionOk="0" h="1354068" w="263030">
                    <a:moveTo>
                      <a:pt x="131515" y="0"/>
                    </a:moveTo>
                    <a:lnTo>
                      <a:pt x="131515" y="0"/>
                    </a:lnTo>
                    <a:cubicBezTo>
                      <a:pt x="166395" y="0"/>
                      <a:pt x="199847" y="13856"/>
                      <a:pt x="224510" y="38520"/>
                    </a:cubicBezTo>
                    <a:cubicBezTo>
                      <a:pt x="249174" y="63184"/>
                      <a:pt x="263030" y="96635"/>
                      <a:pt x="263030" y="131515"/>
                    </a:cubicBezTo>
                    <a:lnTo>
                      <a:pt x="263030" y="1222553"/>
                    </a:lnTo>
                    <a:cubicBezTo>
                      <a:pt x="263030" y="1257433"/>
                      <a:pt x="249174" y="1290884"/>
                      <a:pt x="224510" y="1315548"/>
                    </a:cubicBezTo>
                    <a:cubicBezTo>
                      <a:pt x="199847" y="1340212"/>
                      <a:pt x="166395" y="1354068"/>
                      <a:pt x="131515" y="1354068"/>
                    </a:cubicBezTo>
                    <a:lnTo>
                      <a:pt x="131515" y="1354068"/>
                    </a:lnTo>
                    <a:cubicBezTo>
                      <a:pt x="96635" y="1354068"/>
                      <a:pt x="63184" y="1340212"/>
                      <a:pt x="38520" y="1315548"/>
                    </a:cubicBezTo>
                    <a:cubicBezTo>
                      <a:pt x="13856" y="1290884"/>
                      <a:pt x="0" y="1257433"/>
                      <a:pt x="0" y="1222553"/>
                    </a:cubicBezTo>
                    <a:lnTo>
                      <a:pt x="0" y="131515"/>
                    </a:lnTo>
                    <a:cubicBezTo>
                      <a:pt x="0" y="96635"/>
                      <a:pt x="13856" y="63184"/>
                      <a:pt x="38520" y="38520"/>
                    </a:cubicBezTo>
                    <a:cubicBezTo>
                      <a:pt x="63184" y="13856"/>
                      <a:pt x="96635" y="0"/>
                      <a:pt x="131515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" name="Google Shape;373;p9"/>
              <p:cNvSpPr txBox="1"/>
              <p:nvPr/>
            </p:nvSpPr>
            <p:spPr>
              <a:xfrm>
                <a:off x="0" y="-38100"/>
                <a:ext cx="263030" cy="1392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4" name="Google Shape;374;p9"/>
            <p:cNvGrpSpPr/>
            <p:nvPr/>
          </p:nvGrpSpPr>
          <p:grpSpPr>
            <a:xfrm>
              <a:off x="439765" y="-192881"/>
              <a:ext cx="18464880" cy="8094978"/>
              <a:chOff x="0" y="-38100"/>
              <a:chExt cx="3647384" cy="1599008"/>
            </a:xfrm>
          </p:grpSpPr>
          <p:sp>
            <p:nvSpPr>
              <p:cNvPr id="375" name="Google Shape;375;p9"/>
              <p:cNvSpPr/>
              <p:nvPr/>
            </p:nvSpPr>
            <p:spPr>
              <a:xfrm>
                <a:off x="0" y="0"/>
                <a:ext cx="3647384" cy="1560908"/>
              </a:xfrm>
              <a:custGeom>
                <a:rect b="b" l="l" r="r" t="t"/>
                <a:pathLst>
                  <a:path extrusionOk="0" h="1560908" w="3647384">
                    <a:moveTo>
                      <a:pt x="16771" y="0"/>
                    </a:moveTo>
                    <a:lnTo>
                      <a:pt x="3630613" y="0"/>
                    </a:lnTo>
                    <a:cubicBezTo>
                      <a:pt x="3639875" y="0"/>
                      <a:pt x="3647384" y="7509"/>
                      <a:pt x="3647384" y="16771"/>
                    </a:cubicBezTo>
                    <a:lnTo>
                      <a:pt x="3647384" y="1544137"/>
                    </a:lnTo>
                    <a:cubicBezTo>
                      <a:pt x="3647384" y="1553399"/>
                      <a:pt x="3639875" y="1560908"/>
                      <a:pt x="3630613" y="1560908"/>
                    </a:cubicBezTo>
                    <a:lnTo>
                      <a:pt x="16771" y="1560908"/>
                    </a:lnTo>
                    <a:cubicBezTo>
                      <a:pt x="7509" y="1560908"/>
                      <a:pt x="0" y="1553399"/>
                      <a:pt x="0" y="1544137"/>
                    </a:cubicBezTo>
                    <a:lnTo>
                      <a:pt x="0" y="16771"/>
                    </a:lnTo>
                    <a:cubicBezTo>
                      <a:pt x="0" y="7509"/>
                      <a:pt x="7509" y="0"/>
                      <a:pt x="167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" name="Google Shape;376;p9"/>
              <p:cNvSpPr txBox="1"/>
              <p:nvPr/>
            </p:nvSpPr>
            <p:spPr>
              <a:xfrm>
                <a:off x="0" y="-38100"/>
                <a:ext cx="3647384" cy="15990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77" name="Google Shape;377;p9"/>
          <p:cNvGrpSpPr/>
          <p:nvPr/>
        </p:nvGrpSpPr>
        <p:grpSpPr>
          <a:xfrm>
            <a:off x="3630392" y="1173258"/>
            <a:ext cx="11027215" cy="1224149"/>
            <a:chOff x="0" y="-47625"/>
            <a:chExt cx="3871319" cy="601338"/>
          </a:xfrm>
        </p:grpSpPr>
        <p:sp>
          <p:nvSpPr>
            <p:cNvPr id="378" name="Google Shape;378;p9"/>
            <p:cNvSpPr/>
            <p:nvPr/>
          </p:nvSpPr>
          <p:spPr>
            <a:xfrm>
              <a:off x="0" y="76035"/>
              <a:ext cx="3871319" cy="477212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9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80" name="Google Shape;380;p9"/>
          <p:cNvCxnSpPr/>
          <p:nvPr/>
        </p:nvCxnSpPr>
        <p:spPr>
          <a:xfrm>
            <a:off x="1253085" y="8544287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1" name="Google Shape;381;p9"/>
          <p:cNvSpPr/>
          <p:nvPr/>
        </p:nvSpPr>
        <p:spPr>
          <a:xfrm flipH="1">
            <a:off x="6481894" y="8899376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2" name="Google Shape;382;p9"/>
          <p:cNvSpPr txBox="1"/>
          <p:nvPr/>
        </p:nvSpPr>
        <p:spPr>
          <a:xfrm>
            <a:off x="4164178" y="1527591"/>
            <a:ext cx="10043621" cy="688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1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36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ENTORNO INTERNO Y EXTERNO</a:t>
            </a:r>
            <a:endParaRPr/>
          </a:p>
        </p:txBody>
      </p:sp>
      <p:sp>
        <p:nvSpPr>
          <p:cNvPr id="383" name="Google Shape;383;p9"/>
          <p:cNvSpPr txBox="1"/>
          <p:nvPr/>
        </p:nvSpPr>
        <p:spPr>
          <a:xfrm>
            <a:off x="1690707" y="8870771"/>
            <a:ext cx="4724319" cy="3390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1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ESTRATEGIAS ACTUALES</a:t>
            </a:r>
            <a:endParaRPr/>
          </a:p>
        </p:txBody>
      </p:sp>
      <p:sp>
        <p:nvSpPr>
          <p:cNvPr id="384" name="Google Shape;384;p9"/>
          <p:cNvSpPr txBox="1"/>
          <p:nvPr/>
        </p:nvSpPr>
        <p:spPr>
          <a:xfrm>
            <a:off x="15630708" y="8820487"/>
            <a:ext cx="966585" cy="4378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638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04</a:t>
            </a:r>
            <a:endParaRPr/>
          </a:p>
        </p:txBody>
      </p:sp>
      <p:graphicFrame>
        <p:nvGraphicFramePr>
          <p:cNvPr id="385" name="Google Shape;385;p9"/>
          <p:cNvGraphicFramePr/>
          <p:nvPr/>
        </p:nvGraphicFramePr>
        <p:xfrm>
          <a:off x="2741271" y="25218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1248850"/>
                <a:gridCol w="1784900"/>
                <a:gridCol w="4966650"/>
                <a:gridCol w="4889050"/>
              </a:tblGrid>
              <a:tr h="335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ÁMBITO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0586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FACTOR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0586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SITUACIÓN OBSERVADA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0586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IMPLICANCIA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05867"/>
                    </a:solidFill>
                  </a:tcPr>
                </a:tc>
              </a:tr>
              <a:tr h="757050">
                <a:tc row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INTERNO</a:t>
                      </a:r>
                      <a:endParaRPr b="1"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Personas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El personal conoce el proceso, pero registra información de manera diferente.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Se requieren reglas, roles y capacitación.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705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Procesos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Existen registros repetidos y pasos manuales entre recepción, clínica, farmacia y caja.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El diseño debe integrar el flujo de extremo a extremo.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845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Tecnología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Hay equipos y red local, pero los datos se encuentran dispersos.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Es viable una plataforma web centralizada.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845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Control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Los reportes se consolidan al cierre del día o de la semana.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Se necesitan indicadores en tiempo real.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7050">
                <a:tc row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EXTERNO</a:t>
                      </a:r>
                      <a:endParaRPr b="1"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Clientes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Los propietarios esperan rapidez, recordatorios y acceso a la información de sus mascotas.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 experiencia debe ser simple y trazable.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845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Proveedores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Medicamentos e insumos se controlan por lote y vencimiento.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El inventario debe conservar trazabilidad.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845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Competencia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Otras clínicas utilizan canales digitales y atención programada.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 solución debe mejorar oportunidad y servicio.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705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Riesgos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Existen amenazas de pérdida, acceso indebido y alteración de datos clínicos.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Se requieren seguridad, auditoría y respaldo.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86" name="Google Shape;386;p9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387" name="Google Shape;387;p9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88" name="Google Shape;388;p9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9" name="Google Shape;389;p9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395" name="Google Shape;395;p10"/>
          <p:cNvGrpSpPr/>
          <p:nvPr/>
        </p:nvGrpSpPr>
        <p:grpSpPr>
          <a:xfrm>
            <a:off x="1446825" y="3015048"/>
            <a:ext cx="4873996" cy="1712928"/>
            <a:chOff x="0" y="-38100"/>
            <a:chExt cx="1040052" cy="1397054"/>
          </a:xfrm>
        </p:grpSpPr>
        <p:sp>
          <p:nvSpPr>
            <p:cNvPr id="396" name="Google Shape;396;p10"/>
            <p:cNvSpPr/>
            <p:nvPr/>
          </p:nvSpPr>
          <p:spPr>
            <a:xfrm>
              <a:off x="0" y="0"/>
              <a:ext cx="948148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0"/>
            <p:cNvSpPr/>
            <p:nvPr/>
          </p:nvSpPr>
          <p:spPr>
            <a:xfrm>
              <a:off x="0" y="-38100"/>
              <a:ext cx="1040052" cy="1397054"/>
            </a:xfrm>
            <a:prstGeom prst="roundRect">
              <a:avLst>
                <a:gd fmla="val 26807" name="adj"/>
              </a:avLst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8" name="Google Shape;398;p10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0"/>
          <p:cNvSpPr/>
          <p:nvPr/>
        </p:nvSpPr>
        <p:spPr>
          <a:xfrm>
            <a:off x="16611600" y="419100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00" name="Google Shape;400;p10"/>
          <p:cNvGrpSpPr/>
          <p:nvPr/>
        </p:nvGrpSpPr>
        <p:grpSpPr>
          <a:xfrm>
            <a:off x="494724" y="3085542"/>
            <a:ext cx="1549771" cy="1536192"/>
            <a:chOff x="2116822" y="2670785"/>
            <a:chExt cx="1549771" cy="1536192"/>
          </a:xfrm>
        </p:grpSpPr>
        <p:sp>
          <p:nvSpPr>
            <p:cNvPr id="401" name="Google Shape;401;p10"/>
            <p:cNvSpPr/>
            <p:nvPr/>
          </p:nvSpPr>
          <p:spPr>
            <a:xfrm>
              <a:off x="2116822" y="2670785"/>
              <a:ext cx="1536192" cy="1536192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10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403" name="Google Shape;403;p10"/>
          <p:cNvSpPr txBox="1"/>
          <p:nvPr/>
        </p:nvSpPr>
        <p:spPr>
          <a:xfrm>
            <a:off x="2140737" y="3116985"/>
            <a:ext cx="3482400" cy="15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Captación de clientes mediante redes sociales, recomendaciones y campañas de vacunación.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04" name="Google Shape;404;p10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405" name="Google Shape;405;p10"/>
            <p:cNvSpPr/>
            <p:nvPr/>
          </p:nvSpPr>
          <p:spPr>
            <a:xfrm>
              <a:off x="0" y="0"/>
              <a:ext cx="3871319" cy="553713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10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7" name="Google Shape;407;p10"/>
          <p:cNvSpPr txBox="1"/>
          <p:nvPr/>
        </p:nvSpPr>
        <p:spPr>
          <a:xfrm>
            <a:off x="4122190" y="1416458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ESTRATEGIAS ACTUALES</a:t>
            </a:r>
            <a:endParaRPr/>
          </a:p>
        </p:txBody>
      </p:sp>
      <p:grpSp>
        <p:nvGrpSpPr>
          <p:cNvPr id="408" name="Google Shape;408;p10"/>
          <p:cNvGrpSpPr/>
          <p:nvPr/>
        </p:nvGrpSpPr>
        <p:grpSpPr>
          <a:xfrm>
            <a:off x="11598299" y="2988775"/>
            <a:ext cx="6473372" cy="7435336"/>
            <a:chOff x="0" y="-701438"/>
            <a:chExt cx="2152338" cy="2060392"/>
          </a:xfrm>
        </p:grpSpPr>
        <p:sp>
          <p:nvSpPr>
            <p:cNvPr id="409" name="Google Shape;409;p10"/>
            <p:cNvSpPr/>
            <p:nvPr/>
          </p:nvSpPr>
          <p:spPr>
            <a:xfrm>
              <a:off x="568859" y="-701438"/>
              <a:ext cx="1583479" cy="47563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10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1" name="Google Shape;411;p10"/>
          <p:cNvGrpSpPr/>
          <p:nvPr/>
        </p:nvGrpSpPr>
        <p:grpSpPr>
          <a:xfrm>
            <a:off x="1446813" y="5848147"/>
            <a:ext cx="4443302" cy="1545649"/>
            <a:chOff x="0" y="-38100"/>
            <a:chExt cx="1040052" cy="1397054"/>
          </a:xfrm>
        </p:grpSpPr>
        <p:sp>
          <p:nvSpPr>
            <p:cNvPr id="412" name="Google Shape;412;p10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10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4" name="Google Shape;414;p10"/>
          <p:cNvGrpSpPr/>
          <p:nvPr/>
        </p:nvGrpSpPr>
        <p:grpSpPr>
          <a:xfrm>
            <a:off x="7171748" y="5858167"/>
            <a:ext cx="4443302" cy="1526139"/>
            <a:chOff x="0" y="-38100"/>
            <a:chExt cx="1040052" cy="1397054"/>
          </a:xfrm>
        </p:grpSpPr>
        <p:sp>
          <p:nvSpPr>
            <p:cNvPr id="415" name="Google Shape;415;p10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10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10"/>
          <p:cNvGrpSpPr/>
          <p:nvPr/>
        </p:nvGrpSpPr>
        <p:grpSpPr>
          <a:xfrm>
            <a:off x="12406604" y="3064548"/>
            <a:ext cx="1547861" cy="1536821"/>
            <a:chOff x="2125482" y="2588485"/>
            <a:chExt cx="1547861" cy="1536821"/>
          </a:xfrm>
        </p:grpSpPr>
        <p:sp>
          <p:nvSpPr>
            <p:cNvPr id="418" name="Google Shape;418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10"/>
            <p:cNvSpPr txBox="1"/>
            <p:nvPr/>
          </p:nvSpPr>
          <p:spPr>
            <a:xfrm>
              <a:off x="2125482" y="2946052"/>
              <a:ext cx="1541100" cy="64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420" name="Google Shape;420;p10"/>
          <p:cNvGrpSpPr/>
          <p:nvPr/>
        </p:nvGrpSpPr>
        <p:grpSpPr>
          <a:xfrm>
            <a:off x="489211" y="5864479"/>
            <a:ext cx="1547861" cy="1536821"/>
            <a:chOff x="2125482" y="2588485"/>
            <a:chExt cx="1547861" cy="1536821"/>
          </a:xfrm>
        </p:grpSpPr>
        <p:sp>
          <p:nvSpPr>
            <p:cNvPr id="421" name="Google Shape;421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10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423" name="Google Shape;423;p10"/>
          <p:cNvGrpSpPr/>
          <p:nvPr/>
        </p:nvGrpSpPr>
        <p:grpSpPr>
          <a:xfrm>
            <a:off x="6625124" y="5873652"/>
            <a:ext cx="1547861" cy="1536821"/>
            <a:chOff x="2125482" y="2588485"/>
            <a:chExt cx="1547861" cy="1536821"/>
          </a:xfrm>
        </p:grpSpPr>
        <p:sp>
          <p:nvSpPr>
            <p:cNvPr id="424" name="Google Shape;424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10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sp>
        <p:nvSpPr>
          <p:cNvPr id="426" name="Google Shape;426;p10"/>
          <p:cNvSpPr txBox="1"/>
          <p:nvPr/>
        </p:nvSpPr>
        <p:spPr>
          <a:xfrm>
            <a:off x="14002450" y="3048600"/>
            <a:ext cx="3846900" cy="15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Compras de farmacia basadas en revisión visual, mínimos referenciales y experiencia del encargado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7" name="Google Shape;427;p10"/>
          <p:cNvSpPr txBox="1"/>
          <p:nvPr/>
        </p:nvSpPr>
        <p:spPr>
          <a:xfrm>
            <a:off x="2140926" y="6077011"/>
            <a:ext cx="3471953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Promociones cruzadas entre consulta, vacunación, farmacia y planes preventivos.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8" name="Google Shape;428;p10"/>
          <p:cNvSpPr txBox="1"/>
          <p:nvPr/>
        </p:nvSpPr>
        <p:spPr>
          <a:xfrm>
            <a:off x="8251826" y="6067839"/>
            <a:ext cx="3305817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Consolidación periódica de ventas y gastos en hojas de cálculo para la administración.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9" name="Google Shape;429;p10"/>
          <p:cNvSpPr/>
          <p:nvPr/>
        </p:nvSpPr>
        <p:spPr>
          <a:xfrm>
            <a:off x="7141900" y="2997825"/>
            <a:ext cx="4443622" cy="1712282"/>
          </a:xfrm>
          <a:custGeom>
            <a:rect b="b" l="l" r="r" t="t"/>
            <a:pathLst>
              <a:path extrusionOk="0" h="1358954" w="1040052">
                <a:moveTo>
                  <a:pt x="61882" y="0"/>
                </a:moveTo>
                <a:lnTo>
                  <a:pt x="978171" y="0"/>
                </a:lnTo>
                <a:cubicBezTo>
                  <a:pt x="1012347" y="0"/>
                  <a:pt x="1040052" y="27705"/>
                  <a:pt x="1040052" y="61882"/>
                </a:cubicBezTo>
                <a:lnTo>
                  <a:pt x="1040052" y="1297073"/>
                </a:lnTo>
                <a:cubicBezTo>
                  <a:pt x="1040052" y="1331249"/>
                  <a:pt x="1012347" y="1358954"/>
                  <a:pt x="978171" y="1358954"/>
                </a:cubicBezTo>
                <a:lnTo>
                  <a:pt x="61882" y="1358954"/>
                </a:lnTo>
                <a:cubicBezTo>
                  <a:pt x="27705" y="1358954"/>
                  <a:pt x="0" y="1331249"/>
                  <a:pt x="0" y="1297073"/>
                </a:cubicBezTo>
                <a:lnTo>
                  <a:pt x="0" y="61882"/>
                </a:lnTo>
                <a:cubicBezTo>
                  <a:pt x="0" y="27705"/>
                  <a:pt x="27705" y="0"/>
                  <a:pt x="618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0"/>
          <p:cNvSpPr txBox="1"/>
          <p:nvPr/>
        </p:nvSpPr>
        <p:spPr>
          <a:xfrm>
            <a:off x="8251825" y="3205574"/>
            <a:ext cx="2965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Atención personalizada y seguimiento manual por llamadas o mensajería.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31" name="Google Shape;431;p10"/>
          <p:cNvGrpSpPr/>
          <p:nvPr/>
        </p:nvGrpSpPr>
        <p:grpSpPr>
          <a:xfrm>
            <a:off x="6512392" y="3085558"/>
            <a:ext cx="1547861" cy="1536821"/>
            <a:chOff x="2125482" y="2588485"/>
            <a:chExt cx="1547861" cy="1536821"/>
          </a:xfrm>
        </p:grpSpPr>
        <p:sp>
          <p:nvSpPr>
            <p:cNvPr id="432" name="Google Shape;432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10"/>
            <p:cNvSpPr txBox="1"/>
            <p:nvPr/>
          </p:nvSpPr>
          <p:spPr>
            <a:xfrm>
              <a:off x="2125482" y="2946052"/>
              <a:ext cx="1541100" cy="64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sp>
        <p:nvSpPr>
          <p:cNvPr id="434" name="Google Shape;434;p10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35" name="Google Shape;435;p10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436" name="Google Shape;436;p10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437" name="Google Shape;437;p10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8" name="Google Shape;438;p10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444" name="Google Shape;444;p11"/>
          <p:cNvGrpSpPr/>
          <p:nvPr/>
        </p:nvGrpSpPr>
        <p:grpSpPr>
          <a:xfrm>
            <a:off x="1446813" y="3015052"/>
            <a:ext cx="4873991" cy="1526139"/>
            <a:chOff x="0" y="-38100"/>
            <a:chExt cx="1040052" cy="1397054"/>
          </a:xfrm>
        </p:grpSpPr>
        <p:sp>
          <p:nvSpPr>
            <p:cNvPr id="445" name="Google Shape;445;p11"/>
            <p:cNvSpPr/>
            <p:nvPr/>
          </p:nvSpPr>
          <p:spPr>
            <a:xfrm>
              <a:off x="0" y="0"/>
              <a:ext cx="948148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11"/>
            <p:cNvSpPr/>
            <p:nvPr/>
          </p:nvSpPr>
          <p:spPr>
            <a:xfrm>
              <a:off x="0" y="-38100"/>
              <a:ext cx="1040052" cy="1397054"/>
            </a:xfrm>
            <a:prstGeom prst="roundRect">
              <a:avLst>
                <a:gd fmla="val 26807" name="adj"/>
              </a:avLst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7" name="Google Shape;447;p11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16590199" y="373368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49" name="Google Shape;449;p11"/>
          <p:cNvGrpSpPr/>
          <p:nvPr/>
        </p:nvGrpSpPr>
        <p:grpSpPr>
          <a:xfrm>
            <a:off x="503384" y="3003242"/>
            <a:ext cx="1547861" cy="1536821"/>
            <a:chOff x="2125482" y="2588485"/>
            <a:chExt cx="1547861" cy="1536821"/>
          </a:xfrm>
        </p:grpSpPr>
        <p:sp>
          <p:nvSpPr>
            <p:cNvPr id="450" name="Google Shape;450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452" name="Google Shape;452;p11"/>
          <p:cNvSpPr txBox="1"/>
          <p:nvPr/>
        </p:nvSpPr>
        <p:spPr>
          <a:xfrm>
            <a:off x="2186086" y="3263066"/>
            <a:ext cx="3482367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Estandarizar la atención desde el registro de llegada hasta el pago.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53" name="Google Shape;453;p11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454" name="Google Shape;454;p11"/>
            <p:cNvSpPr/>
            <p:nvPr/>
          </p:nvSpPr>
          <p:spPr>
            <a:xfrm>
              <a:off x="0" y="0"/>
              <a:ext cx="3871319" cy="553713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>
                    <a:alpha val="0"/>
                  </a:srgbClr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11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6" name="Google Shape;456;p11"/>
          <p:cNvSpPr txBox="1"/>
          <p:nvPr/>
        </p:nvSpPr>
        <p:spPr>
          <a:xfrm>
            <a:off x="4122190" y="1416458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PLANES DE LA EMPRESA</a:t>
            </a:r>
            <a:endParaRPr/>
          </a:p>
        </p:txBody>
      </p:sp>
      <p:grpSp>
        <p:nvGrpSpPr>
          <p:cNvPr id="457" name="Google Shape;457;p11"/>
          <p:cNvGrpSpPr/>
          <p:nvPr/>
        </p:nvGrpSpPr>
        <p:grpSpPr>
          <a:xfrm>
            <a:off x="11598304" y="2988770"/>
            <a:ext cx="5747086" cy="7435352"/>
            <a:chOff x="0" y="-701436"/>
            <a:chExt cx="2151083" cy="2060390"/>
          </a:xfrm>
        </p:grpSpPr>
        <p:sp>
          <p:nvSpPr>
            <p:cNvPr id="458" name="Google Shape;458;p11"/>
            <p:cNvSpPr/>
            <p:nvPr/>
          </p:nvSpPr>
          <p:spPr>
            <a:xfrm>
              <a:off x="568860" y="-701436"/>
              <a:ext cx="1582223" cy="399805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11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" name="Google Shape;460;p11"/>
          <p:cNvGrpSpPr/>
          <p:nvPr/>
        </p:nvGrpSpPr>
        <p:grpSpPr>
          <a:xfrm>
            <a:off x="1446813" y="5848147"/>
            <a:ext cx="4443302" cy="1545649"/>
            <a:chOff x="0" y="-38100"/>
            <a:chExt cx="1040052" cy="1397054"/>
          </a:xfrm>
        </p:grpSpPr>
        <p:sp>
          <p:nvSpPr>
            <p:cNvPr id="461" name="Google Shape;461;p11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11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" name="Google Shape;463;p11"/>
          <p:cNvGrpSpPr/>
          <p:nvPr/>
        </p:nvGrpSpPr>
        <p:grpSpPr>
          <a:xfrm>
            <a:off x="7171748" y="5858167"/>
            <a:ext cx="4443302" cy="1526139"/>
            <a:chOff x="0" y="-38100"/>
            <a:chExt cx="1040052" cy="1397054"/>
          </a:xfrm>
        </p:grpSpPr>
        <p:sp>
          <p:nvSpPr>
            <p:cNvPr id="464" name="Google Shape;464;p11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11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6" name="Google Shape;466;p11"/>
          <p:cNvGrpSpPr/>
          <p:nvPr/>
        </p:nvGrpSpPr>
        <p:grpSpPr>
          <a:xfrm>
            <a:off x="12332279" y="2938960"/>
            <a:ext cx="1547861" cy="1536821"/>
            <a:chOff x="2125482" y="2588485"/>
            <a:chExt cx="1547861" cy="1536821"/>
          </a:xfrm>
        </p:grpSpPr>
        <p:sp>
          <p:nvSpPr>
            <p:cNvPr id="467" name="Google Shape;467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469" name="Google Shape;469;p11"/>
          <p:cNvGrpSpPr/>
          <p:nvPr/>
        </p:nvGrpSpPr>
        <p:grpSpPr>
          <a:xfrm>
            <a:off x="489211" y="5864479"/>
            <a:ext cx="1547861" cy="1536821"/>
            <a:chOff x="2125482" y="2588485"/>
            <a:chExt cx="1547861" cy="1536821"/>
          </a:xfrm>
        </p:grpSpPr>
        <p:sp>
          <p:nvSpPr>
            <p:cNvPr id="470" name="Google Shape;470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472" name="Google Shape;472;p11"/>
          <p:cNvGrpSpPr/>
          <p:nvPr/>
        </p:nvGrpSpPr>
        <p:grpSpPr>
          <a:xfrm>
            <a:off x="6625124" y="5873652"/>
            <a:ext cx="1547861" cy="1536821"/>
            <a:chOff x="2125482" y="2588485"/>
            <a:chExt cx="1547861" cy="1536821"/>
          </a:xfrm>
        </p:grpSpPr>
        <p:sp>
          <p:nvSpPr>
            <p:cNvPr id="473" name="Google Shape;473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sp>
        <p:nvSpPr>
          <p:cNvPr id="475" name="Google Shape;475;p11"/>
          <p:cNvSpPr txBox="1"/>
          <p:nvPr/>
        </p:nvSpPr>
        <p:spPr>
          <a:xfrm>
            <a:off x="14002442" y="3048604"/>
            <a:ext cx="3342948" cy="13544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Reducir pérdidas por vencimientos, diferencias de inventario y ventas no registradas.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6" name="Google Shape;476;p11"/>
          <p:cNvSpPr txBox="1"/>
          <p:nvPr/>
        </p:nvSpPr>
        <p:spPr>
          <a:xfrm>
            <a:off x="2147831" y="6080809"/>
            <a:ext cx="3471953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Implementar indicadores de citas, productividad, servicios, ventas y rotación de productos.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7" name="Google Shape;477;p11"/>
          <p:cNvSpPr txBox="1"/>
          <p:nvPr/>
        </p:nvSpPr>
        <p:spPr>
          <a:xfrm>
            <a:off x="8263655" y="5964809"/>
            <a:ext cx="3305817" cy="13544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Habilitar recordatorios de citas y controles sin construir una aplicación móvil en la primera etapa.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8" name="Google Shape;478;p11"/>
          <p:cNvSpPr txBox="1"/>
          <p:nvPr/>
        </p:nvSpPr>
        <p:spPr>
          <a:xfrm>
            <a:off x="191063" y="225286"/>
            <a:ext cx="10799681" cy="6801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6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79" name="Google Shape;479;p11"/>
          <p:cNvSpPr/>
          <p:nvPr/>
        </p:nvSpPr>
        <p:spPr>
          <a:xfrm>
            <a:off x="7141890" y="2997819"/>
            <a:ext cx="4443302" cy="1484519"/>
          </a:xfrm>
          <a:custGeom>
            <a:rect b="b" l="l" r="r" t="t"/>
            <a:pathLst>
              <a:path extrusionOk="0" h="1358954" w="1040052">
                <a:moveTo>
                  <a:pt x="61882" y="0"/>
                </a:moveTo>
                <a:lnTo>
                  <a:pt x="978171" y="0"/>
                </a:lnTo>
                <a:cubicBezTo>
                  <a:pt x="1012347" y="0"/>
                  <a:pt x="1040052" y="27705"/>
                  <a:pt x="1040052" y="61882"/>
                </a:cubicBezTo>
                <a:lnTo>
                  <a:pt x="1040052" y="1297073"/>
                </a:lnTo>
                <a:cubicBezTo>
                  <a:pt x="1040052" y="1331249"/>
                  <a:pt x="1012347" y="1358954"/>
                  <a:pt x="978171" y="1358954"/>
                </a:cubicBezTo>
                <a:lnTo>
                  <a:pt x="61882" y="1358954"/>
                </a:lnTo>
                <a:cubicBezTo>
                  <a:pt x="27705" y="1358954"/>
                  <a:pt x="0" y="1331249"/>
                  <a:pt x="0" y="1297073"/>
                </a:cubicBezTo>
                <a:lnTo>
                  <a:pt x="0" y="61882"/>
                </a:lnTo>
                <a:cubicBezTo>
                  <a:pt x="0" y="27705"/>
                  <a:pt x="27705" y="0"/>
                  <a:pt x="618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1"/>
          <p:cNvSpPr txBox="1"/>
          <p:nvPr/>
        </p:nvSpPr>
        <p:spPr>
          <a:xfrm>
            <a:off x="8263656" y="3204842"/>
            <a:ext cx="3305817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Digitalizar progresivamente las historias clínicas y documentos asociados.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81" name="Google Shape;481;p11"/>
          <p:cNvGrpSpPr/>
          <p:nvPr/>
        </p:nvGrpSpPr>
        <p:grpSpPr>
          <a:xfrm>
            <a:off x="6551067" y="2988770"/>
            <a:ext cx="1547861" cy="1536821"/>
            <a:chOff x="2125482" y="2588485"/>
            <a:chExt cx="1547861" cy="1536821"/>
          </a:xfrm>
        </p:grpSpPr>
        <p:sp>
          <p:nvSpPr>
            <p:cNvPr id="482" name="Google Shape;482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grpSp>
        <p:nvGrpSpPr>
          <p:cNvPr id="484" name="Google Shape;484;p11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485" name="Google Shape;485;p11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486" name="Google Shape;486;p1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492" name="Google Shape;492;p12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93" name="Google Shape;493;p12"/>
          <p:cNvSpPr/>
          <p:nvPr/>
        </p:nvSpPr>
        <p:spPr>
          <a:xfrm>
            <a:off x="10721099" y="1028700"/>
            <a:ext cx="8551195" cy="8650293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2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2"/>
          <p:cNvSpPr txBox="1"/>
          <p:nvPr/>
        </p:nvSpPr>
        <p:spPr>
          <a:xfrm>
            <a:off x="987923" y="4367701"/>
            <a:ext cx="7743875" cy="2651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La clínica no dispone de un sistema integrado que conecte clientes, mascotas, citas, procedimientos, historia clínica, farmacia, inventario, ventas y caja; por ello, la información se duplica, pierde oportunidad y presenta errores que afectan la atención y el control del negocio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16042275" y="-804406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97" name="Google Shape;497;p12"/>
          <p:cNvSpPr/>
          <p:nvPr/>
        </p:nvSpPr>
        <p:spPr>
          <a:xfrm rot="10800000">
            <a:off x="989817" y="2539595"/>
            <a:ext cx="6725739" cy="1043749"/>
          </a:xfrm>
          <a:custGeom>
            <a:rect b="b" l="l" r="r" t="t"/>
            <a:pathLst>
              <a:path extrusionOk="0" h="553713" w="1626539">
                <a:moveTo>
                  <a:pt x="40268" y="0"/>
                </a:moveTo>
                <a:lnTo>
                  <a:pt x="1586271" y="0"/>
                </a:lnTo>
                <a:cubicBezTo>
                  <a:pt x="1596950" y="0"/>
                  <a:pt x="1607193" y="4243"/>
                  <a:pt x="1614744" y="11794"/>
                </a:cubicBezTo>
                <a:cubicBezTo>
                  <a:pt x="1622296" y="19346"/>
                  <a:pt x="1626539" y="29588"/>
                  <a:pt x="1626539" y="40268"/>
                </a:cubicBezTo>
                <a:lnTo>
                  <a:pt x="1626539" y="513445"/>
                </a:lnTo>
                <a:cubicBezTo>
                  <a:pt x="1626539" y="524125"/>
                  <a:pt x="1622296" y="534367"/>
                  <a:pt x="1614744" y="541919"/>
                </a:cubicBezTo>
                <a:cubicBezTo>
                  <a:pt x="1607193" y="549471"/>
                  <a:pt x="1596950" y="553713"/>
                  <a:pt x="1586271" y="553713"/>
                </a:cubicBezTo>
                <a:lnTo>
                  <a:pt x="40268" y="553713"/>
                </a:lnTo>
                <a:cubicBezTo>
                  <a:pt x="29588" y="553713"/>
                  <a:pt x="19346" y="549471"/>
                  <a:pt x="11794" y="541919"/>
                </a:cubicBezTo>
                <a:cubicBezTo>
                  <a:pt x="4243" y="534367"/>
                  <a:pt x="0" y="524125"/>
                  <a:pt x="0" y="513445"/>
                </a:cubicBezTo>
                <a:lnTo>
                  <a:pt x="0" y="40268"/>
                </a:lnTo>
                <a:cubicBezTo>
                  <a:pt x="0" y="29588"/>
                  <a:pt x="4243" y="19346"/>
                  <a:pt x="11794" y="11794"/>
                </a:cubicBezTo>
                <a:cubicBezTo>
                  <a:pt x="19346" y="4243"/>
                  <a:pt x="29588" y="0"/>
                  <a:pt x="40268" y="0"/>
                </a:cubicBezTo>
                <a:close/>
              </a:path>
            </a:pathLst>
          </a:custGeom>
          <a:gradFill>
            <a:gsLst>
              <a:gs pos="0">
                <a:srgbClr val="08122E">
                  <a:alpha val="72941"/>
                </a:srgbClr>
              </a:gs>
              <a:gs pos="15000">
                <a:srgbClr val="08122E">
                  <a:alpha val="72941"/>
                </a:srgbClr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2"/>
          <p:cNvSpPr txBox="1"/>
          <p:nvPr/>
        </p:nvSpPr>
        <p:spPr>
          <a:xfrm>
            <a:off x="1162398" y="2621085"/>
            <a:ext cx="7569400" cy="880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94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PROBLEMA IDENTIFICADO</a:t>
            </a:r>
            <a:endParaRPr/>
          </a:p>
        </p:txBody>
      </p:sp>
      <p:sp>
        <p:nvSpPr>
          <p:cNvPr id="499" name="Google Shape;499;p12"/>
          <p:cNvSpPr/>
          <p:nvPr/>
        </p:nvSpPr>
        <p:spPr>
          <a:xfrm>
            <a:off x="9240296" y="1489809"/>
            <a:ext cx="13848660" cy="7768491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00" name="Google Shape;500;p12"/>
          <p:cNvGraphicFramePr/>
          <p:nvPr/>
        </p:nvGraphicFramePr>
        <p:xfrm>
          <a:off x="9797221" y="267322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4181500"/>
                <a:gridCol w="4181500"/>
              </a:tblGrid>
              <a:tr h="41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CAUSAS PRINCIPALES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EFECTOS OPERATIVOS Y EMPRESARIALES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Historias clínicas en papel y archivos separados.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Búsqueda lenta de antecedentes, riesgo de pérdida y datos incompletos.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Registros independientes de clientes, citas y ventas.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Duplicidad de datos, errores de digitación y menor trazabilidad.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Inventario controlado manualmente o en hojas de cálculo.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Diferencias de stock, productos próximos a vencer y compras tardías.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Caja y servicios sin integración con la atención.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Cobros omitidos, cierres demorados y dificultad para conciliar.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Reportes elaborados de forma manual.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Decisiones tardías y escasa visibilidad sobre productividad y rentabilidad.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01" name="Google Shape;501;p12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502" name="Google Shape;502;p12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503" name="Google Shape;503;p12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04" name="Google Shape;504;p12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5" name="Google Shape;505;p12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511" name="Google Shape;511;p13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2" name="Google Shape;512;p13"/>
          <p:cNvSpPr/>
          <p:nvPr/>
        </p:nvSpPr>
        <p:spPr>
          <a:xfrm>
            <a:off x="10721099" y="1028700"/>
            <a:ext cx="8551195" cy="8650293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3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3"/>
          <p:cNvSpPr/>
          <p:nvPr/>
        </p:nvSpPr>
        <p:spPr>
          <a:xfrm flipH="1">
            <a:off x="5924193" y="9342961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4" y="0"/>
                </a:moveTo>
                <a:lnTo>
                  <a:pt x="0" y="0"/>
                </a:lnTo>
                <a:lnTo>
                  <a:pt x="0" y="337125"/>
                </a:lnTo>
                <a:lnTo>
                  <a:pt x="707704" y="337125"/>
                </a:lnTo>
                <a:lnTo>
                  <a:pt x="707704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5" name="Google Shape;515;p13"/>
          <p:cNvSpPr/>
          <p:nvPr/>
        </p:nvSpPr>
        <p:spPr>
          <a:xfrm>
            <a:off x="16042275" y="-804406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6" name="Google Shape;516;p13"/>
          <p:cNvSpPr/>
          <p:nvPr/>
        </p:nvSpPr>
        <p:spPr>
          <a:xfrm rot="10800000">
            <a:off x="908494" y="4574023"/>
            <a:ext cx="6727633" cy="1044093"/>
          </a:xfrm>
          <a:custGeom>
            <a:rect b="b" l="l" r="r" t="t"/>
            <a:pathLst>
              <a:path extrusionOk="0" h="553713" w="1626539">
                <a:moveTo>
                  <a:pt x="40268" y="0"/>
                </a:moveTo>
                <a:lnTo>
                  <a:pt x="1586271" y="0"/>
                </a:lnTo>
                <a:cubicBezTo>
                  <a:pt x="1596950" y="0"/>
                  <a:pt x="1607193" y="4243"/>
                  <a:pt x="1614744" y="11794"/>
                </a:cubicBezTo>
                <a:cubicBezTo>
                  <a:pt x="1622296" y="19346"/>
                  <a:pt x="1626539" y="29588"/>
                  <a:pt x="1626539" y="40268"/>
                </a:cubicBezTo>
                <a:lnTo>
                  <a:pt x="1626539" y="513445"/>
                </a:lnTo>
                <a:cubicBezTo>
                  <a:pt x="1626539" y="524125"/>
                  <a:pt x="1622296" y="534367"/>
                  <a:pt x="1614744" y="541919"/>
                </a:cubicBezTo>
                <a:cubicBezTo>
                  <a:pt x="1607193" y="549471"/>
                  <a:pt x="1596950" y="553713"/>
                  <a:pt x="1586271" y="553713"/>
                </a:cubicBezTo>
                <a:lnTo>
                  <a:pt x="40268" y="553713"/>
                </a:lnTo>
                <a:cubicBezTo>
                  <a:pt x="29588" y="553713"/>
                  <a:pt x="19346" y="549471"/>
                  <a:pt x="11794" y="541919"/>
                </a:cubicBezTo>
                <a:cubicBezTo>
                  <a:pt x="4243" y="534367"/>
                  <a:pt x="0" y="524125"/>
                  <a:pt x="0" y="513445"/>
                </a:cubicBezTo>
                <a:lnTo>
                  <a:pt x="0" y="40268"/>
                </a:lnTo>
                <a:cubicBezTo>
                  <a:pt x="0" y="29588"/>
                  <a:pt x="4243" y="19346"/>
                  <a:pt x="11794" y="11794"/>
                </a:cubicBezTo>
                <a:cubicBezTo>
                  <a:pt x="19346" y="4243"/>
                  <a:pt x="29588" y="0"/>
                  <a:pt x="40268" y="0"/>
                </a:cubicBezTo>
                <a:close/>
              </a:path>
            </a:pathLst>
          </a:custGeom>
          <a:gradFill>
            <a:gsLst>
              <a:gs pos="0">
                <a:srgbClr val="08122E">
                  <a:alpha val="72941"/>
                </a:srgbClr>
              </a:gs>
              <a:gs pos="15000">
                <a:srgbClr val="08122E">
                  <a:alpha val="72941"/>
                </a:srgbClr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3"/>
          <p:cNvSpPr txBox="1"/>
          <p:nvPr/>
        </p:nvSpPr>
        <p:spPr>
          <a:xfrm>
            <a:off x="1082969" y="4561157"/>
            <a:ext cx="7569400" cy="880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94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ALCANCE DE LA SOLUCIÓN</a:t>
            </a:r>
            <a:endParaRPr/>
          </a:p>
        </p:txBody>
      </p:sp>
      <p:sp>
        <p:nvSpPr>
          <p:cNvPr id="518" name="Google Shape;518;p13"/>
          <p:cNvSpPr txBox="1"/>
          <p:nvPr/>
        </p:nvSpPr>
        <p:spPr>
          <a:xfrm>
            <a:off x="984294" y="9322758"/>
            <a:ext cx="4979060" cy="3390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1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CANVAS DEL MODELO DE NEGOCIO</a:t>
            </a:r>
            <a:endParaRPr sz="21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9" name="Google Shape;519;p13"/>
          <p:cNvSpPr/>
          <p:nvPr/>
        </p:nvSpPr>
        <p:spPr>
          <a:xfrm>
            <a:off x="9240296" y="1489809"/>
            <a:ext cx="13848660" cy="7768491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20" name="Google Shape;520;p13"/>
          <p:cNvGraphicFramePr/>
          <p:nvPr/>
        </p:nvGraphicFramePr>
        <p:xfrm>
          <a:off x="9719721" y="193410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4181500"/>
                <a:gridCol w="4181500"/>
              </a:tblGrid>
              <a:tr h="41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INCLUYE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NO INCLUYE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Autenticación, usuarios, roles, permisos y auditoría.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Aplicación móvil nativa para Android o iOS.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Registro de clientes, mascotas, contactos y antecedentes básicos.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Telemedicina, videollamadas o diagnóstico automatizado.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Agenda, confirmación, reprogramación, cancelación y control de llegada.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Integración con agendas de clínicas externas.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Consulta, diagnóstico, procedimientos, recetas, indicaciones e historia clínica.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Equipos biomédicos conectados o inteligencia artificial clínica.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Catálogo, lotes, vencimientos, movimientos, alertas y kardex de farmacia.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Contabilidad financiera completa, planillas o compras avanzadas.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Ventas, pagos, descuentos autorizados, comprobante interno y cierre de caja.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Integración directa con facturación electrónica gubernamental.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9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Paneles, reportes, exportación y copias de seguridad.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0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Gestión multisedes en la primera liberación.</a:t>
                      </a:r>
                      <a:endParaRPr sz="2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521" name="Google Shape;521;p13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522" name="Google Shape;522;p13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23" name="Google Shape;523;p13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4" name="Google Shape;524;p13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530" name="Google Shape;530;p14"/>
          <p:cNvGrpSpPr/>
          <p:nvPr/>
        </p:nvGrpSpPr>
        <p:grpSpPr>
          <a:xfrm>
            <a:off x="-314691" y="2965225"/>
            <a:ext cx="19008298" cy="6855945"/>
            <a:chOff x="0" y="-38100"/>
            <a:chExt cx="7598033" cy="2740472"/>
          </a:xfrm>
        </p:grpSpPr>
        <p:sp>
          <p:nvSpPr>
            <p:cNvPr id="531" name="Google Shape;531;p14"/>
            <p:cNvSpPr/>
            <p:nvPr/>
          </p:nvSpPr>
          <p:spPr>
            <a:xfrm>
              <a:off x="0" y="0"/>
              <a:ext cx="7598033" cy="2702372"/>
            </a:xfrm>
            <a:custGeom>
              <a:rect b="b" l="l" r="r" t="t"/>
              <a:pathLst>
                <a:path extrusionOk="0" h="2702372" w="7598033">
                  <a:moveTo>
                    <a:pt x="12219" y="0"/>
                  </a:moveTo>
                  <a:lnTo>
                    <a:pt x="7585814" y="0"/>
                  </a:lnTo>
                  <a:cubicBezTo>
                    <a:pt x="7589055" y="0"/>
                    <a:pt x="7592163" y="1287"/>
                    <a:pt x="7594454" y="3579"/>
                  </a:cubicBezTo>
                  <a:cubicBezTo>
                    <a:pt x="7596746" y="5870"/>
                    <a:pt x="7598033" y="8978"/>
                    <a:pt x="7598033" y="12219"/>
                  </a:cubicBezTo>
                  <a:lnTo>
                    <a:pt x="7598033" y="2690153"/>
                  </a:lnTo>
                  <a:cubicBezTo>
                    <a:pt x="7598033" y="2696901"/>
                    <a:pt x="7592563" y="2702372"/>
                    <a:pt x="7585814" y="2702372"/>
                  </a:cubicBezTo>
                  <a:lnTo>
                    <a:pt x="12219" y="2702372"/>
                  </a:lnTo>
                  <a:cubicBezTo>
                    <a:pt x="5471" y="2702372"/>
                    <a:pt x="0" y="2696901"/>
                    <a:pt x="0" y="2690153"/>
                  </a:cubicBezTo>
                  <a:lnTo>
                    <a:pt x="0" y="12219"/>
                  </a:lnTo>
                  <a:cubicBezTo>
                    <a:pt x="0" y="5471"/>
                    <a:pt x="5471" y="0"/>
                    <a:pt x="1221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14"/>
            <p:cNvSpPr txBox="1"/>
            <p:nvPr/>
          </p:nvSpPr>
          <p:spPr>
            <a:xfrm>
              <a:off x="0" y="-38100"/>
              <a:ext cx="7598033" cy="27404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3" name="Google Shape;533;p14"/>
          <p:cNvSpPr/>
          <p:nvPr/>
        </p:nvSpPr>
        <p:spPr>
          <a:xfrm>
            <a:off x="8176690" y="3291219"/>
            <a:ext cx="10654047" cy="6018482"/>
          </a:xfrm>
          <a:prstGeom prst="roundRect">
            <a:avLst>
              <a:gd fmla="val 6226" name="adj"/>
            </a:avLst>
          </a:pr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4"/>
          <p:cNvSpPr txBox="1"/>
          <p:nvPr/>
        </p:nvSpPr>
        <p:spPr>
          <a:xfrm>
            <a:off x="633185" y="4366388"/>
            <a:ext cx="7159277" cy="24252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247874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PE" sz="2296" u="none" cap="none" strike="noStrike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El Business Model Canvas vincula la propuesta de valor de la clínica con sus segmentos, canales, recursos, actividades, socios, costos e ingresos. La plataforma no cambia la esencia asistencial del negocio; la fortalece al convertir la información clínica y comercial en un recurso compartido y controlado.</a:t>
            </a:r>
            <a:endParaRPr b="0" i="0" sz="2296" u="none" cap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35" name="Google Shape;535;p14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14"/>
          <p:cNvSpPr/>
          <p:nvPr/>
        </p:nvSpPr>
        <p:spPr>
          <a:xfrm>
            <a:off x="16178109" y="152252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7" name="Google Shape;537;p14"/>
          <p:cNvSpPr txBox="1"/>
          <p:nvPr/>
        </p:nvSpPr>
        <p:spPr>
          <a:xfrm>
            <a:off x="595085" y="1733369"/>
            <a:ext cx="8534400" cy="880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94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CANVAS DEL MODELO DE NEGOCIO</a:t>
            </a:r>
            <a:endParaRPr/>
          </a:p>
        </p:txBody>
      </p:sp>
      <p:sp>
        <p:nvSpPr>
          <p:cNvPr id="538" name="Google Shape;538;p14"/>
          <p:cNvSpPr/>
          <p:nvPr/>
        </p:nvSpPr>
        <p:spPr>
          <a:xfrm flipH="1">
            <a:off x="9447805" y="2190246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4" y="0"/>
                </a:moveTo>
                <a:lnTo>
                  <a:pt x="0" y="0"/>
                </a:lnTo>
                <a:lnTo>
                  <a:pt x="0" y="337125"/>
                </a:lnTo>
                <a:lnTo>
                  <a:pt x="707704" y="337125"/>
                </a:lnTo>
                <a:lnTo>
                  <a:pt x="707704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9" name="Google Shape;539;p14"/>
          <p:cNvSpPr/>
          <p:nvPr/>
        </p:nvSpPr>
        <p:spPr>
          <a:xfrm>
            <a:off x="8176692" y="3470264"/>
            <a:ext cx="10654046" cy="5839437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Lienzo de modelo de negocio con nueve bloques para la clínica veterinaria." id="540" name="Google Shape;540;p14" title="Business Model Canvas de la Clínica Veterinaria VetSalud Integral."/>
          <p:cNvPicPr preferRelativeResize="0"/>
          <p:nvPr/>
        </p:nvPicPr>
        <p:blipFill rotWithShape="1">
          <a:blip r:embed="rId6">
            <a:alphaModFix/>
          </a:blip>
          <a:srcRect b="2582" l="0" r="0" t="17844"/>
          <a:stretch/>
        </p:blipFill>
        <p:spPr>
          <a:xfrm>
            <a:off x="8209636" y="3653163"/>
            <a:ext cx="10146929" cy="616800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1" name="Google Shape;541;p14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542" name="Google Shape;542;p14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43" name="Google Shape;543;p1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44" name="Google Shape;544;p14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3.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ANÁLISIS DEL CONTEXTO DE LA EMPRESA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1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550" name="Google Shape;550;p15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1" name="Google Shape;551;p15"/>
          <p:cNvSpPr/>
          <p:nvPr/>
        </p:nvSpPr>
        <p:spPr>
          <a:xfrm>
            <a:off x="10721099" y="1028700"/>
            <a:ext cx="8551195" cy="8650293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5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15"/>
          <p:cNvSpPr txBox="1"/>
          <p:nvPr/>
        </p:nvSpPr>
        <p:spPr>
          <a:xfrm>
            <a:off x="987923" y="4367701"/>
            <a:ext cx="7743875" cy="1753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Aplicación web centralizada para la red de la clínica. Se organiza por capas y módulos, utiliza controladores y servicios Java, vistas JSP/JSTL responsivas y una base de datos PostgreSQL.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54" name="Google Shape;554;p15"/>
          <p:cNvSpPr/>
          <p:nvPr/>
        </p:nvSpPr>
        <p:spPr>
          <a:xfrm>
            <a:off x="16042275" y="-804406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5" name="Google Shape;555;p15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4.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PLANTEAMIENTO DE ALTERNATIVAS DE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56" name="Google Shape;556;p15"/>
          <p:cNvSpPr/>
          <p:nvPr/>
        </p:nvSpPr>
        <p:spPr>
          <a:xfrm rot="10800000">
            <a:off x="874469" y="2305501"/>
            <a:ext cx="7445482" cy="1043749"/>
          </a:xfrm>
          <a:custGeom>
            <a:rect b="b" l="l" r="r" t="t"/>
            <a:pathLst>
              <a:path extrusionOk="0" h="553713" w="1626539">
                <a:moveTo>
                  <a:pt x="40268" y="0"/>
                </a:moveTo>
                <a:lnTo>
                  <a:pt x="1586271" y="0"/>
                </a:lnTo>
                <a:cubicBezTo>
                  <a:pt x="1596950" y="0"/>
                  <a:pt x="1607193" y="4243"/>
                  <a:pt x="1614744" y="11794"/>
                </a:cubicBezTo>
                <a:cubicBezTo>
                  <a:pt x="1622296" y="19346"/>
                  <a:pt x="1626539" y="29588"/>
                  <a:pt x="1626539" y="40268"/>
                </a:cubicBezTo>
                <a:lnTo>
                  <a:pt x="1626539" y="513445"/>
                </a:lnTo>
                <a:cubicBezTo>
                  <a:pt x="1626539" y="524125"/>
                  <a:pt x="1622296" y="534367"/>
                  <a:pt x="1614744" y="541919"/>
                </a:cubicBezTo>
                <a:cubicBezTo>
                  <a:pt x="1607193" y="549471"/>
                  <a:pt x="1596950" y="553713"/>
                  <a:pt x="1586271" y="553713"/>
                </a:cubicBezTo>
                <a:lnTo>
                  <a:pt x="40268" y="553713"/>
                </a:lnTo>
                <a:cubicBezTo>
                  <a:pt x="29588" y="553713"/>
                  <a:pt x="19346" y="549471"/>
                  <a:pt x="11794" y="541919"/>
                </a:cubicBezTo>
                <a:cubicBezTo>
                  <a:pt x="4243" y="534367"/>
                  <a:pt x="0" y="524125"/>
                  <a:pt x="0" y="513445"/>
                </a:cubicBezTo>
                <a:lnTo>
                  <a:pt x="0" y="40268"/>
                </a:lnTo>
                <a:cubicBezTo>
                  <a:pt x="0" y="29588"/>
                  <a:pt x="4243" y="19346"/>
                  <a:pt x="11794" y="11794"/>
                </a:cubicBezTo>
                <a:cubicBezTo>
                  <a:pt x="19346" y="4243"/>
                  <a:pt x="29588" y="0"/>
                  <a:pt x="40268" y="0"/>
                </a:cubicBezTo>
                <a:close/>
              </a:path>
            </a:pathLst>
          </a:custGeom>
          <a:gradFill>
            <a:gsLst>
              <a:gs pos="0">
                <a:srgbClr val="08122E">
                  <a:alpha val="72941"/>
                </a:srgbClr>
              </a:gs>
              <a:gs pos="15000">
                <a:srgbClr val="08122E">
                  <a:alpha val="72941"/>
                </a:srgbClr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15"/>
          <p:cNvSpPr txBox="1"/>
          <p:nvPr/>
        </p:nvSpPr>
        <p:spPr>
          <a:xfrm>
            <a:off x="1192289" y="2520956"/>
            <a:ext cx="7569400" cy="828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2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ALTERNATIVA A: ERP WEB MODULAR JAVA MVC</a:t>
            </a:r>
            <a:endParaRPr/>
          </a:p>
        </p:txBody>
      </p:sp>
      <p:sp>
        <p:nvSpPr>
          <p:cNvPr id="558" name="Google Shape;558;p15"/>
          <p:cNvSpPr/>
          <p:nvPr/>
        </p:nvSpPr>
        <p:spPr>
          <a:xfrm>
            <a:off x="8817709" y="1271173"/>
            <a:ext cx="13848660" cy="8215727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59" name="Google Shape;559;p15"/>
          <p:cNvGraphicFramePr/>
          <p:nvPr/>
        </p:nvGraphicFramePr>
        <p:xfrm>
          <a:off x="9618945" y="155482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4048975"/>
                <a:gridCol w="4048975"/>
              </a:tblGrid>
              <a:tr h="391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VENTAJAS 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LIMITACIONES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Acceso desde cualquier equipo autorizado sin instalar el sistema en cada terminal.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Requiere disponibilidad del servidor y de la red interna.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Arquitectura modular compatible con la infraestructura académica y operativa disponible.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 primera versión no trabaja sin conexión ni incluye una aplicación móvil nativa.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Mantenimiento centralizado y curva de aprendizaje moderada para el equipo.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 integración con facturación electrónica y multisedes queda para una etapa posterior.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Permite incorporar nuevos módulos sin reemplazar el núcleo de la solución.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---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60" name="Google Shape;560;p15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descr="Java - Iconos gratis de logo" id="561" name="Google Shape;561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68889" y="6620334"/>
            <a:ext cx="2350711" cy="23507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" name="Google Shape;562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99406" y="7101982"/>
            <a:ext cx="1699557" cy="175394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Panel principal para la alternativa A." id="563" name="Google Shape;563;p15" title="Alternativa A: Panel principal. Resume citas, atenciones, ventas y alertas de stock para la gestión diaria.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867721" y="5711926"/>
            <a:ext cx="3100555" cy="18083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Clientes y mascotas para la alternativa A." id="564" name="Google Shape;564;p15" title="Alternativa A: Clientes y mascotas. Centraliza la identificación del propietario, los contactos y la ficha de cada mascota.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2018288" y="5706511"/>
            <a:ext cx="3094507" cy="18731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Ventas y farmacia para la alternativa A." id="565" name="Google Shape;565;p15" title="Alternativa A: Ventas y farmacia. Integra productos, lotes, receta, stock, pagos y emisión del comprobante.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156711" y="7579696"/>
            <a:ext cx="3092906" cy="17873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Historia clínica para la alternativa A." id="566" name="Google Shape;566;p15" title="Alternativa A: Historia clínica. Presenta antecedentes y permite registrar, firmar y consultar atenciones.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5102995" y="5713725"/>
            <a:ext cx="3030721" cy="186230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Citas y procedimientos para la alternativa A." id="567" name="Google Shape;567;p15" title="Alternativa A: Citas y procedimientos. Organiza la agenda por profesional, estado de atención y recurso clínico.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3543526" y="7599931"/>
            <a:ext cx="3055878" cy="180733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8" name="Google Shape;568;p15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569" name="Google Shape;569;p15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70" name="Google Shape;570;p15"/>
            <p:cNvPicPr preferRelativeResize="0"/>
            <p:nvPr/>
          </p:nvPicPr>
          <p:blipFill rotWithShape="1">
            <a:blip r:embed="rId14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576" name="Google Shape;576;p16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77" name="Google Shape;577;p16"/>
          <p:cNvSpPr/>
          <p:nvPr/>
        </p:nvSpPr>
        <p:spPr>
          <a:xfrm>
            <a:off x="10721099" y="1028700"/>
            <a:ext cx="8551195" cy="8650293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6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6"/>
          <p:cNvSpPr txBox="1"/>
          <p:nvPr/>
        </p:nvSpPr>
        <p:spPr>
          <a:xfrm>
            <a:off x="644150" y="4100357"/>
            <a:ext cx="7743875" cy="22027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Aplicación cliente-servidor instalada en los equipos de recepción, consultorios, farmacia y caja. JavaFX resuelve la interfaz y Java concentra la lógica, la persistencia y las comunicaciones con el servidor de base de datos. 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80" name="Google Shape;580;p16"/>
          <p:cNvSpPr/>
          <p:nvPr/>
        </p:nvSpPr>
        <p:spPr>
          <a:xfrm>
            <a:off x="16042275" y="-804406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81" name="Google Shape;581;p16"/>
          <p:cNvSpPr/>
          <p:nvPr/>
        </p:nvSpPr>
        <p:spPr>
          <a:xfrm rot="10800000">
            <a:off x="550893" y="2116359"/>
            <a:ext cx="8246553" cy="1043749"/>
          </a:xfrm>
          <a:custGeom>
            <a:rect b="b" l="l" r="r" t="t"/>
            <a:pathLst>
              <a:path extrusionOk="0" h="553713" w="1626539">
                <a:moveTo>
                  <a:pt x="40268" y="0"/>
                </a:moveTo>
                <a:lnTo>
                  <a:pt x="1586271" y="0"/>
                </a:lnTo>
                <a:cubicBezTo>
                  <a:pt x="1596950" y="0"/>
                  <a:pt x="1607193" y="4243"/>
                  <a:pt x="1614744" y="11794"/>
                </a:cubicBezTo>
                <a:cubicBezTo>
                  <a:pt x="1622296" y="19346"/>
                  <a:pt x="1626539" y="29588"/>
                  <a:pt x="1626539" y="40268"/>
                </a:cubicBezTo>
                <a:lnTo>
                  <a:pt x="1626539" y="513445"/>
                </a:lnTo>
                <a:cubicBezTo>
                  <a:pt x="1626539" y="524125"/>
                  <a:pt x="1622296" y="534367"/>
                  <a:pt x="1614744" y="541919"/>
                </a:cubicBezTo>
                <a:cubicBezTo>
                  <a:pt x="1607193" y="549471"/>
                  <a:pt x="1596950" y="553713"/>
                  <a:pt x="1586271" y="553713"/>
                </a:cubicBezTo>
                <a:lnTo>
                  <a:pt x="40268" y="553713"/>
                </a:lnTo>
                <a:cubicBezTo>
                  <a:pt x="29588" y="553713"/>
                  <a:pt x="19346" y="549471"/>
                  <a:pt x="11794" y="541919"/>
                </a:cubicBezTo>
                <a:cubicBezTo>
                  <a:pt x="4243" y="534367"/>
                  <a:pt x="0" y="524125"/>
                  <a:pt x="0" y="513445"/>
                </a:cubicBezTo>
                <a:lnTo>
                  <a:pt x="0" y="40268"/>
                </a:lnTo>
                <a:cubicBezTo>
                  <a:pt x="0" y="29588"/>
                  <a:pt x="4243" y="19346"/>
                  <a:pt x="11794" y="11794"/>
                </a:cubicBezTo>
                <a:cubicBezTo>
                  <a:pt x="19346" y="4243"/>
                  <a:pt x="29588" y="0"/>
                  <a:pt x="40268" y="0"/>
                </a:cubicBezTo>
                <a:close/>
              </a:path>
            </a:pathLst>
          </a:custGeom>
          <a:gradFill>
            <a:gsLst>
              <a:gs pos="0">
                <a:srgbClr val="08122E">
                  <a:alpha val="0"/>
                </a:srgbClr>
              </a:gs>
              <a:gs pos="9000">
                <a:srgbClr val="08122E">
                  <a:alpha val="0"/>
                </a:srgbClr>
              </a:gs>
              <a:gs pos="33000">
                <a:srgbClr val="0B1736"/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6"/>
          <p:cNvSpPr txBox="1"/>
          <p:nvPr/>
        </p:nvSpPr>
        <p:spPr>
          <a:xfrm>
            <a:off x="644150" y="2522923"/>
            <a:ext cx="8060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2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ALTERNATIVA B: APLICACIÓN DE ESCRITORIO JAVAFX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3" name="Google Shape;583;p16"/>
          <p:cNvSpPr/>
          <p:nvPr/>
        </p:nvSpPr>
        <p:spPr>
          <a:xfrm>
            <a:off x="8817709" y="1271173"/>
            <a:ext cx="13848660" cy="8215727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84" name="Google Shape;584;p16"/>
          <p:cNvGraphicFramePr/>
          <p:nvPr/>
        </p:nvGraphicFramePr>
        <p:xfrm>
          <a:off x="9618945" y="155482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4048975"/>
                <a:gridCol w="4048975"/>
              </a:tblGrid>
              <a:tr h="391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VENTAJAS 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LIMITACIONES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 participación de Java y respuesta rápida dentro de la red local.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Instalación, configuración y actualización en cada terminal.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Acceso directo a periféricos de impresión y operación familiar para usuarios de escritorio.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Menor flexibilidad para el acceso remoto o desde dispositivos heterogéneos.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Puede aislar el tráfico de datos dentro de la clínica.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Mayor riesgo de versiones distintas y mayor dependencia del sistema operativo de cada equipo.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85" name="Google Shape;585;p16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descr="Java - Iconos gratis de logo" id="586" name="Google Shape;58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58317" y="6604049"/>
            <a:ext cx="2350711" cy="23507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Panel de operaciones para la alternativa B." id="587" name="Google Shape;587;p16" title="Alternativa B: Panel de operaciones. Concentra indicadores en una aplicación JavaFX instalada en cada terminal.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963452" y="4802558"/>
            <a:ext cx="3155561" cy="20775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Mantenimiento de clientes para la alternativa B." id="588" name="Google Shape;588;p16" title="Alternativa B: Mantenimiento de clientes. Utiliza formularios de escritorio para maestros de clientes y mascotas.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2173047" y="4831309"/>
            <a:ext cx="3155561" cy="20775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Inventario para la alternativa B." id="589" name="Google Shape;589;p16" title="Alternativa B: Inventario. Controla lotes, vencimientos, mínimos y estados de disponibilidad.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5328608" y="4802558"/>
            <a:ext cx="3155561" cy="20775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Consulta clínica para la alternativa B." id="590" name="Google Shape;590;p16" title="Alternativa B: Consulta clínica. Registra signos, examen, diagnóstico, procedimiento e indicaciones.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298968" y="7030049"/>
            <a:ext cx="3155561" cy="20775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Caja y cierre para la alternativa B." id="591" name="Google Shape;591;p16" title="Alternativa B: Caja y cierre. Administra ventas del turno, medios de pago, arqueo y diferencias.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3540440" y="7001657"/>
            <a:ext cx="3155561" cy="20775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92" name="Google Shape;592;p16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593" name="Google Shape;593;p16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94" name="Google Shape;594;p16"/>
            <p:cNvPicPr preferRelativeResize="0"/>
            <p:nvPr/>
          </p:nvPicPr>
          <p:blipFill rotWithShape="1">
            <a:blip r:embed="rId13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95" name="Google Shape;595;p16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4.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PLANTEAMIENTO DE ALTERNATIVAS DE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01" name="Google Shape;601;p1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02" name="Google Shape;602;p17"/>
          <p:cNvSpPr/>
          <p:nvPr/>
        </p:nvSpPr>
        <p:spPr>
          <a:xfrm>
            <a:off x="10837957" y="1075362"/>
            <a:ext cx="8551195" cy="8650293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1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17"/>
          <p:cNvSpPr txBox="1"/>
          <p:nvPr/>
        </p:nvSpPr>
        <p:spPr>
          <a:xfrm>
            <a:off x="644150" y="4100357"/>
            <a:ext cx="7743875" cy="2651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Plataforma responsiva alojada en la nube, con una PWA para personal y clientes y servicios Java separados por dominios. Facilita el crecimiento, el acceso multicanal y la futura operación multisedes, pero exige mayor inversión, observabilidad, automatización y conocimientos de arquitectura distribuida.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05" name="Google Shape;605;p17"/>
          <p:cNvSpPr/>
          <p:nvPr/>
        </p:nvSpPr>
        <p:spPr>
          <a:xfrm>
            <a:off x="16042275" y="-804406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06" name="Google Shape;606;p17"/>
          <p:cNvSpPr/>
          <p:nvPr/>
        </p:nvSpPr>
        <p:spPr>
          <a:xfrm rot="10800000">
            <a:off x="644230" y="2350209"/>
            <a:ext cx="8246553" cy="1043749"/>
          </a:xfrm>
          <a:custGeom>
            <a:rect b="b" l="l" r="r" t="t"/>
            <a:pathLst>
              <a:path extrusionOk="0" h="553713" w="1626539">
                <a:moveTo>
                  <a:pt x="40268" y="0"/>
                </a:moveTo>
                <a:lnTo>
                  <a:pt x="1586271" y="0"/>
                </a:lnTo>
                <a:cubicBezTo>
                  <a:pt x="1596950" y="0"/>
                  <a:pt x="1607193" y="4243"/>
                  <a:pt x="1614744" y="11794"/>
                </a:cubicBezTo>
                <a:cubicBezTo>
                  <a:pt x="1622296" y="19346"/>
                  <a:pt x="1626539" y="29588"/>
                  <a:pt x="1626539" y="40268"/>
                </a:cubicBezTo>
                <a:lnTo>
                  <a:pt x="1626539" y="513445"/>
                </a:lnTo>
                <a:cubicBezTo>
                  <a:pt x="1626539" y="524125"/>
                  <a:pt x="1622296" y="534367"/>
                  <a:pt x="1614744" y="541919"/>
                </a:cubicBezTo>
                <a:cubicBezTo>
                  <a:pt x="1607193" y="549471"/>
                  <a:pt x="1596950" y="553713"/>
                  <a:pt x="1586271" y="553713"/>
                </a:cubicBezTo>
                <a:lnTo>
                  <a:pt x="40268" y="553713"/>
                </a:lnTo>
                <a:cubicBezTo>
                  <a:pt x="29588" y="553713"/>
                  <a:pt x="19346" y="549471"/>
                  <a:pt x="11794" y="541919"/>
                </a:cubicBezTo>
                <a:cubicBezTo>
                  <a:pt x="4243" y="534367"/>
                  <a:pt x="0" y="524125"/>
                  <a:pt x="0" y="513445"/>
                </a:cubicBezTo>
                <a:lnTo>
                  <a:pt x="0" y="40268"/>
                </a:lnTo>
                <a:cubicBezTo>
                  <a:pt x="0" y="29588"/>
                  <a:pt x="4243" y="19346"/>
                  <a:pt x="11794" y="11794"/>
                </a:cubicBezTo>
                <a:cubicBezTo>
                  <a:pt x="19346" y="4243"/>
                  <a:pt x="29588" y="0"/>
                  <a:pt x="40268" y="0"/>
                </a:cubicBezTo>
                <a:close/>
              </a:path>
            </a:pathLst>
          </a:custGeom>
          <a:gradFill>
            <a:gsLst>
              <a:gs pos="0">
                <a:srgbClr val="08122E">
                  <a:alpha val="0"/>
                </a:srgbClr>
              </a:gs>
              <a:gs pos="9000">
                <a:srgbClr val="08122E">
                  <a:alpha val="0"/>
                </a:srgbClr>
              </a:gs>
              <a:gs pos="33000">
                <a:srgbClr val="0B1736"/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7"/>
          <p:cNvSpPr txBox="1"/>
          <p:nvPr/>
        </p:nvSpPr>
        <p:spPr>
          <a:xfrm>
            <a:off x="751590" y="2578662"/>
            <a:ext cx="8488249" cy="8152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88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0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ALTERNATIVA C: PLATAFORMA PWA CON SERVICIOS JAVA</a:t>
            </a:r>
            <a:endParaRPr b="1" sz="20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08" name="Google Shape;608;p17"/>
          <p:cNvSpPr/>
          <p:nvPr/>
        </p:nvSpPr>
        <p:spPr>
          <a:xfrm>
            <a:off x="8817709" y="1271174"/>
            <a:ext cx="13848660" cy="3470934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609" name="Google Shape;609;p17"/>
          <p:cNvGraphicFramePr/>
          <p:nvPr/>
        </p:nvGraphicFramePr>
        <p:xfrm>
          <a:off x="9618945" y="155482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4048975"/>
                <a:gridCol w="4048975"/>
              </a:tblGrid>
              <a:tr h="391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VENTAJAS 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LIMITACIONES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Escalabilidad, acceso multicanal y capacidad para evolucionar hacia multisedes.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Costo y complejidad de desarrollo, pruebas, despliegue y monitoreo más elevados.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Portal responsivo para clientes y separación clara de dominios funcionales.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Dependencia de conectividad y de competencias técnicas especializadas.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Mayor facilidad para integrar servicios externos en fases posteriores.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Sobredimensionamiento para una sola sede y para el plazo académico disponible.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descr="Java - Iconos gratis de logo" id="611" name="Google Shape;611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58317" y="6604049"/>
            <a:ext cx="2350711" cy="23507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Panel multicanal para la alternativa C." id="612" name="Google Shape;612;p17" title="Alternativa C: Panel multicanal. Ofrece indicadores consolidados y alertas desde una arquitectura modular en la nube.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856259" y="5269392"/>
            <a:ext cx="2829177" cy="15995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Portal del cliente para la alternativa C." id="613" name="Google Shape;613;p17" title="Alternativa C: Portal del cliente. Permite consultar mascotas, citas y recordatorios desde un diseño responsivo.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527045" y="6203398"/>
            <a:ext cx="2829177" cy="15995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Farmacia e inventario para la alternativa C." id="614" name="Google Shape;614;p17" title="Alternativa C: Farmacia e inventario. Muestra stock, lotes, vencimientos y alertas operativas.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262180" y="7196922"/>
            <a:ext cx="2829177" cy="15995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Historia clínica para la alternativa C." id="615" name="Google Shape;615;p17" title="Alternativa C: Historia clínica. Presenta la evolución clínica como una línea de tiempo compartida.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4352419" y="5621208"/>
            <a:ext cx="2829177" cy="15995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totipo de la pantalla Analítica administrativa para la alternativa C." id="616" name="Google Shape;616;p17" title="Alternativa C: Analítica administrativa. Integra indicadores comerciales, clínicos y de servicio.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4837202" y="6355182"/>
            <a:ext cx="2829177" cy="15995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7" name="Google Shape;617;p1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618" name="Google Shape;618;p1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19" name="Google Shape;619;p17"/>
            <p:cNvPicPr preferRelativeResize="0"/>
            <p:nvPr/>
          </p:nvPicPr>
          <p:blipFill rotWithShape="1">
            <a:blip r:embed="rId13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0" name="Google Shape;620;p1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4.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PLANTEAMIENTO DE ALTERNATIVAS DE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18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26" name="Google Shape;626;p18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27" name="Google Shape;627;p18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18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29" name="Google Shape;629;p18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630" name="Google Shape;630;p18"/>
          <p:cNvGrpSpPr/>
          <p:nvPr/>
        </p:nvGrpSpPr>
        <p:grpSpPr>
          <a:xfrm>
            <a:off x="6404500" y="979425"/>
            <a:ext cx="5733000" cy="979479"/>
            <a:chOff x="80583" y="896700"/>
            <a:chExt cx="5733000" cy="979479"/>
          </a:xfrm>
        </p:grpSpPr>
        <p:sp>
          <p:nvSpPr>
            <p:cNvPr id="631" name="Google Shape;631;p18"/>
            <p:cNvSpPr/>
            <p:nvPr/>
          </p:nvSpPr>
          <p:spPr>
            <a:xfrm rot="10800000">
              <a:off x="80583" y="896700"/>
              <a:ext cx="57330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18"/>
            <p:cNvSpPr txBox="1"/>
            <p:nvPr/>
          </p:nvSpPr>
          <p:spPr>
            <a:xfrm>
              <a:off x="887993" y="1047879"/>
              <a:ext cx="4772400" cy="82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PROJECT CHARTER BÁSICO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633" name="Google Shape;633;p18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634" name="Google Shape;634;p18"/>
          <p:cNvGraphicFramePr/>
          <p:nvPr/>
        </p:nvGraphicFramePr>
        <p:xfrm>
          <a:off x="608211" y="25249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2787125"/>
                <a:gridCol w="5310850"/>
              </a:tblGrid>
              <a:tr h="391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CAMPO 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DEFINICIÓN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Nombre del proyecto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VetSalud ERP - Sistema integral de ventas y gestión veterinaria.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Patrocinador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Gerencia de la Clínica Veterinaria VetSalud Integral S.A.C.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Jefe del proyecto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Coordinación del equipo académico.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Periodo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31 de agosto al 18 de diciembre de 2026; 16 semanas.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Presupuesto referencial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S/ 24 000 para análisis, diseño, desarrollo, pruebas, despliegue y capacitación.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Necesidad de negocio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Centralizar la información clínica, comercial y administrativa para disminuir errores, tiempos de espera y diferencias de control.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Objetivo del proyecto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Construir y validar un MVP web que cubra los módulos definidos, con respuesta menor o igual a 3 segundos en el 95 % de operaciones habituales y trazabilidad de las transacciones críticas.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35" name="Google Shape;635;p18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aphicFrame>
        <p:nvGraphicFramePr>
          <p:cNvPr id="636" name="Google Shape;636;p18"/>
          <p:cNvGraphicFramePr/>
          <p:nvPr/>
        </p:nvGraphicFramePr>
        <p:xfrm>
          <a:off x="9523898" y="254542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2787125"/>
                <a:gridCol w="5310850"/>
              </a:tblGrid>
              <a:tr h="460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COMPONENTE 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CONTENIDO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95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Alcance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Seguridad, clientes, mascotas, citas, historia clínica, procedimientos, recetas, farmacia, inventario, ventas, caja, reportes, auditoría y respaldo para una sede.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Entregables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SRS, modelos de casos de uso, prototipos, arquitectura, modelo de datos, código del MVP, plan y evidencias de pruebas, manuales, despliegue y capacitación.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0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Criterios de éxito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Cobertura de requisitos prioritarios; cero stock negativo; historia clínica trazable; cierre de caja conciliado; 95 % de consultas habituales en ≤3 s; aprobación de usuarios clave.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Exclusiones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Aplicación móvil nativa, multisedes, telemedicina, IA clínica, contabilidad completa y facturación electrónica gubernamental.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Supuestos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Disponibilidad semanal de usuarios clave, equipos operativos, red estable, datos maestros accesibles y colaboración del personal.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Restricciones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6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Dieciséis semanas, presupuesto referencial, equipo académico, Tomcat 9, JDK 25.0.2 y alcance de una sede.</a:t>
                      </a:r>
                      <a:endParaRPr sz="16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637" name="Google Shape;637;p18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638" name="Google Shape;638;p18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39" name="Google Shape;639;p18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45" name="Google Shape;645;p19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46" name="Google Shape;646;p19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19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48" name="Google Shape;648;p19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649" name="Google Shape;649;p19"/>
          <p:cNvGrpSpPr/>
          <p:nvPr/>
        </p:nvGrpSpPr>
        <p:grpSpPr>
          <a:xfrm>
            <a:off x="6535600" y="979425"/>
            <a:ext cx="5499900" cy="979483"/>
            <a:chOff x="211683" y="896700"/>
            <a:chExt cx="5499900" cy="979483"/>
          </a:xfrm>
        </p:grpSpPr>
        <p:sp>
          <p:nvSpPr>
            <p:cNvPr id="650" name="Google Shape;650;p19"/>
            <p:cNvSpPr/>
            <p:nvPr/>
          </p:nvSpPr>
          <p:spPr>
            <a:xfrm rot="10800000">
              <a:off x="211683" y="896700"/>
              <a:ext cx="54999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" name="Google Shape;651;p19"/>
            <p:cNvSpPr txBox="1"/>
            <p:nvPr/>
          </p:nvSpPr>
          <p:spPr>
            <a:xfrm>
              <a:off x="887993" y="1047879"/>
              <a:ext cx="4772351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PROJECT CHARTER BÁSICO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652" name="Google Shape;652;p19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653" name="Google Shape;653;p19"/>
          <p:cNvGraphicFramePr/>
          <p:nvPr/>
        </p:nvGraphicFramePr>
        <p:xfrm>
          <a:off x="309562" y="25343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4648200"/>
                <a:gridCol w="1905000"/>
                <a:gridCol w="1676400"/>
                <a:gridCol w="4343400"/>
              </a:tblGrid>
              <a:tr h="414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RIESGO 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PROBABILIDAD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IMPACTO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solidFill>
                            <a:schemeClr val="lt1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RSEPUESTA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90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Resistencia del personal al cambio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Participación temprana, demostraciones y capacitación por rol.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Datos históricos incompletos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Migración mínima, depuración y registro de observaciones.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Ampliación no controlada del alcance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Línea base, priorización y control de cambios.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Errores en stock o caja durante integración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Transacciones atómicas, pruebas de conciliación y respaldo.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Vulnerabilidad o acceso no autorizado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Roles, sesiones, cifrado, auditoría y pruebas de seguridad.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0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Retraso en módulos críticos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Desarrollo incremental, integración continua y reserva de contingencia.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0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Resistencia del personal al cambio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Media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Participación temprana, demostraciones y capacitación por rol.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54" name="Google Shape;654;p19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descr="Ilustración vectorial sobre el concepto de matriz de gestión de riesgos con  impactos y probabilidades | Vector Premium" id="655" name="Google Shape;655;p19"/>
          <p:cNvPicPr preferRelativeResize="0"/>
          <p:nvPr/>
        </p:nvPicPr>
        <p:blipFill rotWithShape="1">
          <a:blip r:embed="rId7">
            <a:alphaModFix/>
          </a:blip>
          <a:srcRect b="0" l="7744" r="7911" t="0"/>
          <a:stretch/>
        </p:blipFill>
        <p:spPr>
          <a:xfrm>
            <a:off x="12936473" y="4457700"/>
            <a:ext cx="5714817" cy="451340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56" name="Google Shape;656;p19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657" name="Google Shape;657;p19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58" name="Google Shape;658;p19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64" name="Google Shape;664;p20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5" name="Google Shape;665;p20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0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0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El cronograma organiza el proyecto en dieciséis semanas y permite ejecutar en paralelo la especificación, el diseño y la construcción cuando existe una dependencia controlada. Las semanas 13 a 15 concentran la integración y las pruebas, mientras que la última semana se reserva para capacitación, despliegue y cierre.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68" name="Google Shape;668;p20"/>
          <p:cNvSpPr/>
          <p:nvPr/>
        </p:nvSpPr>
        <p:spPr>
          <a:xfrm>
            <a:off x="16221125" y="-52019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9" name="Google Shape;669;p20"/>
          <p:cNvSpPr/>
          <p:nvPr/>
        </p:nvSpPr>
        <p:spPr>
          <a:xfrm rot="10800000">
            <a:off x="571129" y="2292425"/>
            <a:ext cx="4310100" cy="1044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08122E">
                  <a:alpha val="0"/>
                </a:srgbClr>
              </a:gs>
              <a:gs pos="9000">
                <a:srgbClr val="08122E">
                  <a:alpha val="0"/>
                </a:srgbClr>
              </a:gs>
              <a:gs pos="33000">
                <a:srgbClr val="0B1736"/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20"/>
          <p:cNvSpPr txBox="1"/>
          <p:nvPr/>
        </p:nvSpPr>
        <p:spPr>
          <a:xfrm>
            <a:off x="932542" y="2508126"/>
            <a:ext cx="8059939" cy="828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2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DIAGRAMA DE GANTT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1" name="Google Shape;671;p20"/>
          <p:cNvSpPr/>
          <p:nvPr/>
        </p:nvSpPr>
        <p:spPr>
          <a:xfrm>
            <a:off x="8817709" y="2095500"/>
            <a:ext cx="1384866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20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73" name="Google Shape;673;p20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Cronograma de barras con doce actividades distribuidas en dieciséis semanas." id="674" name="Google Shape;674;p20" title="Cronograma de Gantt del proyecto en dieciséis semanas.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27004" y="2779126"/>
            <a:ext cx="9360996" cy="57933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75" name="Google Shape;675;p20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676" name="Google Shape;676;p20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77" name="Google Shape;677;p20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2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83" name="Google Shape;683;p21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84" name="Google Shape;684;p21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21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21"/>
          <p:cNvSpPr txBox="1"/>
          <p:nvPr/>
        </p:nvSpPr>
        <p:spPr>
          <a:xfrm>
            <a:off x="644150" y="4100357"/>
            <a:ext cx="7743875" cy="3998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VetSalud ERP es una aplicación web modular de uso interno, con un acceso limitado para clientes. Comparte maestros de clientes, mascotas, usuarios, productos, servicios y parámetros. Las operaciones clínicas y comerciales se conectan mediante identificadores y transacciones, de modo que una consulta puede generar procedimientos y recetas; posteriormente, la farmacia dispensa productos y caja integra el cobro sin volver a digitar la información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87" name="Google Shape;687;p21"/>
          <p:cNvSpPr/>
          <p:nvPr/>
        </p:nvSpPr>
        <p:spPr>
          <a:xfrm>
            <a:off x="16221125" y="-52019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88" name="Google Shape;688;p21"/>
          <p:cNvSpPr/>
          <p:nvPr/>
        </p:nvSpPr>
        <p:spPr>
          <a:xfrm rot="10800000">
            <a:off x="571003" y="2247250"/>
            <a:ext cx="5169900" cy="1044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08122E">
                  <a:alpha val="0"/>
                </a:srgbClr>
              </a:gs>
              <a:gs pos="9000">
                <a:srgbClr val="08122E">
                  <a:alpha val="0"/>
                </a:srgbClr>
              </a:gs>
              <a:gs pos="33000">
                <a:srgbClr val="0B1736"/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21"/>
          <p:cNvSpPr txBox="1"/>
          <p:nvPr/>
        </p:nvSpPr>
        <p:spPr>
          <a:xfrm>
            <a:off x="932542" y="2508126"/>
            <a:ext cx="8059939" cy="828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2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PERSPECTIVA DEL SISTEMA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90" name="Google Shape;690;p21"/>
          <p:cNvSpPr/>
          <p:nvPr/>
        </p:nvSpPr>
        <p:spPr>
          <a:xfrm>
            <a:off x="8817709" y="2095500"/>
            <a:ext cx="1384866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21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92" name="Google Shape;692;p21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aphicFrame>
        <p:nvGraphicFramePr>
          <p:cNvPr id="693" name="Google Shape;693;p21"/>
          <p:cNvGraphicFramePr/>
          <p:nvPr/>
        </p:nvGraphicFramePr>
        <p:xfrm>
          <a:off x="10105252" y="29603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1955400"/>
                <a:gridCol w="6107925"/>
              </a:tblGrid>
              <a:tr h="366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rgbClr val="0F243E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ACTOR</a:t>
                      </a:r>
                      <a:endParaRPr sz="1800" u="none" cap="none" strike="noStrike">
                        <a:solidFill>
                          <a:srgbClr val="0F243E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800" u="none" cap="none" strike="noStrike">
                          <a:solidFill>
                            <a:srgbClr val="0F243E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RESPONSABILIDAD DENTRO DEL SISTEMA</a:t>
                      </a:r>
                      <a:endParaRPr sz="1800" u="none" cap="none" strike="noStrike">
                        <a:solidFill>
                          <a:srgbClr val="0F243E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Recepcionista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Registrar clientes y mascotas, gestionar citas, controlar llegada y preparar la cuenta.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Médico veterinario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Consultar antecedentes, registrar atención, diagnóstico, procedimientos, receta, indicaciones y firma.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Técnico veterinario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Apoyar signos vitales y procedimientos dentro de los permisos asignados.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Farmacia / almacén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Gestionar catálogo, lotes, ingresos, kardex, alertas, ajustes autorizados y dispensación.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Cajero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Procesar ventas, pagos, comprobantes, anulaciones autorizadas y cierre de turno.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Administrador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Configurar usuarios, roles, parámetros, reportes y autorizaciones excepcionales.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7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Cliente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8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Consultar sus mascotas, citas y recordatorios autorizados.</a:t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Recepcionista - Iconos gratis de personas" id="694" name="Google Shape;694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37832" y="3522416"/>
            <a:ext cx="552578" cy="5525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Veterinario - Iconos gratis de animales" id="695" name="Google Shape;695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98336" y="4213695"/>
            <a:ext cx="810326" cy="8103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conos gratuitos de Veterinario diseñados por Freepik" id="696" name="Google Shape;696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354519" y="5072641"/>
            <a:ext cx="697959" cy="6979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línica veterinaria - Iconos gratis de asistencia sanitaria y médica" id="697" name="Google Shape;697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284597" y="5832503"/>
            <a:ext cx="801381" cy="8013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ajero - Iconos gratis de profesiones y trabajos" id="698" name="Google Shape;698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323024" y="6705954"/>
            <a:ext cx="703550" cy="703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conos, Logos, Símbolos de Administrador de tareas - Descarga Gratuita PNG,  SVG" id="699" name="Google Shape;699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195380" y="7466968"/>
            <a:ext cx="802451" cy="8024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liente - Iconos gratis de márketing" id="700" name="Google Shape;700;p2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252137" y="8330661"/>
            <a:ext cx="736316" cy="7363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1" name="Google Shape;701;p21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702" name="Google Shape;702;p21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03" name="Google Shape;703;p21"/>
            <p:cNvPicPr preferRelativeResize="0"/>
            <p:nvPr/>
          </p:nvPicPr>
          <p:blipFill rotWithShape="1">
            <a:blip r:embed="rId14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2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709" name="Google Shape;709;p22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10" name="Google Shape;710;p22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22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12" name="Google Shape;712;p22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713" name="Google Shape;713;p22"/>
          <p:cNvGrpSpPr/>
          <p:nvPr/>
        </p:nvGrpSpPr>
        <p:grpSpPr>
          <a:xfrm>
            <a:off x="6652325" y="979425"/>
            <a:ext cx="6024300" cy="979479"/>
            <a:chOff x="328408" y="896700"/>
            <a:chExt cx="6024300" cy="979479"/>
          </a:xfrm>
        </p:grpSpPr>
        <p:sp>
          <p:nvSpPr>
            <p:cNvPr id="714" name="Google Shape;714;p22"/>
            <p:cNvSpPr/>
            <p:nvPr/>
          </p:nvSpPr>
          <p:spPr>
            <a:xfrm rot="10800000">
              <a:off x="328408" y="896700"/>
              <a:ext cx="60243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5" name="Google Shape;715;p22"/>
            <p:cNvSpPr txBox="1"/>
            <p:nvPr/>
          </p:nvSpPr>
          <p:spPr>
            <a:xfrm>
              <a:off x="887993" y="1047879"/>
              <a:ext cx="4772400" cy="82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DIAGRAMAS DE CASOS DE USO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16" name="Google Shape;716;p22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7" name="Google Shape;717;p22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descr="Diagrama UML con cinco actores y diez casos de uso del ERP veterinario." id="718" name="Google Shape;718;p22" title="Casos de uso generales de VetSalud ERP.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4029" y="2921774"/>
            <a:ext cx="8585671" cy="58035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iagrama de casos de uso clínicos para médico, técnico y recepción." id="719" name="Google Shape;719;p22" title="Casos de uso del subsistema clínico.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74188" y="2845197"/>
            <a:ext cx="8585671" cy="58035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20" name="Google Shape;720;p22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721" name="Google Shape;721;p22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22" name="Google Shape;722;p22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2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728" name="Google Shape;728;p23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9" name="Google Shape;729;p23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23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31" name="Google Shape;731;p23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732" name="Google Shape;732;p23"/>
          <p:cNvGrpSpPr/>
          <p:nvPr/>
        </p:nvGrpSpPr>
        <p:grpSpPr>
          <a:xfrm>
            <a:off x="6506547" y="979425"/>
            <a:ext cx="6111629" cy="680100"/>
            <a:chOff x="182633" y="896704"/>
            <a:chExt cx="8246700" cy="680100"/>
          </a:xfrm>
        </p:grpSpPr>
        <p:sp>
          <p:nvSpPr>
            <p:cNvPr id="733" name="Google Shape;733;p23"/>
            <p:cNvSpPr/>
            <p:nvPr/>
          </p:nvSpPr>
          <p:spPr>
            <a:xfrm rot="10800000">
              <a:off x="182633" y="896704"/>
              <a:ext cx="82467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" name="Google Shape;734;p23"/>
            <p:cNvSpPr txBox="1"/>
            <p:nvPr/>
          </p:nvSpPr>
          <p:spPr>
            <a:xfrm>
              <a:off x="814914" y="1052104"/>
              <a:ext cx="7260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DIAGRAMAS DE CASOS DE USO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35" name="Google Shape;735;p23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23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descr="Diagrama de casos de uso comerciales para farmacia, caja y administración." id="737" name="Google Shape;737;p23" title="Casos de uso de farmacia, inventario y ventas.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62592" y="2076551"/>
            <a:ext cx="11809558" cy="72134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38" name="Google Shape;738;p23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739" name="Google Shape;739;p23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40" name="Google Shape;740;p23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2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746" name="Google Shape;746;p24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24"/>
          <p:cNvSpPr/>
          <p:nvPr/>
        </p:nvSpPr>
        <p:spPr>
          <a:xfrm>
            <a:off x="16590198" y="-14140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748" name="Google Shape;748;p24"/>
          <p:cNvGrpSpPr/>
          <p:nvPr/>
        </p:nvGrpSpPr>
        <p:grpSpPr>
          <a:xfrm>
            <a:off x="-1837934" y="1412805"/>
            <a:ext cx="11027065" cy="1712851"/>
            <a:chOff x="0" y="-47625"/>
            <a:chExt cx="3871319" cy="601338"/>
          </a:xfrm>
        </p:grpSpPr>
        <p:sp>
          <p:nvSpPr>
            <p:cNvPr id="749" name="Google Shape;749;p24"/>
            <p:cNvSpPr/>
            <p:nvPr/>
          </p:nvSpPr>
          <p:spPr>
            <a:xfrm>
              <a:off x="866269" y="120434"/>
              <a:ext cx="2631204" cy="342495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24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1" name="Google Shape;751;p24"/>
          <p:cNvSpPr txBox="1"/>
          <p:nvPr/>
        </p:nvSpPr>
        <p:spPr>
          <a:xfrm>
            <a:off x="-861841" y="2140589"/>
            <a:ext cx="10043621" cy="635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4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INTEGRACIÓN DE LOS ELEMENTOS DE DISEÑO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2" name="Google Shape;752;p24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53" name="Google Shape;753;p24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4" name="Google Shape;754;p24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24"/>
          <p:cNvSpPr txBox="1"/>
          <p:nvPr/>
        </p:nvSpPr>
        <p:spPr>
          <a:xfrm>
            <a:off x="644150" y="4100357"/>
            <a:ext cx="7743875" cy="35493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El diseño adopta los tres instrumentos de gestión exigidos —Project Charter, Gantt y WBS— y los complementa con un diagrama de procesos. El Charter fija la frontera y los criterios de éxito; el Gantt ordena la producción; la WBS asegura los entregables; el proceso muestra cómo interactúan las áreas. Sobre esa base se definen la arquitectura, los módulos, los datos y el despliegue.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56" name="Google Shape;756;p24"/>
          <p:cNvSpPr/>
          <p:nvPr/>
        </p:nvSpPr>
        <p:spPr>
          <a:xfrm>
            <a:off x="8746300" y="2198900"/>
            <a:ext cx="1004370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757" name="Google Shape;757;p24"/>
          <p:cNvGraphicFramePr/>
          <p:nvPr/>
        </p:nvGraphicFramePr>
        <p:xfrm>
          <a:off x="9181780" y="26875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2093025"/>
                <a:gridCol w="1905000"/>
                <a:gridCol w="4969300"/>
              </a:tblGrid>
              <a:tr h="583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ELEMENTO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EVIDENCIA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APORTE AL DISEÑO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Project Charter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Informe 5.1 (diap. 18-19)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Define objetivo, alcance, exclusiones, restricciones, riesgos y aceptación.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Gantt chart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Informe 5.2 (diap. 20)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Ordena dependencias y reserva integración, pruebas y transición.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WBS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Informe 5.3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Descompone el sistema y sus productos en paquetes verificables.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Diagrama de procesos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Informe 5.6 (diap. 28)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Valida la interacción entre recepción, clínica, farmacia, caja y sistema.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758" name="Google Shape;758;p24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759" name="Google Shape;759;p24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60" name="Google Shape;76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2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766" name="Google Shape;766;p25"/>
          <p:cNvGrpSpPr/>
          <p:nvPr/>
        </p:nvGrpSpPr>
        <p:grpSpPr>
          <a:xfrm>
            <a:off x="509757" y="3219404"/>
            <a:ext cx="2778725" cy="5041564"/>
            <a:chOff x="0" y="-38100"/>
            <a:chExt cx="1040052" cy="1397054"/>
          </a:xfrm>
        </p:grpSpPr>
        <p:sp>
          <p:nvSpPr>
            <p:cNvPr id="767" name="Google Shape;767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69" name="Google Shape;769;p25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25"/>
          <p:cNvSpPr/>
          <p:nvPr/>
        </p:nvSpPr>
        <p:spPr>
          <a:xfrm>
            <a:off x="16590198" y="-14140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771" name="Google Shape;771;p25"/>
          <p:cNvGrpSpPr/>
          <p:nvPr/>
        </p:nvGrpSpPr>
        <p:grpSpPr>
          <a:xfrm>
            <a:off x="1143086" y="2687194"/>
            <a:ext cx="1547861" cy="1536821"/>
            <a:chOff x="2125482" y="2588485"/>
            <a:chExt cx="1547861" cy="1536821"/>
          </a:xfrm>
        </p:grpSpPr>
        <p:sp>
          <p:nvSpPr>
            <p:cNvPr id="772" name="Google Shape;772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774" name="Google Shape;774;p25"/>
          <p:cNvSpPr txBox="1"/>
          <p:nvPr/>
        </p:nvSpPr>
        <p:spPr>
          <a:xfrm>
            <a:off x="697913" y="4490241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Modularidad</a:t>
            </a: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: 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0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Cada dominio funcional posee controladores, servicios y persistencia definidos.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775" name="Google Shape;775;p25"/>
          <p:cNvGrpSpPr/>
          <p:nvPr/>
        </p:nvGrpSpPr>
        <p:grpSpPr>
          <a:xfrm>
            <a:off x="3630393" y="703624"/>
            <a:ext cx="11070606" cy="1712851"/>
            <a:chOff x="0" y="-47625"/>
            <a:chExt cx="3886605" cy="601338"/>
          </a:xfrm>
        </p:grpSpPr>
        <p:sp>
          <p:nvSpPr>
            <p:cNvPr id="776" name="Google Shape;776;p25"/>
            <p:cNvSpPr/>
            <p:nvPr/>
          </p:nvSpPr>
          <p:spPr>
            <a:xfrm>
              <a:off x="15286" y="120059"/>
              <a:ext cx="3871319" cy="342495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25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78" name="Google Shape;778;p25"/>
          <p:cNvSpPr txBox="1"/>
          <p:nvPr/>
        </p:nvSpPr>
        <p:spPr>
          <a:xfrm>
            <a:off x="4122190" y="1416458"/>
            <a:ext cx="10043621" cy="635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4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PRINCIPIOS DE DISEÑO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779" name="Google Shape;779;p25"/>
          <p:cNvGrpSpPr/>
          <p:nvPr/>
        </p:nvGrpSpPr>
        <p:grpSpPr>
          <a:xfrm>
            <a:off x="3447882" y="3219404"/>
            <a:ext cx="2778725" cy="5041564"/>
            <a:chOff x="0" y="-38100"/>
            <a:chExt cx="1040052" cy="1397054"/>
          </a:xfrm>
        </p:grpSpPr>
        <p:sp>
          <p:nvSpPr>
            <p:cNvPr id="780" name="Google Shape;780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2" name="Google Shape;782;p25"/>
          <p:cNvGrpSpPr/>
          <p:nvPr/>
        </p:nvGrpSpPr>
        <p:grpSpPr>
          <a:xfrm>
            <a:off x="6377446" y="3250750"/>
            <a:ext cx="2778725" cy="5041564"/>
            <a:chOff x="0" y="-38100"/>
            <a:chExt cx="1040052" cy="1397054"/>
          </a:xfrm>
        </p:grpSpPr>
        <p:sp>
          <p:nvSpPr>
            <p:cNvPr id="783" name="Google Shape;783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5" name="Google Shape;785;p25"/>
          <p:cNvGrpSpPr/>
          <p:nvPr/>
        </p:nvGrpSpPr>
        <p:grpSpPr>
          <a:xfrm>
            <a:off x="9315571" y="3250750"/>
            <a:ext cx="2778725" cy="5041564"/>
            <a:chOff x="0" y="-38100"/>
            <a:chExt cx="1040052" cy="1397054"/>
          </a:xfrm>
        </p:grpSpPr>
        <p:sp>
          <p:nvSpPr>
            <p:cNvPr id="786" name="Google Shape;786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8" name="Google Shape;788;p25"/>
          <p:cNvGrpSpPr/>
          <p:nvPr/>
        </p:nvGrpSpPr>
        <p:grpSpPr>
          <a:xfrm>
            <a:off x="12262711" y="3213224"/>
            <a:ext cx="2778725" cy="5041564"/>
            <a:chOff x="0" y="-38100"/>
            <a:chExt cx="1040052" cy="1397054"/>
          </a:xfrm>
        </p:grpSpPr>
        <p:sp>
          <p:nvSpPr>
            <p:cNvPr id="789" name="Google Shape;789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1" name="Google Shape;791;p25"/>
          <p:cNvGrpSpPr/>
          <p:nvPr/>
        </p:nvGrpSpPr>
        <p:grpSpPr>
          <a:xfrm>
            <a:off x="15200836" y="3213224"/>
            <a:ext cx="2778725" cy="5041564"/>
            <a:chOff x="0" y="-38100"/>
            <a:chExt cx="1040052" cy="1397054"/>
          </a:xfrm>
        </p:grpSpPr>
        <p:sp>
          <p:nvSpPr>
            <p:cNvPr id="792" name="Google Shape;792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4" name="Google Shape;794;p25"/>
          <p:cNvGrpSpPr/>
          <p:nvPr/>
        </p:nvGrpSpPr>
        <p:grpSpPr>
          <a:xfrm>
            <a:off x="4081211" y="2699105"/>
            <a:ext cx="1547861" cy="1536821"/>
            <a:chOff x="2125482" y="2588485"/>
            <a:chExt cx="1547861" cy="1536821"/>
          </a:xfrm>
        </p:grpSpPr>
        <p:sp>
          <p:nvSpPr>
            <p:cNvPr id="795" name="Google Shape;795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grpSp>
        <p:nvGrpSpPr>
          <p:cNvPr id="797" name="Google Shape;797;p25"/>
          <p:cNvGrpSpPr/>
          <p:nvPr/>
        </p:nvGrpSpPr>
        <p:grpSpPr>
          <a:xfrm>
            <a:off x="6992877" y="2702211"/>
            <a:ext cx="1547861" cy="1536821"/>
            <a:chOff x="2125482" y="2588485"/>
            <a:chExt cx="1547861" cy="1536821"/>
          </a:xfrm>
        </p:grpSpPr>
        <p:sp>
          <p:nvSpPr>
            <p:cNvPr id="798" name="Google Shape;798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800" name="Google Shape;800;p25"/>
          <p:cNvGrpSpPr/>
          <p:nvPr/>
        </p:nvGrpSpPr>
        <p:grpSpPr>
          <a:xfrm>
            <a:off x="9903751" y="2699105"/>
            <a:ext cx="1547861" cy="1536821"/>
            <a:chOff x="2125482" y="2588485"/>
            <a:chExt cx="1547861" cy="1536821"/>
          </a:xfrm>
        </p:grpSpPr>
        <p:sp>
          <p:nvSpPr>
            <p:cNvPr id="801" name="Google Shape;801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803" name="Google Shape;803;p25"/>
          <p:cNvGrpSpPr/>
          <p:nvPr/>
        </p:nvGrpSpPr>
        <p:grpSpPr>
          <a:xfrm>
            <a:off x="12905395" y="2699105"/>
            <a:ext cx="1547861" cy="1536821"/>
            <a:chOff x="2125482" y="2588485"/>
            <a:chExt cx="1547861" cy="1536821"/>
          </a:xfrm>
        </p:grpSpPr>
        <p:sp>
          <p:nvSpPr>
            <p:cNvPr id="804" name="Google Shape;804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grpSp>
        <p:nvGrpSpPr>
          <p:cNvPr id="806" name="Google Shape;806;p25"/>
          <p:cNvGrpSpPr/>
          <p:nvPr/>
        </p:nvGrpSpPr>
        <p:grpSpPr>
          <a:xfrm>
            <a:off x="15811989" y="2699105"/>
            <a:ext cx="1547861" cy="1536821"/>
            <a:chOff x="2125482" y="2588485"/>
            <a:chExt cx="1547861" cy="1536821"/>
          </a:xfrm>
        </p:grpSpPr>
        <p:sp>
          <p:nvSpPr>
            <p:cNvPr id="807" name="Google Shape;807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06</a:t>
              </a:r>
              <a:endParaRPr/>
            </a:p>
          </p:txBody>
        </p:sp>
      </p:grpSp>
      <p:sp>
        <p:nvSpPr>
          <p:cNvPr id="809" name="Google Shape;809;p25"/>
          <p:cNvSpPr txBox="1"/>
          <p:nvPr/>
        </p:nvSpPr>
        <p:spPr>
          <a:xfrm>
            <a:off x="3757187" y="4578298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Responsabilidad única: 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60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Presentación, reglas de negocio y acceso a datos permanecen separados.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6694754" y="4611113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Seguridad por diseño: 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0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Privilegio mínimo, validación en servidor, sesiones, auditoría y respaldo.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527166" y="4663365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Consistencia transaccional: 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0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Una venta actualiza pagos, stock, caja y auditoría como una unidad.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12460222" y="4663365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Trazabilidad clínica: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60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Las consultas firmadas no se sobrescriben y conservan autor y fecha.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15338378" y="4710520"/>
            <a:ext cx="2613986" cy="2046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Usabilidad operativa: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0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Navegación por rol, búsqueda rápida y mensajes que orientan la corrección.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4" name="Google Shape;814;p25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15" name="Google Shape;815;p25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816" name="Google Shape;816;p25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17" name="Google Shape;817;p25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18" name="Google Shape;81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2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824" name="Google Shape;824;p26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25" name="Google Shape;825;p26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26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27" name="Google Shape;827;p26"/>
          <p:cNvGrpSpPr/>
          <p:nvPr/>
        </p:nvGrpSpPr>
        <p:grpSpPr>
          <a:xfrm>
            <a:off x="6783450" y="991475"/>
            <a:ext cx="5200860" cy="680100"/>
            <a:chOff x="459533" y="923321"/>
            <a:chExt cx="5200860" cy="680100"/>
          </a:xfrm>
        </p:grpSpPr>
        <p:sp>
          <p:nvSpPr>
            <p:cNvPr id="828" name="Google Shape;828;p26"/>
            <p:cNvSpPr/>
            <p:nvPr/>
          </p:nvSpPr>
          <p:spPr>
            <a:xfrm rot="10800000">
              <a:off x="459533" y="923321"/>
              <a:ext cx="47712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9" name="Google Shape;829;p26"/>
            <p:cNvSpPr txBox="1"/>
            <p:nvPr/>
          </p:nvSpPr>
          <p:spPr>
            <a:xfrm>
              <a:off x="887993" y="1047879"/>
              <a:ext cx="4772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ARQUITECTURA LÓGICA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30" name="Google Shape;830;p26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26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32" name="Google Shape;832;p26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Diagrama de cuatro capas: presentación, control, negocio Java y persistencia." id="833" name="Google Shape;833;p26" title="Arquitectura lógica por capas de la alternativa seleccionada.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24801" y="2377529"/>
            <a:ext cx="10972798" cy="7004062"/>
          </a:xfrm>
          <a:prstGeom prst="rect">
            <a:avLst/>
          </a:prstGeom>
          <a:noFill/>
          <a:ln>
            <a:noFill/>
          </a:ln>
        </p:spPr>
      </p:pic>
      <p:sp>
        <p:nvSpPr>
          <p:cNvPr id="834" name="Google Shape;834;p26"/>
          <p:cNvSpPr txBox="1"/>
          <p:nvPr/>
        </p:nvSpPr>
        <p:spPr>
          <a:xfrm>
            <a:off x="644150" y="4100357"/>
            <a:ext cx="7743900" cy="3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La arquitectura utiliza cuatro capas. La presentación muestra información y recibe entradas; los controladores gestionan navegación, sesiones y validación inicial; los servicios Java ejecutan reglas y transacciones; la persistencia administra consultas, relaciones e integridad en PostgreSQL. Los módulos no acceden directamente a la base desde las vistas.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835" name="Google Shape;835;p26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36" name="Google Shape;836;p26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37" name="Google Shape;837;p26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843" name="Google Shape;843;p2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44" name="Google Shape;844;p2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5" name="Google Shape;845;p2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46" name="Google Shape;846;p27"/>
          <p:cNvGrpSpPr/>
          <p:nvPr/>
        </p:nvGrpSpPr>
        <p:grpSpPr>
          <a:xfrm>
            <a:off x="6783275" y="1006050"/>
            <a:ext cx="5200986" cy="952858"/>
            <a:chOff x="459358" y="923325"/>
            <a:chExt cx="5200986" cy="952858"/>
          </a:xfrm>
        </p:grpSpPr>
        <p:sp>
          <p:nvSpPr>
            <p:cNvPr id="847" name="Google Shape;847;p27"/>
            <p:cNvSpPr/>
            <p:nvPr/>
          </p:nvSpPr>
          <p:spPr>
            <a:xfrm rot="10800000">
              <a:off x="459358" y="923325"/>
              <a:ext cx="40137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" name="Google Shape;848;p27"/>
            <p:cNvSpPr txBox="1"/>
            <p:nvPr/>
          </p:nvSpPr>
          <p:spPr>
            <a:xfrm>
              <a:off x="887993" y="1047879"/>
              <a:ext cx="4772351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DISEÑO MODULAR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49" name="Google Shape;849;p2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p2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1" name="Google Shape;851;p2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52" name="Google Shape;852;p27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Los módulos comparten un núcleo transversal para evitar duplicar seguridad, auditoría, parámetros y notificaciones. La integración se realiza mediante servicios Java; por ejemplo, el módulo clínico solicita un procedimiento, farmacia valida el producto y ventas compone la cuenta sin alterar directamente las tablas de otro módulo.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descr="Diagrama con seis módulos conectados a un núcleo de seguridad, auditoría y reportes." id="853" name="Google Shape;853;p27" title="Diseño modular y núcleo transversal de VetSalud ERP.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63256" y="2444913"/>
            <a:ext cx="9997433" cy="693667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4" name="Google Shape;854;p2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55" name="Google Shape;855;p2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56" name="Google Shape;856;p27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28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862" name="Google Shape;862;p28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3" name="Google Shape;863;p28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4" name="Google Shape;864;p28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65" name="Google Shape;865;p28"/>
          <p:cNvGrpSpPr/>
          <p:nvPr/>
        </p:nvGrpSpPr>
        <p:grpSpPr>
          <a:xfrm>
            <a:off x="6783425" y="962325"/>
            <a:ext cx="5200885" cy="680100"/>
            <a:chOff x="459508" y="923312"/>
            <a:chExt cx="5200885" cy="680100"/>
          </a:xfrm>
        </p:grpSpPr>
        <p:sp>
          <p:nvSpPr>
            <p:cNvPr id="866" name="Google Shape;866;p28"/>
            <p:cNvSpPr/>
            <p:nvPr/>
          </p:nvSpPr>
          <p:spPr>
            <a:xfrm rot="10800000">
              <a:off x="459508" y="923312"/>
              <a:ext cx="48441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" name="Google Shape;867;p28"/>
            <p:cNvSpPr txBox="1"/>
            <p:nvPr/>
          </p:nvSpPr>
          <p:spPr>
            <a:xfrm>
              <a:off x="887993" y="1047879"/>
              <a:ext cx="4772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DIAGRAMA DE PROCESOS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68" name="Google Shape;868;p28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9" name="Google Shape;869;p28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70" name="Google Shape;870;p28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71" name="Google Shape;871;p28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El proceso seleccionado representa el escenario de mayor integración: una mascota llega con cita, el médico registra la atención, la receta pasa a farmacia, caja cobra servicios y productos, y el sistema actualiza la historia clínica, el stock y la caja. La rama sin stock obliga a informar y proponer una alternativa antes del cobro.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descr="Diagrama por carriles para recepción, médico, farmacia, caja y sistema." id="872" name="Google Shape;872;p28" title="Proceso de atención integral y cierre de venta.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53400" y="2574694"/>
            <a:ext cx="9677399" cy="6581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3" name="Google Shape;873;p28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74" name="Google Shape;874;p28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75" name="Google Shape;875;p28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2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881" name="Google Shape;881;p29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82" name="Google Shape;882;p29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29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84" name="Google Shape;884;p29"/>
          <p:cNvGrpSpPr/>
          <p:nvPr/>
        </p:nvGrpSpPr>
        <p:grpSpPr>
          <a:xfrm>
            <a:off x="6783425" y="1006050"/>
            <a:ext cx="5200836" cy="952858"/>
            <a:chOff x="459508" y="923325"/>
            <a:chExt cx="5200836" cy="952858"/>
          </a:xfrm>
        </p:grpSpPr>
        <p:sp>
          <p:nvSpPr>
            <p:cNvPr id="885" name="Google Shape;885;p29"/>
            <p:cNvSpPr/>
            <p:nvPr/>
          </p:nvSpPr>
          <p:spPr>
            <a:xfrm rot="10800000">
              <a:off x="459508" y="923325"/>
              <a:ext cx="48441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6" name="Google Shape;886;p29"/>
            <p:cNvSpPr txBox="1"/>
            <p:nvPr/>
          </p:nvSpPr>
          <p:spPr>
            <a:xfrm>
              <a:off x="887993" y="1047879"/>
              <a:ext cx="4772351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MODELO LÓGICO DE DATOS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87" name="Google Shape;887;p29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8" name="Google Shape;888;p29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89" name="Google Shape;889;p29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Diagrama entidad-relación con usuarios, clientes, mascotas, citas, consultas, recetas, productos y ventas." id="890" name="Google Shape;890;p29" title="Modelo lógico de datos del sistema."/>
          <p:cNvPicPr preferRelativeResize="0"/>
          <p:nvPr/>
        </p:nvPicPr>
        <p:blipFill rotWithShape="1">
          <a:blip r:embed="rId7">
            <a:alphaModFix/>
          </a:blip>
          <a:srcRect b="12069" l="0" r="0" t="0"/>
          <a:stretch/>
        </p:blipFill>
        <p:spPr>
          <a:xfrm>
            <a:off x="7620000" y="2424201"/>
            <a:ext cx="10668001" cy="6448795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29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El modelo relacional conserva al cliente como propietario, a la mascota como sujeto clínico y a la consulta como eje de la historia. Los procedimientos y recetas se detallan para permitir múltiples conceptos. Ventas e inventario se relacionan por producto y detalle, lo que permite rastrear cada salida y mantener el kardex.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892" name="Google Shape;892;p29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93" name="Google Shape;893;p29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94" name="Google Shape;894;p29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3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900" name="Google Shape;900;p31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01" name="Google Shape;901;p31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31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03" name="Google Shape;903;p31"/>
          <p:cNvGrpSpPr/>
          <p:nvPr/>
        </p:nvGrpSpPr>
        <p:grpSpPr>
          <a:xfrm>
            <a:off x="6783425" y="1006050"/>
            <a:ext cx="5200836" cy="952858"/>
            <a:chOff x="459508" y="923325"/>
            <a:chExt cx="5200836" cy="952858"/>
          </a:xfrm>
        </p:grpSpPr>
        <p:sp>
          <p:nvSpPr>
            <p:cNvPr id="904" name="Google Shape;904;p31"/>
            <p:cNvSpPr/>
            <p:nvPr/>
          </p:nvSpPr>
          <p:spPr>
            <a:xfrm rot="10800000">
              <a:off x="459508" y="923325"/>
              <a:ext cx="45381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5" name="Google Shape;905;p31"/>
            <p:cNvSpPr txBox="1"/>
            <p:nvPr/>
          </p:nvSpPr>
          <p:spPr>
            <a:xfrm>
              <a:off x="887993" y="1047879"/>
              <a:ext cx="4772351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DISEÑO DE DESPLIEGUE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906" name="Google Shape;906;p31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7" name="Google Shape;907;p31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08" name="Google Shape;908;p31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Diagrama con puestos de trabajo, servidor de aplicaciones, base de datos, respaldo y servicios externos." id="909" name="Google Shape;909;p31" title="Despliegue propuesto para una sede veterinaria."/>
          <p:cNvPicPr preferRelativeResize="0"/>
          <p:nvPr/>
        </p:nvPicPr>
        <p:blipFill rotWithShape="1">
          <a:blip r:embed="rId7">
            <a:alphaModFix/>
          </a:blip>
          <a:srcRect b="17501" l="0" r="0" t="0"/>
          <a:stretch/>
        </p:blipFill>
        <p:spPr>
          <a:xfrm>
            <a:off x="8063257" y="2581386"/>
            <a:ext cx="10450520" cy="6575009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31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Los usuarios acceden por HTTPS desde los puestos de trabajo. Tomcat 9 ejecuta la aplicación Java y se comunica con PostgreSQL mediante una red restringida. Las copias se almacenan cifradas y se validan mediante restauraciones programadas. Los servicios externos reciben únicamente la información mínima necesaria..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911" name="Google Shape;911;p31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912" name="Google Shape;912;p31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913" name="Google Shape;913;p31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7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32"/>
          <p:cNvSpPr/>
          <p:nvPr/>
        </p:nvSpPr>
        <p:spPr>
          <a:xfrm>
            <a:off x="0" y="0"/>
            <a:ext cx="1879092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cxnSp>
        <p:nvCxnSpPr>
          <p:cNvPr id="919" name="Google Shape;919;p32"/>
          <p:cNvCxnSpPr/>
          <p:nvPr/>
        </p:nvCxnSpPr>
        <p:spPr>
          <a:xfrm>
            <a:off x="251123" y="9105900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20" name="Google Shape;920;p32"/>
          <p:cNvSpPr/>
          <p:nvPr/>
        </p:nvSpPr>
        <p:spPr>
          <a:xfrm flipH="1">
            <a:off x="688974" y="9419245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4" y="0"/>
                </a:moveTo>
                <a:lnTo>
                  <a:pt x="0" y="0"/>
                </a:lnTo>
                <a:lnTo>
                  <a:pt x="0" y="337125"/>
                </a:lnTo>
                <a:lnTo>
                  <a:pt x="707704" y="337125"/>
                </a:lnTo>
                <a:lnTo>
                  <a:pt x="70770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21" name="Google Shape;921;p32"/>
          <p:cNvGrpSpPr/>
          <p:nvPr/>
        </p:nvGrpSpPr>
        <p:grpSpPr>
          <a:xfrm>
            <a:off x="152387" y="2776725"/>
            <a:ext cx="18414214" cy="5233917"/>
            <a:chOff x="-289359" y="-38100"/>
            <a:chExt cx="7188279" cy="2092144"/>
          </a:xfrm>
        </p:grpSpPr>
        <p:sp>
          <p:nvSpPr>
            <p:cNvPr id="922" name="Google Shape;922;p32"/>
            <p:cNvSpPr/>
            <p:nvPr/>
          </p:nvSpPr>
          <p:spPr>
            <a:xfrm>
              <a:off x="-289359" y="0"/>
              <a:ext cx="7188279" cy="2054044"/>
            </a:xfrm>
            <a:custGeom>
              <a:rect b="b" l="l" r="r" t="t"/>
              <a:pathLst>
                <a:path extrusionOk="0" h="2054044" w="6487726">
                  <a:moveTo>
                    <a:pt x="14310" y="0"/>
                  </a:moveTo>
                  <a:lnTo>
                    <a:pt x="6473416" y="0"/>
                  </a:lnTo>
                  <a:cubicBezTo>
                    <a:pt x="6477212" y="0"/>
                    <a:pt x="6480852" y="1508"/>
                    <a:pt x="6483535" y="4191"/>
                  </a:cubicBezTo>
                  <a:cubicBezTo>
                    <a:pt x="6486219" y="6875"/>
                    <a:pt x="6487726" y="10515"/>
                    <a:pt x="6487726" y="14310"/>
                  </a:cubicBezTo>
                  <a:lnTo>
                    <a:pt x="6487726" y="2039734"/>
                  </a:lnTo>
                  <a:cubicBezTo>
                    <a:pt x="6487726" y="2043530"/>
                    <a:pt x="6486219" y="2047169"/>
                    <a:pt x="6483535" y="2049853"/>
                  </a:cubicBezTo>
                  <a:cubicBezTo>
                    <a:pt x="6480852" y="2052537"/>
                    <a:pt x="6477212" y="2054044"/>
                    <a:pt x="6473416" y="2054044"/>
                  </a:cubicBezTo>
                  <a:lnTo>
                    <a:pt x="14310" y="2054044"/>
                  </a:lnTo>
                  <a:cubicBezTo>
                    <a:pt x="10515" y="2054044"/>
                    <a:pt x="6875" y="2052537"/>
                    <a:pt x="4191" y="2049853"/>
                  </a:cubicBezTo>
                  <a:cubicBezTo>
                    <a:pt x="1508" y="2047169"/>
                    <a:pt x="0" y="2043530"/>
                    <a:pt x="0" y="2039734"/>
                  </a:cubicBezTo>
                  <a:lnTo>
                    <a:pt x="0" y="14310"/>
                  </a:lnTo>
                  <a:cubicBezTo>
                    <a:pt x="0" y="10515"/>
                    <a:pt x="1508" y="6875"/>
                    <a:pt x="4191" y="4191"/>
                  </a:cubicBezTo>
                  <a:cubicBezTo>
                    <a:pt x="6875" y="1508"/>
                    <a:pt x="10515" y="0"/>
                    <a:pt x="143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32"/>
            <p:cNvSpPr txBox="1"/>
            <p:nvPr/>
          </p:nvSpPr>
          <p:spPr>
            <a:xfrm>
              <a:off x="0" y="-38100"/>
              <a:ext cx="6487726" cy="209214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4" name="Google Shape;924;p32"/>
          <p:cNvGrpSpPr/>
          <p:nvPr/>
        </p:nvGrpSpPr>
        <p:grpSpPr>
          <a:xfrm>
            <a:off x="779814" y="3496904"/>
            <a:ext cx="1233729" cy="695531"/>
            <a:chOff x="14263" y="-38100"/>
            <a:chExt cx="788451" cy="444500"/>
          </a:xfrm>
        </p:grpSpPr>
        <p:sp>
          <p:nvSpPr>
            <p:cNvPr id="925" name="Google Shape;925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7" name="Google Shape;927;p32"/>
          <p:cNvSpPr txBox="1"/>
          <p:nvPr/>
        </p:nvSpPr>
        <p:spPr>
          <a:xfrm>
            <a:off x="657891" y="5071061"/>
            <a:ext cx="2009109" cy="1894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Menú lateral por rol, título visible, ruta del módulo y acciones principales consistentes.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28" name="Google Shape;928;p32"/>
          <p:cNvSpPr txBox="1"/>
          <p:nvPr/>
        </p:nvSpPr>
        <p:spPr>
          <a:xfrm>
            <a:off x="757496" y="4449125"/>
            <a:ext cx="1826243" cy="347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NAVEGACIÓN</a:t>
            </a:r>
            <a:endParaRPr/>
          </a:p>
        </p:txBody>
      </p:sp>
      <p:sp>
        <p:nvSpPr>
          <p:cNvPr id="929" name="Google Shape;929;p32"/>
          <p:cNvSpPr txBox="1"/>
          <p:nvPr/>
        </p:nvSpPr>
        <p:spPr>
          <a:xfrm>
            <a:off x="2528521" y="1526415"/>
            <a:ext cx="7888146" cy="716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289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LINEAMIENTOS DE INTERFAZ</a:t>
            </a:r>
            <a:endParaRPr/>
          </a:p>
        </p:txBody>
      </p:sp>
      <p:sp>
        <p:nvSpPr>
          <p:cNvPr id="930" name="Google Shape;930;p32"/>
          <p:cNvSpPr/>
          <p:nvPr/>
        </p:nvSpPr>
        <p:spPr>
          <a:xfrm rot="10800000">
            <a:off x="15982108" y="8365767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4" y="0"/>
                </a:lnTo>
                <a:lnTo>
                  <a:pt x="2927694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31" name="Google Shape;931;p32"/>
          <p:cNvGrpSpPr/>
          <p:nvPr/>
        </p:nvGrpSpPr>
        <p:grpSpPr>
          <a:xfrm>
            <a:off x="3006288" y="3538646"/>
            <a:ext cx="1233729" cy="695531"/>
            <a:chOff x="14263" y="-38100"/>
            <a:chExt cx="788451" cy="444500"/>
          </a:xfrm>
        </p:grpSpPr>
        <p:sp>
          <p:nvSpPr>
            <p:cNvPr id="932" name="Google Shape;93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4" name="Google Shape;934;p32"/>
          <p:cNvSpPr txBox="1"/>
          <p:nvPr/>
        </p:nvSpPr>
        <p:spPr>
          <a:xfrm>
            <a:off x="2884365" y="5112803"/>
            <a:ext cx="2202167" cy="22155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Etiquetas permanentes, campos obligatorios identificados, validación inmediata y conservación de datos ante error.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35" name="Google Shape;935;p32"/>
          <p:cNvSpPr txBox="1"/>
          <p:nvPr/>
        </p:nvSpPr>
        <p:spPr>
          <a:xfrm>
            <a:off x="2983970" y="4490867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FORMULARIOS</a:t>
            </a:r>
            <a:endParaRPr/>
          </a:p>
        </p:txBody>
      </p:sp>
      <p:grpSp>
        <p:nvGrpSpPr>
          <p:cNvPr id="936" name="Google Shape;936;p32"/>
          <p:cNvGrpSpPr/>
          <p:nvPr/>
        </p:nvGrpSpPr>
        <p:grpSpPr>
          <a:xfrm>
            <a:off x="5255080" y="3538646"/>
            <a:ext cx="1233729" cy="695531"/>
            <a:chOff x="14263" y="-38100"/>
            <a:chExt cx="788451" cy="444500"/>
          </a:xfrm>
        </p:grpSpPr>
        <p:sp>
          <p:nvSpPr>
            <p:cNvPr id="937" name="Google Shape;937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9" name="Google Shape;939;p32"/>
          <p:cNvSpPr txBox="1"/>
          <p:nvPr/>
        </p:nvSpPr>
        <p:spPr>
          <a:xfrm>
            <a:off x="5133157" y="5112803"/>
            <a:ext cx="2009109" cy="1574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Búsqueda, filtros, paginación, estado visible y acciones protegidas por confirmación.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40" name="Google Shape;940;p32"/>
          <p:cNvSpPr txBox="1"/>
          <p:nvPr/>
        </p:nvSpPr>
        <p:spPr>
          <a:xfrm>
            <a:off x="5232762" y="4490867"/>
            <a:ext cx="2376380" cy="347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TABLAS</a:t>
            </a:r>
            <a:endParaRPr/>
          </a:p>
        </p:txBody>
      </p:sp>
      <p:grpSp>
        <p:nvGrpSpPr>
          <p:cNvPr id="941" name="Google Shape;941;p32"/>
          <p:cNvGrpSpPr/>
          <p:nvPr/>
        </p:nvGrpSpPr>
        <p:grpSpPr>
          <a:xfrm>
            <a:off x="7289993" y="3581286"/>
            <a:ext cx="1233729" cy="695531"/>
            <a:chOff x="14263" y="-38100"/>
            <a:chExt cx="788451" cy="444500"/>
          </a:xfrm>
        </p:grpSpPr>
        <p:sp>
          <p:nvSpPr>
            <p:cNvPr id="942" name="Google Shape;94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4" name="Google Shape;944;p32"/>
          <p:cNvSpPr txBox="1"/>
          <p:nvPr/>
        </p:nvSpPr>
        <p:spPr>
          <a:xfrm>
            <a:off x="7168070" y="5155443"/>
            <a:ext cx="2202167" cy="1574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Indicar qué ocurrió, por qué y cómo corregirlo; no depender únicamente del color.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45" name="Google Shape;945;p32"/>
          <p:cNvSpPr txBox="1"/>
          <p:nvPr/>
        </p:nvSpPr>
        <p:spPr>
          <a:xfrm>
            <a:off x="7267675" y="4533507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MENSAJES</a:t>
            </a:r>
            <a:endParaRPr/>
          </a:p>
        </p:txBody>
      </p:sp>
      <p:grpSp>
        <p:nvGrpSpPr>
          <p:cNvPr id="946" name="Google Shape;946;p32"/>
          <p:cNvGrpSpPr/>
          <p:nvPr/>
        </p:nvGrpSpPr>
        <p:grpSpPr>
          <a:xfrm>
            <a:off x="9614285" y="3521669"/>
            <a:ext cx="1233729" cy="695531"/>
            <a:chOff x="14263" y="-38100"/>
            <a:chExt cx="788451" cy="444500"/>
          </a:xfrm>
        </p:grpSpPr>
        <p:sp>
          <p:nvSpPr>
            <p:cNvPr id="947" name="Google Shape;947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9" name="Google Shape;949;p32"/>
          <p:cNvSpPr txBox="1"/>
          <p:nvPr/>
        </p:nvSpPr>
        <p:spPr>
          <a:xfrm>
            <a:off x="9492362" y="5095826"/>
            <a:ext cx="2009109" cy="1894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Alertas destacadas, autor y fecha visibles, firma controlada y adendas diferenciadas.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50" name="Google Shape;950;p32"/>
          <p:cNvSpPr txBox="1"/>
          <p:nvPr/>
        </p:nvSpPr>
        <p:spPr>
          <a:xfrm>
            <a:off x="9482151" y="4473890"/>
            <a:ext cx="2376380" cy="347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DATOS CLÍNICOS</a:t>
            </a:r>
            <a:endParaRPr/>
          </a:p>
        </p:txBody>
      </p:sp>
      <p:grpSp>
        <p:nvGrpSpPr>
          <p:cNvPr id="951" name="Google Shape;951;p32"/>
          <p:cNvGrpSpPr/>
          <p:nvPr/>
        </p:nvGrpSpPr>
        <p:grpSpPr>
          <a:xfrm>
            <a:off x="11734879" y="3557696"/>
            <a:ext cx="1233729" cy="695531"/>
            <a:chOff x="14263" y="-38100"/>
            <a:chExt cx="788451" cy="444500"/>
          </a:xfrm>
        </p:grpSpPr>
        <p:sp>
          <p:nvSpPr>
            <p:cNvPr id="952" name="Google Shape;95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4" name="Google Shape;954;p32"/>
          <p:cNvSpPr txBox="1"/>
          <p:nvPr/>
        </p:nvSpPr>
        <p:spPr>
          <a:xfrm>
            <a:off x="11612956" y="5131853"/>
            <a:ext cx="2202167" cy="1574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Totales, lotes, vencimientos y estados mostrados antes de confirmar una transacción.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55" name="Google Shape;955;p32"/>
          <p:cNvSpPr txBox="1"/>
          <p:nvPr/>
        </p:nvSpPr>
        <p:spPr>
          <a:xfrm>
            <a:off x="11712561" y="4509917"/>
            <a:ext cx="2376380" cy="353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FARMACIA Y CAJA</a:t>
            </a:r>
            <a:endParaRPr/>
          </a:p>
        </p:txBody>
      </p:sp>
      <p:grpSp>
        <p:nvGrpSpPr>
          <p:cNvPr id="956" name="Google Shape;956;p32"/>
          <p:cNvGrpSpPr/>
          <p:nvPr/>
        </p:nvGrpSpPr>
        <p:grpSpPr>
          <a:xfrm>
            <a:off x="13925427" y="3538646"/>
            <a:ext cx="1233729" cy="695531"/>
            <a:chOff x="14263" y="-38100"/>
            <a:chExt cx="788451" cy="444500"/>
          </a:xfrm>
        </p:grpSpPr>
        <p:sp>
          <p:nvSpPr>
            <p:cNvPr id="957" name="Google Shape;957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9" name="Google Shape;959;p32"/>
          <p:cNvSpPr txBox="1"/>
          <p:nvPr/>
        </p:nvSpPr>
        <p:spPr>
          <a:xfrm>
            <a:off x="13803504" y="5112803"/>
            <a:ext cx="2202167" cy="12537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Contraste suficiente, orden lógico de tabulación y objetivos de selección claros.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60" name="Google Shape;960;p32"/>
          <p:cNvSpPr txBox="1"/>
          <p:nvPr/>
        </p:nvSpPr>
        <p:spPr>
          <a:xfrm>
            <a:off x="13903109" y="4490867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ACCESIBILIDAD</a:t>
            </a:r>
            <a:endParaRPr/>
          </a:p>
        </p:txBody>
      </p:sp>
      <p:grpSp>
        <p:nvGrpSpPr>
          <p:cNvPr id="961" name="Google Shape;961;p32"/>
          <p:cNvGrpSpPr/>
          <p:nvPr/>
        </p:nvGrpSpPr>
        <p:grpSpPr>
          <a:xfrm>
            <a:off x="16212226" y="3588705"/>
            <a:ext cx="1233729" cy="695531"/>
            <a:chOff x="14263" y="-38100"/>
            <a:chExt cx="788451" cy="444500"/>
          </a:xfrm>
        </p:grpSpPr>
        <p:sp>
          <p:nvSpPr>
            <p:cNvPr id="962" name="Google Shape;96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4" name="Google Shape;964;p32"/>
          <p:cNvSpPr txBox="1"/>
          <p:nvPr/>
        </p:nvSpPr>
        <p:spPr>
          <a:xfrm>
            <a:off x="16090300" y="5162850"/>
            <a:ext cx="22023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Diseño utilizable en resoluciones de escritorio; el portal del cliente se adapta a dispositivos móviles.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65" name="Google Shape;965;p32"/>
          <p:cNvSpPr txBox="1"/>
          <p:nvPr/>
        </p:nvSpPr>
        <p:spPr>
          <a:xfrm>
            <a:off x="16189908" y="4540926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RESPONSIVIDAD</a:t>
            </a:r>
            <a:endParaRPr/>
          </a:p>
        </p:txBody>
      </p:sp>
      <p:sp>
        <p:nvSpPr>
          <p:cNvPr id="966" name="Google Shape;966;p32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5.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DISEÑO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967" name="Google Shape;967;p32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968" name="Google Shape;968;p32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969" name="Google Shape;969;p3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3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50" name="Google Shape;1050;p3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1" name="Google Shape;1051;p3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3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53" name="Google Shape;1053;p37"/>
          <p:cNvGrpSpPr/>
          <p:nvPr/>
        </p:nvGrpSpPr>
        <p:grpSpPr>
          <a:xfrm>
            <a:off x="6783525" y="976908"/>
            <a:ext cx="8128385" cy="982000"/>
            <a:chOff x="459608" y="894183"/>
            <a:chExt cx="8128385" cy="982000"/>
          </a:xfrm>
        </p:grpSpPr>
        <p:sp>
          <p:nvSpPr>
            <p:cNvPr id="1054" name="Google Shape;1054;p37"/>
            <p:cNvSpPr/>
            <p:nvPr/>
          </p:nvSpPr>
          <p:spPr>
            <a:xfrm rot="10800000">
              <a:off x="459608" y="894183"/>
              <a:ext cx="65925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37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88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0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INTERFACES GRÁFICAS IMPLEMENTADAS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56" name="Google Shape;1056;p3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8" name="Google Shape;1058;p3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01: acceso seguro y recuperación controlada." id="1059" name="Google Shape;1059;p37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701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0" name="Google Shape;1060;p37"/>
          <p:cNvSpPr txBox="1"/>
          <p:nvPr/>
        </p:nvSpPr>
        <p:spPr>
          <a:xfrm>
            <a:off x="502920" y="7219208"/>
            <a:ext cx="8183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P01 · Acceso y recuperación (RF-01 a RF-04)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7"/>
          <p:cNvSpPr txBox="1"/>
          <p:nvPr/>
        </p:nvSpPr>
        <p:spPr>
          <a:xfrm>
            <a:off x="502920" y="7658120"/>
            <a:ext cx="8183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PBKDF2, bloqueo al 5.º intento, mensaje genérico y cambio de clave.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02: panel principal adaptado al rol." id="1062" name="Google Shape;1062;p37"/>
          <p:cNvPicPr preferRelativeResize="0"/>
          <p:nvPr/>
        </p:nvPicPr>
        <p:blipFill rotWithShape="1">
          <a:blip r:embed="rId8">
            <a:alphaModFix/>
          </a:blip>
          <a:stretch/>
        </p:blipFill>
        <p:spPr>
          <a:xfrm>
            <a:off x="999529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3" name="Google Shape;1063;p37"/>
          <p:cNvSpPr txBox="1"/>
          <p:nvPr/>
        </p:nvSpPr>
        <p:spPr>
          <a:xfrm>
            <a:off x="9601200" y="7219208"/>
            <a:ext cx="81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P02 · Panel principal (RF-32, RF-38)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7"/>
          <p:cNvSpPr txBox="1"/>
          <p:nvPr/>
        </p:nvSpPr>
        <p:spPr>
          <a:xfrm>
            <a:off x="9601200" y="7658120"/>
            <a:ext cx="8184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Indicadores del día, agenda por rol, ventas de 7 días y alertas.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5" name="Google Shape;1065;p3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066" name="Google Shape;1066;p3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7" name="Google Shape;1067;p3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6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p4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188" name="Google Shape;1188;p43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9" name="Google Shape;1189;p43"/>
          <p:cNvSpPr/>
          <p:nvPr/>
        </p:nvSpPr>
        <p:spPr>
          <a:xfrm>
            <a:off x="16590198" y="-14140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190" name="Google Shape;1190;p43"/>
          <p:cNvGrpSpPr/>
          <p:nvPr/>
        </p:nvGrpSpPr>
        <p:grpSpPr>
          <a:xfrm>
            <a:off x="-1823375" y="1763076"/>
            <a:ext cx="11026876" cy="1566357"/>
            <a:chOff x="-4" y="3730"/>
            <a:chExt cx="3871200" cy="549900"/>
          </a:xfrm>
        </p:grpSpPr>
        <p:sp>
          <p:nvSpPr>
            <p:cNvPr id="1191" name="Google Shape;1191;p43"/>
            <p:cNvSpPr/>
            <p:nvPr/>
          </p:nvSpPr>
          <p:spPr>
            <a:xfrm>
              <a:off x="866269" y="120434"/>
              <a:ext cx="2631204" cy="342495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43"/>
            <p:cNvSpPr txBox="1"/>
            <p:nvPr/>
          </p:nvSpPr>
          <p:spPr>
            <a:xfrm>
              <a:off x="-4" y="3730"/>
              <a:ext cx="3871200" cy="54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93" name="Google Shape;1193;p43"/>
          <p:cNvSpPr txBox="1"/>
          <p:nvPr/>
        </p:nvSpPr>
        <p:spPr>
          <a:xfrm>
            <a:off x="-899691" y="2399989"/>
            <a:ext cx="10043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067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COBERTURA DEL 100 % DEL ALCANCE COMPROMETIDO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194" name="Google Shape;1194;p43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95" name="Google Shape;1195;p43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7.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RESULTADOS Y VERIFICACIÓN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196" name="Google Shape;1196;p43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43"/>
          <p:cNvSpPr/>
          <p:nvPr/>
        </p:nvSpPr>
        <p:spPr>
          <a:xfrm>
            <a:off x="8817709" y="2095500"/>
            <a:ext cx="1384866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8" name="Google Shape;1198;p43"/>
          <p:cNvSpPr txBox="1"/>
          <p:nvPr/>
        </p:nvSpPr>
        <p:spPr>
          <a:xfrm>
            <a:off x="640080" y="324612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La matriz de trazabilidad vincula cada requisito funcional con su pantalla, los componentes que lo implementan y la prueba que lo verifica, de modo que la documentación y el código permanecen alineados.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9" name="Google Shape;1199;p43"/>
          <p:cNvSpPr/>
          <p:nvPr/>
        </p:nvSpPr>
        <p:spPr>
          <a:xfrm>
            <a:off x="640080" y="6172200"/>
            <a:ext cx="7772400" cy="2926080"/>
          </a:xfrm>
          <a:prstGeom prst="roundRect">
            <a:avLst>
              <a:gd fmla="val 8000" name="adj"/>
            </a:avLst>
          </a:prstGeom>
          <a:solidFill>
            <a:srgbClr val="E6EEF9"/>
          </a:solidFill>
          <a:ln>
            <a:noFill/>
          </a:ln>
        </p:spPr>
        <p:txBody>
          <a:bodyPr anchorCtr="0" anchor="ctr" bIns="182875" lIns="274300" spcFirstLastPara="1" rIns="274300" wrap="square" tIns="182875">
            <a:norm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6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Resultado de cobertura: </a:t>
            </a:r>
            <a:r>
              <a:rPr b="0" lang="es-PE" sz="16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38 de 38 requisitos funcionales implementados en las 12 pantallas, cada uno con componente y prueba identificados. De los 18 no funcionales, 14 se cumplen y 3 se completan en la integración (carga, navegadores y HTTPS).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00" name="Google Shape;1200;p43"/>
          <p:cNvGraphicFramePr/>
          <p:nvPr/>
        </p:nvGraphicFramePr>
        <p:xfrm>
          <a:off x="9144000" y="23957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2148850"/>
                <a:gridCol w="1874525"/>
                <a:gridCol w="1371600"/>
                <a:gridCol w="3200400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3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Capacidad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3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Requisitos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3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Pantallas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3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Componentes y prueba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Seguridad y administración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RF-01 a RF-04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P01, P12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AutenticacionService, FiltroSeguridad · AutenticacionServiceTest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Clientes y mascotas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RF-05 a RF-08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P03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ClienteService, MascotaService · ClienteServiceTest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Citas y llegada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RF-09 a RF-12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P04, P11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CitaService, fn_cita_estado · CitaServiceTest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Historia clínica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RF-13 a RF-15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P05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HistoriaService, ConsultaService · ConsultaServiceTest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Procedimientos y receta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RF-16 a RF-19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P06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ConsultaService.firmar, RecordatorioService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Inventario por lotes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RF-20 a RF-25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P07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InventarioService, fn_lote_sugerido · InventarioServiceTest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Venta y pago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RF-26 a RF-29, RF-31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P08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VentaService, fn_confirmar_venta · VentaServiceTest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Cierre de caja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RF-30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P09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CajaService, fn_cerrar_caja · CajaServiceTest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Reportes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RF-32 a RF-36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P02, P10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ReportesService, ExportadorExcel · ReportesServiceTest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Portal del cliente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RF-37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P11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PortalService, NotificadorCorreo · PortalServiceTest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Alertas internas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RF-38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P02, P12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3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AlertaService · AdminParametroServiceTest</a:t>
                      </a:r>
                      <a:endParaRPr sz="13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1201" name="Google Shape;1201;p43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202" name="Google Shape;1202;p43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203" name="Google Shape;1203;p4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209" name="Google Shape;1209;p44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10" name="Google Shape;1210;p44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1" name="Google Shape;1211;p44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212" name="Google Shape;1212;p44"/>
          <p:cNvGrpSpPr/>
          <p:nvPr/>
        </p:nvGrpSpPr>
        <p:grpSpPr>
          <a:xfrm>
            <a:off x="6783450" y="1006050"/>
            <a:ext cx="8128460" cy="952858"/>
            <a:chOff x="459533" y="923325"/>
            <a:chExt cx="8128460" cy="952858"/>
          </a:xfrm>
        </p:grpSpPr>
        <p:sp>
          <p:nvSpPr>
            <p:cNvPr id="1213" name="Google Shape;1213;p44"/>
            <p:cNvSpPr/>
            <p:nvPr/>
          </p:nvSpPr>
          <p:spPr>
            <a:xfrm rot="10800000">
              <a:off x="459533" y="923325"/>
              <a:ext cx="51792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4" name="Google Shape;1214;p44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PRUEBAS FUNCIONALES POR PANTALLA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215" name="Google Shape;1215;p44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6" name="Google Shape;1216;p44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17" name="Google Shape;1217;p44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7.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RESULTADOS Y VERIFICACIÓN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aphicFrame>
        <p:nvGraphicFramePr>
          <p:cNvPr id="1218" name="Google Shape;1218;p44"/>
          <p:cNvGraphicFramePr/>
          <p:nvPr/>
        </p:nvGraphicFramePr>
        <p:xfrm>
          <a:off x="640080" y="24871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868675"/>
                <a:gridCol w="4480550"/>
                <a:gridCol w="1737350"/>
                <a:gridCol w="6949450"/>
                <a:gridCol w="2971800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7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ID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7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Escenario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7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Pantallas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7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Criterio de aceptación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17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Resultado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F6128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F01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Ingresar con clave incorrecta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P01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Mensaje genérico; al quinto intento la cuenta se bloquea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F02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Registrar cliente con DNI existente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P03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Rechazo por RN-01 sin duplicar el registro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F03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Programar cita que se cruza con otra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P04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Rechazo por RN-03 indicando la cita en conflicto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F04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Firmar consulta sin diagnóstico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P05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Rechazo por RN-04; con diagnóstico se firma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F05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Vender con un lote vencido en stock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P07, P08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Sugiere el lote vigente que vence primero (FEFO)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F06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Descuento mayor al límite del cajero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P08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Rechazo por RN-08 sin clave de administrador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F07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Cerrar caja con diferencia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P09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Exige una observación que explique la diferencia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F08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Abrir la mascota de otro cliente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P11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Acceso denegado (403)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1700" u="none" cap="none" strike="noStrike">
                          <a:solidFill>
                            <a:srgbClr val="000000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Aprobado</a:t>
                      </a:r>
                      <a:endParaRPr sz="1700" u="none" cap="none" strike="noStrike"/>
                    </a:p>
                  </a:txBody>
                  <a:tcPr marT="36575" marB="36575" marR="73150" marL="7315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9" name="Google Shape;1219;p44"/>
          <p:cNvSpPr/>
          <p:nvPr/>
        </p:nvSpPr>
        <p:spPr>
          <a:xfrm>
            <a:off x="640080" y="7315200"/>
            <a:ext cx="17007840" cy="1783080"/>
          </a:xfrm>
          <a:prstGeom prst="roundRect">
            <a:avLst>
              <a:gd fmla="val 8000" name="adj"/>
            </a:avLst>
          </a:prstGeom>
          <a:solidFill>
            <a:srgbClr val="F1F4F9"/>
          </a:solidFill>
          <a:ln>
            <a:noFill/>
          </a:ln>
        </p:spPr>
        <p:txBody>
          <a:bodyPr anchorCtr="0" anchor="ctr" bIns="182875" lIns="274300" spcFirstLastPara="1" rIns="274300" wrap="square" tIns="182875">
            <a:norm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Las pruebas se ejecutaron sobre el servidor local con la base recién instalada, mediante un recorrido automatizado (Playwright y Chrome) y solicitudes HTTP. Los 32 casos de las 12 pantallas resultaron aprobados; el detalle y las 48 capturas están en docs/evidencias y docs/capturas del repositorio.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20" name="Google Shape;1220;p44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221" name="Google Shape;1221;p44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222" name="Google Shape;1222;p4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6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4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228" name="Google Shape;1228;p45"/>
          <p:cNvSpPr/>
          <p:nvPr/>
        </p:nvSpPr>
        <p:spPr>
          <a:xfrm>
            <a:off x="16590199" y="8123047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2"/>
                </a:lnTo>
                <a:lnTo>
                  <a:pt x="0" y="14909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29" name="Google Shape;1229;p45"/>
          <p:cNvSpPr/>
          <p:nvPr/>
        </p:nvSpPr>
        <p:spPr>
          <a:xfrm>
            <a:off x="-1026531" y="373368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30" name="Google Shape;1230;p45"/>
          <p:cNvSpPr txBox="1"/>
          <p:nvPr/>
        </p:nvSpPr>
        <p:spPr>
          <a:xfrm>
            <a:off x="1028699" y="3532733"/>
            <a:ext cx="16230600" cy="3293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9477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¡GRACIAS POR SU ATENCIÓN!</a:t>
            </a:r>
            <a:endParaRPr/>
          </a:p>
        </p:txBody>
      </p:sp>
      <p:sp>
        <p:nvSpPr>
          <p:cNvPr id="1231" name="Google Shape;1231;p45"/>
          <p:cNvSpPr/>
          <p:nvPr/>
        </p:nvSpPr>
        <p:spPr>
          <a:xfrm>
            <a:off x="16580809" y="0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5" y="0"/>
                </a:lnTo>
                <a:lnTo>
                  <a:pt x="2927695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32" name="Google Shape;1232;p45"/>
          <p:cNvSpPr/>
          <p:nvPr/>
        </p:nvSpPr>
        <p:spPr>
          <a:xfrm rot="10800000">
            <a:off x="-1219741" y="8051306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4" y="0"/>
                </a:lnTo>
                <a:lnTo>
                  <a:pt x="2927694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33" name="Google Shape;1233;p45"/>
          <p:cNvSpPr/>
          <p:nvPr/>
        </p:nvSpPr>
        <p:spPr>
          <a:xfrm>
            <a:off x="8566562" y="1564509"/>
            <a:ext cx="1154875" cy="602137"/>
          </a:xfrm>
          <a:custGeom>
            <a:rect b="b" l="l" r="r" t="t"/>
            <a:pathLst>
              <a:path extrusionOk="0" h="602137" w="1154875">
                <a:moveTo>
                  <a:pt x="0" y="0"/>
                </a:moveTo>
                <a:lnTo>
                  <a:pt x="1154876" y="0"/>
                </a:lnTo>
                <a:lnTo>
                  <a:pt x="1154876" y="602137"/>
                </a:lnTo>
                <a:lnTo>
                  <a:pt x="0" y="60213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34" name="Google Shape;1234;p45"/>
          <p:cNvSpPr txBox="1"/>
          <p:nvPr/>
        </p:nvSpPr>
        <p:spPr>
          <a:xfrm rot="10800000">
            <a:off x="3422689" y="5542806"/>
            <a:ext cx="11442623" cy="125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89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45"/>
          <p:cNvSpPr txBox="1"/>
          <p:nvPr/>
        </p:nvSpPr>
        <p:spPr>
          <a:xfrm>
            <a:off x="5867379" y="2451316"/>
            <a:ext cx="6553240" cy="7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6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6000">
                <a:solidFill>
                  <a:srgbClr val="EF6F6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VE</a:t>
            </a:r>
            <a:r>
              <a:rPr b="1" lang="es-PE" sz="1800">
                <a:solidFill>
                  <a:srgbClr val="EF6F6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</a:t>
            </a:r>
            <a:r>
              <a:rPr b="1" lang="es-PE" sz="6000">
                <a:solidFill>
                  <a:srgbClr val="EF6F6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TSALUD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2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824" name="Google Shape;824;p26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25" name="Google Shape;825;p26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26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27" name="Google Shape;827;p26"/>
          <p:cNvGrpSpPr/>
          <p:nvPr/>
        </p:nvGrpSpPr>
        <p:grpSpPr>
          <a:xfrm>
            <a:off x="6783450" y="991475"/>
            <a:ext cx="5200860" cy="680100"/>
            <a:chOff x="459533" y="923321"/>
            <a:chExt cx="5200860" cy="680100"/>
          </a:xfrm>
        </p:grpSpPr>
        <p:sp>
          <p:nvSpPr>
            <p:cNvPr id="828" name="Google Shape;828;p26"/>
            <p:cNvSpPr/>
            <p:nvPr/>
          </p:nvSpPr>
          <p:spPr>
            <a:xfrm rot="10800000">
              <a:off x="459533" y="923321"/>
              <a:ext cx="47712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9" name="Google Shape;829;p26"/>
            <p:cNvSpPr txBox="1"/>
            <p:nvPr/>
          </p:nvSpPr>
          <p:spPr>
            <a:xfrm>
              <a:off x="887993" y="1047879"/>
              <a:ext cx="4772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ARQUITECTURA Y PAQUETES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30" name="Google Shape;830;p26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26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32" name="Google Shape;832;p26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Diagrama de cuatro capas: presentación, control, negocio Java y persistencia." id="833" name="Google Shape;833;p26" title="Arquitectura lógica por capas de la alternativa seleccionada.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7958998" y="2377529"/>
            <a:ext cx="10904404" cy="7004062"/>
          </a:xfrm>
          <a:prstGeom prst="rect">
            <a:avLst/>
          </a:prstGeom>
          <a:noFill/>
          <a:ln>
            <a:noFill/>
          </a:ln>
        </p:spPr>
      </p:pic>
      <p:sp>
        <p:nvSpPr>
          <p:cNvPr id="834" name="Google Shape;834;p26"/>
          <p:cNvSpPr txBox="1"/>
          <p:nvPr/>
        </p:nvSpPr>
        <p:spPr>
          <a:xfrm>
            <a:off x="644150" y="4100357"/>
            <a:ext cx="7743900" cy="3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La versión 0.4.0 es un WAR Maven para Tomcat 9 con JDK 25 y PostgreSQL 18. El código se organiza en capas: web (servlets controladores), servicio (reglas por caso de uso), dao con implementaciones JDBC, modelo (records), persistencia, seguridad, log y reporte. Ninguna JSP contiene SQL ni reglas de negocio.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835" name="Google Shape;835;p26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36" name="Google Shape;836;p26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37" name="Google Shape;837;p26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2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766" name="Google Shape;766;p25"/>
          <p:cNvGrpSpPr/>
          <p:nvPr/>
        </p:nvGrpSpPr>
        <p:grpSpPr>
          <a:xfrm>
            <a:off x="509757" y="3219404"/>
            <a:ext cx="2778725" cy="5041564"/>
            <a:chOff x="0" y="-38100"/>
            <a:chExt cx="1040052" cy="1397054"/>
          </a:xfrm>
        </p:grpSpPr>
        <p:sp>
          <p:nvSpPr>
            <p:cNvPr id="767" name="Google Shape;767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69" name="Google Shape;769;p25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25"/>
          <p:cNvSpPr/>
          <p:nvPr/>
        </p:nvSpPr>
        <p:spPr>
          <a:xfrm>
            <a:off x="16590198" y="-14140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771" name="Google Shape;771;p25"/>
          <p:cNvGrpSpPr/>
          <p:nvPr/>
        </p:nvGrpSpPr>
        <p:grpSpPr>
          <a:xfrm>
            <a:off x="1143086" y="2687194"/>
            <a:ext cx="1547861" cy="1536821"/>
            <a:chOff x="2125482" y="2588485"/>
            <a:chExt cx="1547861" cy="1536821"/>
          </a:xfrm>
        </p:grpSpPr>
        <p:sp>
          <p:nvSpPr>
            <p:cNvPr id="772" name="Google Shape;772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774" name="Google Shape;774;p25"/>
          <p:cNvSpPr txBox="1"/>
          <p:nvPr/>
        </p:nvSpPr>
        <p:spPr>
          <a:xfrm>
            <a:off x="697913" y="4490241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MVC: </a:t>
            </a:r>
            <a:r>
              <a:rPr b="0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Servlets coordinan, servicios y records forman el modelo y las JSP solo presentan.</a:t>
            </a:r>
            <a:endParaRPr/>
          </a:p>
        </p:txBody>
      </p:sp>
      <p:grpSp>
        <p:nvGrpSpPr>
          <p:cNvPr id="775" name="Google Shape;775;p25"/>
          <p:cNvGrpSpPr/>
          <p:nvPr/>
        </p:nvGrpSpPr>
        <p:grpSpPr>
          <a:xfrm>
            <a:off x="3630393" y="703624"/>
            <a:ext cx="11070606" cy="1712851"/>
            <a:chOff x="0" y="-47625"/>
            <a:chExt cx="3886605" cy="601338"/>
          </a:xfrm>
        </p:grpSpPr>
        <p:sp>
          <p:nvSpPr>
            <p:cNvPr id="776" name="Google Shape;776;p25"/>
            <p:cNvSpPr/>
            <p:nvPr/>
          </p:nvSpPr>
          <p:spPr>
            <a:xfrm>
              <a:off x="15286" y="120059"/>
              <a:ext cx="3871319" cy="342495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25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78" name="Google Shape;778;p25"/>
          <p:cNvSpPr txBox="1"/>
          <p:nvPr/>
        </p:nvSpPr>
        <p:spPr>
          <a:xfrm>
            <a:off x="4122190" y="1416458"/>
            <a:ext cx="10043621" cy="635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4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MVC, DAO, SOLID Y TDD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779" name="Google Shape;779;p25"/>
          <p:cNvGrpSpPr/>
          <p:nvPr/>
        </p:nvGrpSpPr>
        <p:grpSpPr>
          <a:xfrm>
            <a:off x="3447882" y="3219404"/>
            <a:ext cx="2778725" cy="5041564"/>
            <a:chOff x="0" y="-38100"/>
            <a:chExt cx="1040052" cy="1397054"/>
          </a:xfrm>
        </p:grpSpPr>
        <p:sp>
          <p:nvSpPr>
            <p:cNvPr id="780" name="Google Shape;780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2" name="Google Shape;782;p25"/>
          <p:cNvGrpSpPr/>
          <p:nvPr/>
        </p:nvGrpSpPr>
        <p:grpSpPr>
          <a:xfrm>
            <a:off x="6377446" y="3250750"/>
            <a:ext cx="2778725" cy="5041564"/>
            <a:chOff x="0" y="-38100"/>
            <a:chExt cx="1040052" cy="1397054"/>
          </a:xfrm>
        </p:grpSpPr>
        <p:sp>
          <p:nvSpPr>
            <p:cNvPr id="783" name="Google Shape;783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5" name="Google Shape;785;p25"/>
          <p:cNvGrpSpPr/>
          <p:nvPr/>
        </p:nvGrpSpPr>
        <p:grpSpPr>
          <a:xfrm>
            <a:off x="9315571" y="3250750"/>
            <a:ext cx="2778725" cy="5041564"/>
            <a:chOff x="0" y="-38100"/>
            <a:chExt cx="1040052" cy="1397054"/>
          </a:xfrm>
        </p:grpSpPr>
        <p:sp>
          <p:nvSpPr>
            <p:cNvPr id="786" name="Google Shape;786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8" name="Google Shape;788;p25"/>
          <p:cNvGrpSpPr/>
          <p:nvPr/>
        </p:nvGrpSpPr>
        <p:grpSpPr>
          <a:xfrm>
            <a:off x="12262711" y="3213224"/>
            <a:ext cx="2778725" cy="5041564"/>
            <a:chOff x="0" y="-38100"/>
            <a:chExt cx="1040052" cy="1397054"/>
          </a:xfrm>
        </p:grpSpPr>
        <p:sp>
          <p:nvSpPr>
            <p:cNvPr id="789" name="Google Shape;789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1" name="Google Shape;791;p25"/>
          <p:cNvGrpSpPr/>
          <p:nvPr/>
        </p:nvGrpSpPr>
        <p:grpSpPr>
          <a:xfrm>
            <a:off x="15200836" y="3213224"/>
            <a:ext cx="2778725" cy="5041564"/>
            <a:chOff x="0" y="-38100"/>
            <a:chExt cx="1040052" cy="1397054"/>
          </a:xfrm>
        </p:grpSpPr>
        <p:sp>
          <p:nvSpPr>
            <p:cNvPr id="792" name="Google Shape;792;p25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25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4" name="Google Shape;794;p25"/>
          <p:cNvGrpSpPr/>
          <p:nvPr/>
        </p:nvGrpSpPr>
        <p:grpSpPr>
          <a:xfrm>
            <a:off x="4081211" y="2699105"/>
            <a:ext cx="1547861" cy="1536821"/>
            <a:chOff x="2125482" y="2588485"/>
            <a:chExt cx="1547861" cy="1536821"/>
          </a:xfrm>
        </p:grpSpPr>
        <p:sp>
          <p:nvSpPr>
            <p:cNvPr id="795" name="Google Shape;795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grpSp>
        <p:nvGrpSpPr>
          <p:cNvPr id="797" name="Google Shape;797;p25"/>
          <p:cNvGrpSpPr/>
          <p:nvPr/>
        </p:nvGrpSpPr>
        <p:grpSpPr>
          <a:xfrm>
            <a:off x="6992877" y="2702211"/>
            <a:ext cx="1547861" cy="1536821"/>
            <a:chOff x="2125482" y="2588485"/>
            <a:chExt cx="1547861" cy="1536821"/>
          </a:xfrm>
        </p:grpSpPr>
        <p:sp>
          <p:nvSpPr>
            <p:cNvPr id="798" name="Google Shape;798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800" name="Google Shape;800;p25"/>
          <p:cNvGrpSpPr/>
          <p:nvPr/>
        </p:nvGrpSpPr>
        <p:grpSpPr>
          <a:xfrm>
            <a:off x="9903751" y="2699105"/>
            <a:ext cx="1547861" cy="1536821"/>
            <a:chOff x="2125482" y="2588485"/>
            <a:chExt cx="1547861" cy="1536821"/>
          </a:xfrm>
        </p:grpSpPr>
        <p:sp>
          <p:nvSpPr>
            <p:cNvPr id="801" name="Google Shape;801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803" name="Google Shape;803;p25"/>
          <p:cNvGrpSpPr/>
          <p:nvPr/>
        </p:nvGrpSpPr>
        <p:grpSpPr>
          <a:xfrm>
            <a:off x="12905395" y="2699105"/>
            <a:ext cx="1547861" cy="1536821"/>
            <a:chOff x="2125482" y="2588485"/>
            <a:chExt cx="1547861" cy="1536821"/>
          </a:xfrm>
        </p:grpSpPr>
        <p:sp>
          <p:nvSpPr>
            <p:cNvPr id="804" name="Google Shape;804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grpSp>
        <p:nvGrpSpPr>
          <p:cNvPr id="806" name="Google Shape;806;p25"/>
          <p:cNvGrpSpPr/>
          <p:nvPr/>
        </p:nvGrpSpPr>
        <p:grpSpPr>
          <a:xfrm>
            <a:off x="15811989" y="2699105"/>
            <a:ext cx="1547861" cy="1536821"/>
            <a:chOff x="2125482" y="2588485"/>
            <a:chExt cx="1547861" cy="1536821"/>
          </a:xfrm>
        </p:grpSpPr>
        <p:sp>
          <p:nvSpPr>
            <p:cNvPr id="807" name="Google Shape;807;p25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25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06</a:t>
              </a:r>
              <a:endParaRPr/>
            </a:p>
          </p:txBody>
        </p:sp>
      </p:grpSp>
      <p:sp>
        <p:nvSpPr>
          <p:cNvPr id="809" name="Google Shape;809;p25"/>
          <p:cNvSpPr txBox="1"/>
          <p:nvPr/>
        </p:nvSpPr>
        <p:spPr>
          <a:xfrm>
            <a:off x="3757187" y="4578298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DAO: </a:t>
            </a:r>
            <a:r>
              <a:rPr b="0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Una interfaz por agregado e implementación JDBC con PreparedStatement.</a:t>
            </a:r>
            <a:endParaRPr/>
          </a:p>
        </p:txBody>
      </p:sp>
      <p:sp>
        <p:nvSpPr>
          <p:cNvPr id="810" name="Google Shape;810;p25"/>
          <p:cNvSpPr txBox="1"/>
          <p:nvPr/>
        </p:nvSpPr>
        <p:spPr>
          <a:xfrm>
            <a:off x="6694754" y="4611113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Responsabilidad única: </a:t>
            </a:r>
            <a:r>
              <a:rPr b="0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Un servicio por caso de uso; ErroresBD solo traduce errores.</a:t>
            </a:r>
            <a:endParaRPr/>
          </a:p>
        </p:txBody>
      </p:sp>
      <p:sp>
        <p:nvSpPr>
          <p:cNvPr id="811" name="Google Shape;811;p25"/>
          <p:cNvSpPr txBox="1"/>
          <p:nvPr/>
        </p:nvSpPr>
        <p:spPr>
          <a:xfrm>
            <a:off x="9527166" y="4663365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Abierto/cerrado: </a:t>
            </a:r>
            <a:r>
              <a:rPr b="0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Nuevos exportadores o avisos sin modificar los servicios.</a:t>
            </a:r>
            <a:endParaRPr/>
          </a:p>
        </p:txBody>
      </p:sp>
      <p:sp>
        <p:nvSpPr>
          <p:cNvPr id="812" name="Google Shape;812;p25"/>
          <p:cNvSpPr txBox="1"/>
          <p:nvPr/>
        </p:nvSpPr>
        <p:spPr>
          <a:xfrm>
            <a:off x="12460222" y="4663365"/>
            <a:ext cx="2449245" cy="2393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Inversión de dependencias: </a:t>
            </a:r>
            <a:r>
              <a:rPr b="0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Servicios reciben interfaces; las pruebas usan dobles en memoria.</a:t>
            </a:r>
            <a:endParaRPr/>
          </a:p>
        </p:txBody>
      </p:sp>
      <p:sp>
        <p:nvSpPr>
          <p:cNvPr id="813" name="Google Shape;813;p25"/>
          <p:cNvSpPr txBox="1"/>
          <p:nvPr/>
        </p:nvSpPr>
        <p:spPr>
          <a:xfrm>
            <a:off x="15338378" y="4710520"/>
            <a:ext cx="2613986" cy="2046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TDD: </a:t>
            </a:r>
            <a:r>
              <a:rPr b="0"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La prueba de autenticación se escribió antes que el servicio (rojo → verde).</a:t>
            </a:r>
            <a:endParaRPr/>
          </a:p>
        </p:txBody>
      </p:sp>
      <p:sp>
        <p:nvSpPr>
          <p:cNvPr id="814" name="Google Shape;814;p25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15" name="Google Shape;815;p25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816" name="Google Shape;816;p25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17" name="Google Shape;817;p25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18" name="Google Shape;81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2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824" name="Google Shape;824;p26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25" name="Google Shape;825;p26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26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27" name="Google Shape;827;p26"/>
          <p:cNvGrpSpPr/>
          <p:nvPr/>
        </p:nvGrpSpPr>
        <p:grpSpPr>
          <a:xfrm>
            <a:off x="6783450" y="991475"/>
            <a:ext cx="5200860" cy="680100"/>
            <a:chOff x="459533" y="923321"/>
            <a:chExt cx="5200860" cy="680100"/>
          </a:xfrm>
        </p:grpSpPr>
        <p:sp>
          <p:nvSpPr>
            <p:cNvPr id="828" name="Google Shape;828;p26"/>
            <p:cNvSpPr/>
            <p:nvPr/>
          </p:nvSpPr>
          <p:spPr>
            <a:xfrm rot="10800000">
              <a:off x="459533" y="923321"/>
              <a:ext cx="47712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9" name="Google Shape;829;p26"/>
            <p:cNvSpPr txBox="1"/>
            <p:nvPr/>
          </p:nvSpPr>
          <p:spPr>
            <a:xfrm>
              <a:off x="887993" y="1047879"/>
              <a:ext cx="4772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237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DIAGRAMA DE CLASES · VENTA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30" name="Google Shape;830;p26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26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32" name="Google Shape;832;p26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Diagrama de cuatro capas: presentación, control, negocio Java y persistencia." id="833" name="Google Shape;833;p26" title="Arquitectura lógica por capas de la alternativa seleccionada.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11082848" y="2377529"/>
            <a:ext cx="4656703" cy="7004062"/>
          </a:xfrm>
          <a:prstGeom prst="rect">
            <a:avLst/>
          </a:prstGeom>
          <a:noFill/>
          <a:ln>
            <a:noFill/>
          </a:ln>
        </p:spPr>
      </p:pic>
      <p:sp>
        <p:nvSpPr>
          <p:cNvPr id="834" name="Google Shape;834;p26"/>
          <p:cNvSpPr txBox="1"/>
          <p:nvPr/>
        </p:nvSpPr>
        <p:spPr>
          <a:xfrm>
            <a:off x="644150" y="4100357"/>
            <a:ext cx="7743900" cy="3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Cada módulo repite la misma estructura: el controlador (VentasServlet) delega en un servicio (VentaService) que depende de interfaces DAO implementadas con JDBC. La confirmación llama a fn_confirmar_venta en PostgreSQL y registra pago, correlativo, kardex y caja en una sola transacción.</a:t>
            </a:r>
            <a:endParaRPr sz="2477" u="none" strike="noStrike">
              <a:solidFill>
                <a:srgbClr val="0F243E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835" name="Google Shape;835;p26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836" name="Google Shape;836;p26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37" name="Google Shape;837;p26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7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32"/>
          <p:cNvSpPr/>
          <p:nvPr/>
        </p:nvSpPr>
        <p:spPr>
          <a:xfrm>
            <a:off x="0" y="0"/>
            <a:ext cx="1879092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cxnSp>
        <p:nvCxnSpPr>
          <p:cNvPr id="919" name="Google Shape;919;p32"/>
          <p:cNvCxnSpPr/>
          <p:nvPr/>
        </p:nvCxnSpPr>
        <p:spPr>
          <a:xfrm>
            <a:off x="251123" y="9105900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20" name="Google Shape;920;p32"/>
          <p:cNvSpPr/>
          <p:nvPr/>
        </p:nvSpPr>
        <p:spPr>
          <a:xfrm flipH="1">
            <a:off x="688974" y="9419245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4" y="0"/>
                </a:moveTo>
                <a:lnTo>
                  <a:pt x="0" y="0"/>
                </a:lnTo>
                <a:lnTo>
                  <a:pt x="0" y="337125"/>
                </a:lnTo>
                <a:lnTo>
                  <a:pt x="707704" y="337125"/>
                </a:lnTo>
                <a:lnTo>
                  <a:pt x="70770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21" name="Google Shape;921;p32"/>
          <p:cNvGrpSpPr/>
          <p:nvPr/>
        </p:nvGrpSpPr>
        <p:grpSpPr>
          <a:xfrm>
            <a:off x="152387" y="2776725"/>
            <a:ext cx="18414214" cy="5233917"/>
            <a:chOff x="-289359" y="-38100"/>
            <a:chExt cx="7188279" cy="2092144"/>
          </a:xfrm>
        </p:grpSpPr>
        <p:sp>
          <p:nvSpPr>
            <p:cNvPr id="922" name="Google Shape;922;p32"/>
            <p:cNvSpPr/>
            <p:nvPr/>
          </p:nvSpPr>
          <p:spPr>
            <a:xfrm>
              <a:off x="-289359" y="0"/>
              <a:ext cx="7188279" cy="2054044"/>
            </a:xfrm>
            <a:custGeom>
              <a:rect b="b" l="l" r="r" t="t"/>
              <a:pathLst>
                <a:path extrusionOk="0" h="2054044" w="6487726">
                  <a:moveTo>
                    <a:pt x="14310" y="0"/>
                  </a:moveTo>
                  <a:lnTo>
                    <a:pt x="6473416" y="0"/>
                  </a:lnTo>
                  <a:cubicBezTo>
                    <a:pt x="6477212" y="0"/>
                    <a:pt x="6480852" y="1508"/>
                    <a:pt x="6483535" y="4191"/>
                  </a:cubicBezTo>
                  <a:cubicBezTo>
                    <a:pt x="6486219" y="6875"/>
                    <a:pt x="6487726" y="10515"/>
                    <a:pt x="6487726" y="14310"/>
                  </a:cubicBezTo>
                  <a:lnTo>
                    <a:pt x="6487726" y="2039734"/>
                  </a:lnTo>
                  <a:cubicBezTo>
                    <a:pt x="6487726" y="2043530"/>
                    <a:pt x="6486219" y="2047169"/>
                    <a:pt x="6483535" y="2049853"/>
                  </a:cubicBezTo>
                  <a:cubicBezTo>
                    <a:pt x="6480852" y="2052537"/>
                    <a:pt x="6477212" y="2054044"/>
                    <a:pt x="6473416" y="2054044"/>
                  </a:cubicBezTo>
                  <a:lnTo>
                    <a:pt x="14310" y="2054044"/>
                  </a:lnTo>
                  <a:cubicBezTo>
                    <a:pt x="10515" y="2054044"/>
                    <a:pt x="6875" y="2052537"/>
                    <a:pt x="4191" y="2049853"/>
                  </a:cubicBezTo>
                  <a:cubicBezTo>
                    <a:pt x="1508" y="2047169"/>
                    <a:pt x="0" y="2043530"/>
                    <a:pt x="0" y="2039734"/>
                  </a:cubicBezTo>
                  <a:lnTo>
                    <a:pt x="0" y="14310"/>
                  </a:lnTo>
                  <a:cubicBezTo>
                    <a:pt x="0" y="10515"/>
                    <a:pt x="1508" y="6875"/>
                    <a:pt x="4191" y="4191"/>
                  </a:cubicBezTo>
                  <a:cubicBezTo>
                    <a:pt x="6875" y="1508"/>
                    <a:pt x="10515" y="0"/>
                    <a:pt x="143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32"/>
            <p:cNvSpPr txBox="1"/>
            <p:nvPr/>
          </p:nvSpPr>
          <p:spPr>
            <a:xfrm>
              <a:off x="0" y="-38100"/>
              <a:ext cx="6487726" cy="209214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4" name="Google Shape;924;p32"/>
          <p:cNvGrpSpPr/>
          <p:nvPr/>
        </p:nvGrpSpPr>
        <p:grpSpPr>
          <a:xfrm>
            <a:off x="779814" y="3496904"/>
            <a:ext cx="1233729" cy="695531"/>
            <a:chOff x="14263" y="-38100"/>
            <a:chExt cx="788451" cy="444500"/>
          </a:xfrm>
        </p:grpSpPr>
        <p:sp>
          <p:nvSpPr>
            <p:cNvPr id="925" name="Google Shape;925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7" name="Google Shape;927;p32"/>
          <p:cNvSpPr txBox="1"/>
          <p:nvPr/>
        </p:nvSpPr>
        <p:spPr>
          <a:xfrm>
            <a:off x="657891" y="5071061"/>
            <a:ext cx="2009109" cy="1894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PBKDF2-SHA256 con sal; bloqueo al quinto intento y mensaje genérico.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28" name="Google Shape;928;p32"/>
          <p:cNvSpPr txBox="1"/>
          <p:nvPr/>
        </p:nvSpPr>
        <p:spPr>
          <a:xfrm>
            <a:off x="757496" y="4449125"/>
            <a:ext cx="1826243" cy="347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CONTRASEÑAS</a:t>
            </a:r>
            <a:endParaRPr/>
          </a:p>
        </p:txBody>
      </p:sp>
      <p:sp>
        <p:nvSpPr>
          <p:cNvPr id="929" name="Google Shape;929;p32"/>
          <p:cNvSpPr txBox="1"/>
          <p:nvPr/>
        </p:nvSpPr>
        <p:spPr>
          <a:xfrm>
            <a:off x="2528521" y="1526415"/>
            <a:ext cx="7888146" cy="716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289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ASPECTOS DE SEGURIDAD</a:t>
            </a:r>
            <a:endParaRPr/>
          </a:p>
        </p:txBody>
      </p:sp>
      <p:sp>
        <p:nvSpPr>
          <p:cNvPr id="930" name="Google Shape;930;p32"/>
          <p:cNvSpPr/>
          <p:nvPr/>
        </p:nvSpPr>
        <p:spPr>
          <a:xfrm rot="10800000">
            <a:off x="15982108" y="8365767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4" y="0"/>
                </a:lnTo>
                <a:lnTo>
                  <a:pt x="2927694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31" name="Google Shape;931;p32"/>
          <p:cNvGrpSpPr/>
          <p:nvPr/>
        </p:nvGrpSpPr>
        <p:grpSpPr>
          <a:xfrm>
            <a:off x="3006288" y="3538646"/>
            <a:ext cx="1233729" cy="695531"/>
            <a:chOff x="14263" y="-38100"/>
            <a:chExt cx="788451" cy="444500"/>
          </a:xfrm>
        </p:grpSpPr>
        <p:sp>
          <p:nvSpPr>
            <p:cNvPr id="932" name="Google Shape;93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4" name="Google Shape;934;p32"/>
          <p:cNvSpPr txBox="1"/>
          <p:nvPr/>
        </p:nvSpPr>
        <p:spPr>
          <a:xfrm>
            <a:off x="2884365" y="5112803"/>
            <a:ext cx="2202167" cy="22155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15 minutos de inactividad, nuevo id al ingresar y cookie HttpOnly.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35" name="Google Shape;935;p32"/>
          <p:cNvSpPr txBox="1"/>
          <p:nvPr/>
        </p:nvSpPr>
        <p:spPr>
          <a:xfrm>
            <a:off x="2983970" y="4490867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SESIÓN</a:t>
            </a:r>
            <a:endParaRPr/>
          </a:p>
        </p:txBody>
      </p:sp>
      <p:grpSp>
        <p:nvGrpSpPr>
          <p:cNvPr id="936" name="Google Shape;936;p32"/>
          <p:cNvGrpSpPr/>
          <p:nvPr/>
        </p:nvGrpSpPr>
        <p:grpSpPr>
          <a:xfrm>
            <a:off x="5255080" y="3538646"/>
            <a:ext cx="1233729" cy="695531"/>
            <a:chOff x="14263" y="-38100"/>
            <a:chExt cx="788451" cy="444500"/>
          </a:xfrm>
        </p:grpSpPr>
        <p:sp>
          <p:nvSpPr>
            <p:cNvPr id="937" name="Google Shape;937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9" name="Google Shape;939;p32"/>
          <p:cNvSpPr txBox="1"/>
          <p:nvPr/>
        </p:nvSpPr>
        <p:spPr>
          <a:xfrm>
            <a:off x="5133157" y="5112803"/>
            <a:ext cx="2009109" cy="1574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Filtro único con matriz de acceso y permisos por acción.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40" name="Google Shape;940;p32"/>
          <p:cNvSpPr txBox="1"/>
          <p:nvPr/>
        </p:nvSpPr>
        <p:spPr>
          <a:xfrm>
            <a:off x="5232762" y="4490867"/>
            <a:ext cx="2376380" cy="347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ACCESO POR ROL</a:t>
            </a:r>
            <a:endParaRPr/>
          </a:p>
        </p:txBody>
      </p:sp>
      <p:grpSp>
        <p:nvGrpSpPr>
          <p:cNvPr id="941" name="Google Shape;941;p32"/>
          <p:cNvGrpSpPr/>
          <p:nvPr/>
        </p:nvGrpSpPr>
        <p:grpSpPr>
          <a:xfrm>
            <a:off x="7289993" y="3581286"/>
            <a:ext cx="1233729" cy="695531"/>
            <a:chOff x="14263" y="-38100"/>
            <a:chExt cx="788451" cy="444500"/>
          </a:xfrm>
        </p:grpSpPr>
        <p:sp>
          <p:nvSpPr>
            <p:cNvPr id="942" name="Google Shape;94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4" name="Google Shape;944;p32"/>
          <p:cNvSpPr txBox="1"/>
          <p:nvPr/>
        </p:nvSpPr>
        <p:spPr>
          <a:xfrm>
            <a:off x="7168070" y="5155443"/>
            <a:ext cx="2202167" cy="1574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Token aleatorio por sesión obligatorio en todo formulario POST.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45" name="Google Shape;945;p32"/>
          <p:cNvSpPr txBox="1"/>
          <p:nvPr/>
        </p:nvSpPr>
        <p:spPr>
          <a:xfrm>
            <a:off x="7267675" y="4533507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CSRF</a:t>
            </a:r>
            <a:endParaRPr/>
          </a:p>
        </p:txBody>
      </p:sp>
      <p:grpSp>
        <p:nvGrpSpPr>
          <p:cNvPr id="946" name="Google Shape;946;p32"/>
          <p:cNvGrpSpPr/>
          <p:nvPr/>
        </p:nvGrpSpPr>
        <p:grpSpPr>
          <a:xfrm>
            <a:off x="9614285" y="3521669"/>
            <a:ext cx="1233729" cy="695531"/>
            <a:chOff x="14263" y="-38100"/>
            <a:chExt cx="788451" cy="444500"/>
          </a:xfrm>
        </p:grpSpPr>
        <p:sp>
          <p:nvSpPr>
            <p:cNvPr id="947" name="Google Shape;947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9" name="Google Shape;949;p32"/>
          <p:cNvSpPr txBox="1"/>
          <p:nvPr/>
        </p:nvSpPr>
        <p:spPr>
          <a:xfrm>
            <a:off x="9492362" y="5095826"/>
            <a:ext cx="2009109" cy="1894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Solo PreparedStatement; ninguna consulta concatena datos.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50" name="Google Shape;950;p32"/>
          <p:cNvSpPr txBox="1"/>
          <p:nvPr/>
        </p:nvSpPr>
        <p:spPr>
          <a:xfrm>
            <a:off x="9482151" y="4473890"/>
            <a:ext cx="2376380" cy="347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INYECCIÓN SQL</a:t>
            </a:r>
            <a:endParaRPr/>
          </a:p>
        </p:txBody>
      </p:sp>
      <p:grpSp>
        <p:nvGrpSpPr>
          <p:cNvPr id="951" name="Google Shape;951;p32"/>
          <p:cNvGrpSpPr/>
          <p:nvPr/>
        </p:nvGrpSpPr>
        <p:grpSpPr>
          <a:xfrm>
            <a:off x="11734879" y="3557696"/>
            <a:ext cx="1233729" cy="695531"/>
            <a:chOff x="14263" y="-38100"/>
            <a:chExt cx="788451" cy="444500"/>
          </a:xfrm>
        </p:grpSpPr>
        <p:sp>
          <p:nvSpPr>
            <p:cNvPr id="952" name="Google Shape;95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4" name="Google Shape;954;p32"/>
          <p:cNvSpPr txBox="1"/>
          <p:nvPr/>
        </p:nvSpPr>
        <p:spPr>
          <a:xfrm>
            <a:off x="11612956" y="5131853"/>
            <a:ext cx="2202167" cy="1574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Salida escapada con c:out y cabecera Content-Security-Policy.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55" name="Google Shape;955;p32"/>
          <p:cNvSpPr txBox="1"/>
          <p:nvPr/>
        </p:nvSpPr>
        <p:spPr>
          <a:xfrm>
            <a:off x="11712561" y="4509917"/>
            <a:ext cx="2376380" cy="353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XSS</a:t>
            </a:r>
            <a:endParaRPr/>
          </a:p>
        </p:txBody>
      </p:sp>
      <p:grpSp>
        <p:nvGrpSpPr>
          <p:cNvPr id="956" name="Google Shape;956;p32"/>
          <p:cNvGrpSpPr/>
          <p:nvPr/>
        </p:nvGrpSpPr>
        <p:grpSpPr>
          <a:xfrm>
            <a:off x="13925427" y="3538646"/>
            <a:ext cx="1233729" cy="695531"/>
            <a:chOff x="14263" y="-38100"/>
            <a:chExt cx="788451" cy="444500"/>
          </a:xfrm>
        </p:grpSpPr>
        <p:sp>
          <p:nvSpPr>
            <p:cNvPr id="957" name="Google Shape;957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9" name="Google Shape;959;p32"/>
          <p:cNvSpPr txBox="1"/>
          <p:nvPr/>
        </p:nvSpPr>
        <p:spPr>
          <a:xfrm>
            <a:off x="13803504" y="5112803"/>
            <a:ext cx="2202167" cy="12537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Rol con privilegio mínimo y respaldo cifrado diario.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60" name="Google Shape;960;p32"/>
          <p:cNvSpPr txBox="1"/>
          <p:nvPr/>
        </p:nvSpPr>
        <p:spPr>
          <a:xfrm>
            <a:off x="13903109" y="4490867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BASE DE DATOS</a:t>
            </a:r>
            <a:endParaRPr/>
          </a:p>
        </p:txBody>
      </p:sp>
      <p:grpSp>
        <p:nvGrpSpPr>
          <p:cNvPr id="961" name="Google Shape;961;p32"/>
          <p:cNvGrpSpPr/>
          <p:nvPr/>
        </p:nvGrpSpPr>
        <p:grpSpPr>
          <a:xfrm>
            <a:off x="16212226" y="3588705"/>
            <a:ext cx="1233729" cy="695531"/>
            <a:chOff x="14263" y="-38100"/>
            <a:chExt cx="788451" cy="444500"/>
          </a:xfrm>
        </p:grpSpPr>
        <p:sp>
          <p:nvSpPr>
            <p:cNvPr id="962" name="Google Shape;962;p32"/>
            <p:cNvSpPr/>
            <p:nvPr/>
          </p:nvSpPr>
          <p:spPr>
            <a:xfrm>
              <a:off x="14263" y="0"/>
              <a:ext cx="788451" cy="406400"/>
            </a:xfrm>
            <a:custGeom>
              <a:rect b="b" l="l" r="r" t="t"/>
              <a:pathLst>
                <a:path extrusionOk="0" h="406400" w="788451">
                  <a:moveTo>
                    <a:pt x="10086" y="0"/>
                  </a:moveTo>
                  <a:lnTo>
                    <a:pt x="570988" y="0"/>
                  </a:lnTo>
                  <a:cubicBezTo>
                    <a:pt x="586578" y="0"/>
                    <a:pt x="601530" y="6193"/>
                    <a:pt x="612554" y="17217"/>
                  </a:cubicBezTo>
                  <a:lnTo>
                    <a:pt x="781320" y="185983"/>
                  </a:lnTo>
                  <a:cubicBezTo>
                    <a:pt x="790829" y="195492"/>
                    <a:pt x="790829" y="210908"/>
                    <a:pt x="781320" y="220417"/>
                  </a:cubicBezTo>
                  <a:lnTo>
                    <a:pt x="612554" y="389183"/>
                  </a:lnTo>
                  <a:cubicBezTo>
                    <a:pt x="601530" y="400207"/>
                    <a:pt x="586578" y="406400"/>
                    <a:pt x="570988" y="406400"/>
                  </a:cubicBezTo>
                  <a:lnTo>
                    <a:pt x="10086" y="406400"/>
                  </a:lnTo>
                  <a:cubicBezTo>
                    <a:pt x="6007" y="406400"/>
                    <a:pt x="2329" y="403943"/>
                    <a:pt x="768" y="400174"/>
                  </a:cubicBezTo>
                  <a:cubicBezTo>
                    <a:pt x="-793" y="396405"/>
                    <a:pt x="70" y="392067"/>
                    <a:pt x="2954" y="389183"/>
                  </a:cubicBezTo>
                  <a:lnTo>
                    <a:pt x="171720" y="220417"/>
                  </a:lnTo>
                  <a:cubicBezTo>
                    <a:pt x="181229" y="210908"/>
                    <a:pt x="181229" y="195492"/>
                    <a:pt x="171720" y="185983"/>
                  </a:cubicBezTo>
                  <a:lnTo>
                    <a:pt x="2954" y="17217"/>
                  </a:lnTo>
                  <a:cubicBezTo>
                    <a:pt x="70" y="14333"/>
                    <a:pt x="-793" y="9995"/>
                    <a:pt x="768" y="6226"/>
                  </a:cubicBezTo>
                  <a:cubicBezTo>
                    <a:pt x="2329" y="2457"/>
                    <a:pt x="6007" y="0"/>
                    <a:pt x="10086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4" name="Google Shape;964;p32"/>
          <p:cNvSpPr txBox="1"/>
          <p:nvPr/>
        </p:nvSpPr>
        <p:spPr>
          <a:xfrm>
            <a:off x="16090300" y="5162850"/>
            <a:ext cx="22023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Registro inmutable y logs que enmascaran datos personales.</a:t>
            </a:r>
            <a:endParaRPr sz="180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65" name="Google Shape;965;p32"/>
          <p:cNvSpPr txBox="1"/>
          <p:nvPr/>
        </p:nvSpPr>
        <p:spPr>
          <a:xfrm>
            <a:off x="16189908" y="4540926"/>
            <a:ext cx="2376380" cy="357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4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800">
                <a:solidFill>
                  <a:srgbClr val="0B1B45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AUDITORÍA</a:t>
            </a:r>
            <a:endParaRPr/>
          </a:p>
        </p:txBody>
      </p:sp>
      <p:sp>
        <p:nvSpPr>
          <p:cNvPr id="966" name="Google Shape;966;p32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pSp>
        <p:nvGrpSpPr>
          <p:cNvPr id="967" name="Google Shape;967;p32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968" name="Google Shape;968;p32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969" name="Google Shape;969;p3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2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746" name="Google Shape;746;p24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24"/>
          <p:cNvSpPr/>
          <p:nvPr/>
        </p:nvSpPr>
        <p:spPr>
          <a:xfrm>
            <a:off x="16590198" y="-14140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748" name="Google Shape;748;p24"/>
          <p:cNvGrpSpPr/>
          <p:nvPr/>
        </p:nvGrpSpPr>
        <p:grpSpPr>
          <a:xfrm>
            <a:off x="-1837934" y="1412805"/>
            <a:ext cx="11027065" cy="1712851"/>
            <a:chOff x="0" y="-47625"/>
            <a:chExt cx="3871319" cy="601338"/>
          </a:xfrm>
        </p:grpSpPr>
        <p:sp>
          <p:nvSpPr>
            <p:cNvPr id="749" name="Google Shape;749;p24"/>
            <p:cNvSpPr/>
            <p:nvPr/>
          </p:nvSpPr>
          <p:spPr>
            <a:xfrm>
              <a:off x="866269" y="120434"/>
              <a:ext cx="2631204" cy="342495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24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1" name="Google Shape;751;p24"/>
          <p:cNvSpPr txBox="1"/>
          <p:nvPr/>
        </p:nvSpPr>
        <p:spPr>
          <a:xfrm>
            <a:off x="-861841" y="2140589"/>
            <a:ext cx="10043621" cy="635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4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RECURSOS JAVA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2" name="Google Shape;752;p24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53" name="Google Shape;753;p24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4" name="Google Shape;754;p24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24"/>
          <p:cNvSpPr txBox="1"/>
          <p:nvPr/>
        </p:nvSpPr>
        <p:spPr>
          <a:xfrm>
            <a:off x="644150" y="4100357"/>
            <a:ext cx="7743875" cy="35493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El proyecto incorpora las cuatro librerías de apoyo como dependencias Maven. Cada una cumple una función concreta y se aplica cuidando la información: valida entradas antes de llegar a la base de datos, exporta sin fórmulas ejecutables y registra sin datos personales. El 68 % del código propio es Java.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56" name="Google Shape;756;p24"/>
          <p:cNvSpPr/>
          <p:nvPr/>
        </p:nvSpPr>
        <p:spPr>
          <a:xfrm>
            <a:off x="8746300" y="2198900"/>
            <a:ext cx="1004370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757" name="Google Shape;757;p24"/>
          <p:cNvGraphicFramePr/>
          <p:nvPr/>
        </p:nvGraphicFramePr>
        <p:xfrm>
          <a:off x="9181780" y="26875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{F10BA56E-E222-4D4F-A9BD-C1C85CC4FC20}</a:tableStyleId>
              </a:tblPr>
              <a:tblGrid>
                <a:gridCol w="2093025"/>
                <a:gridCol w="1905000"/>
                <a:gridCol w="4969300"/>
              </a:tblGrid>
              <a:tr h="583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LIBRERÍA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VERSIÓN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USO Y SEGURIDAD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Google Guava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33.4.0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Valida con Preconditions, cachea parámetros y controla estados de cita.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Apache Commons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3.17 / 1.12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Normaliza y valida nombres, documentos y textos de entrada.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Apache POI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5.5.1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Exporta reportes a Excel y neutraliza fórmulas en las celdas.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8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SLF4J + Logback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1.5.18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PE" sz="2400" u="none" cap="none" strike="noStrike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Logs de auditoría y errores que enmascaran datos personales.</a:t>
                      </a:r>
                      <a:endParaRPr sz="24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0" marB="0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758" name="Google Shape;758;p24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759" name="Google Shape;759;p24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60" name="Google Shape;76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64" name="Google Shape;664;p20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5" name="Google Shape;665;p20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0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0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El repositorio público github.com/JeanUniSoft/vetsalud-erp reúne el 100 % de los entregables. Usamos main para versiones (etiqueta v0.4.0, 86 commits), develop para integrar y 27 ramas feature, docs y fix fusionadas con merge --no-ff. Cada commit sigue la convención tipo: verbo (RF-xx).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68" name="Google Shape;668;p20"/>
          <p:cNvSpPr/>
          <p:nvPr/>
        </p:nvSpPr>
        <p:spPr>
          <a:xfrm>
            <a:off x="16221125" y="-52019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9" name="Google Shape;669;p20"/>
          <p:cNvSpPr/>
          <p:nvPr/>
        </p:nvSpPr>
        <p:spPr>
          <a:xfrm rot="10800000">
            <a:off x="571129" y="2292425"/>
            <a:ext cx="4310100" cy="1044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08122E">
                  <a:alpha val="0"/>
                </a:srgbClr>
              </a:gs>
              <a:gs pos="9000">
                <a:srgbClr val="08122E">
                  <a:alpha val="0"/>
                </a:srgbClr>
              </a:gs>
              <a:gs pos="33000">
                <a:srgbClr val="0B1736"/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20"/>
          <p:cNvSpPr txBox="1"/>
          <p:nvPr/>
        </p:nvSpPr>
        <p:spPr>
          <a:xfrm>
            <a:off x="932542" y="2508126"/>
            <a:ext cx="8059939" cy="828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2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CONTROL DE VERSIONES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1" name="Google Shape;671;p20"/>
          <p:cNvSpPr/>
          <p:nvPr/>
        </p:nvSpPr>
        <p:spPr>
          <a:xfrm>
            <a:off x="8817709" y="2095500"/>
            <a:ext cx="1384866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20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73" name="Google Shape;673;p20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Cronograma de barras con doce actividades distribuidas en dieciséis semanas." id="674" name="Google Shape;674;p20" title="Cronograma de Gantt del proyecto en dieciséis semanas.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27004" y="2786113"/>
            <a:ext cx="9360996" cy="577939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75" name="Google Shape;675;p20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676" name="Google Shape;676;p20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77" name="Google Shape;677;p20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3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50" name="Google Shape;1050;p3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1" name="Google Shape;1051;p3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3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53" name="Google Shape;1053;p37"/>
          <p:cNvGrpSpPr/>
          <p:nvPr/>
        </p:nvGrpSpPr>
        <p:grpSpPr>
          <a:xfrm>
            <a:off x="6783525" y="976908"/>
            <a:ext cx="8128385" cy="982000"/>
            <a:chOff x="459608" y="894183"/>
            <a:chExt cx="8128385" cy="982000"/>
          </a:xfrm>
        </p:grpSpPr>
        <p:sp>
          <p:nvSpPr>
            <p:cNvPr id="1054" name="Google Shape;1054;p37"/>
            <p:cNvSpPr/>
            <p:nvPr/>
          </p:nvSpPr>
          <p:spPr>
            <a:xfrm rot="10800000">
              <a:off x="459608" y="894183"/>
              <a:ext cx="65925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37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88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0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INTERFACES GRÁFICAS IMPLEMENTADAS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56" name="Google Shape;1056;p3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8" name="Google Shape;1058;p3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01: acceso seguro y recuperación controlada." id="1059" name="Google Shape;1059;p37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701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0" name="Google Shape;1060;p37"/>
          <p:cNvSpPr txBox="1"/>
          <p:nvPr/>
        </p:nvSpPr>
        <p:spPr>
          <a:xfrm>
            <a:off x="502920" y="7219208"/>
            <a:ext cx="8183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P03 · Clientes y mascotas (RF-05 a RF-08)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7"/>
          <p:cNvSpPr txBox="1"/>
          <p:nvPr/>
        </p:nvSpPr>
        <p:spPr>
          <a:xfrm>
            <a:off x="502920" y="7658120"/>
            <a:ext cx="8183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Documento único, ficha del cliente, mascotas con foto e historial de dueños.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02: panel principal adaptado al rol." id="1062" name="Google Shape;1062;p37"/>
          <p:cNvPicPr preferRelativeResize="0"/>
          <p:nvPr/>
        </p:nvPicPr>
        <p:blipFill rotWithShape="1">
          <a:blip r:embed="rId8">
            <a:alphaModFix/>
          </a:blip>
          <a:stretch/>
        </p:blipFill>
        <p:spPr>
          <a:xfrm>
            <a:off x="999529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3" name="Google Shape;1063;p37"/>
          <p:cNvSpPr txBox="1"/>
          <p:nvPr/>
        </p:nvSpPr>
        <p:spPr>
          <a:xfrm>
            <a:off x="9601200" y="7219208"/>
            <a:ext cx="81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P04 · Citas y llegada (RF-09 a RF-12, RF-19)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7"/>
          <p:cNvSpPr txBox="1"/>
          <p:nvPr/>
        </p:nvSpPr>
        <p:spPr>
          <a:xfrm>
            <a:off x="9601200" y="7658120"/>
            <a:ext cx="8184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Agenda diaria y semanal, sin cruces (RN-03) y estados válidos.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5" name="Google Shape;1065;p3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066" name="Google Shape;1066;p3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7" name="Google Shape;1067;p3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3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50" name="Google Shape;1050;p3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1" name="Google Shape;1051;p3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3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53" name="Google Shape;1053;p37"/>
          <p:cNvGrpSpPr/>
          <p:nvPr/>
        </p:nvGrpSpPr>
        <p:grpSpPr>
          <a:xfrm>
            <a:off x="6783525" y="976908"/>
            <a:ext cx="8128385" cy="982000"/>
            <a:chOff x="459608" y="894183"/>
            <a:chExt cx="8128385" cy="982000"/>
          </a:xfrm>
        </p:grpSpPr>
        <p:sp>
          <p:nvSpPr>
            <p:cNvPr id="1054" name="Google Shape;1054;p37"/>
            <p:cNvSpPr/>
            <p:nvPr/>
          </p:nvSpPr>
          <p:spPr>
            <a:xfrm rot="10800000">
              <a:off x="459608" y="894183"/>
              <a:ext cx="65925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37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88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0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INTERFACES GRÁFICAS IMPLEMENTADAS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56" name="Google Shape;1056;p3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8" name="Google Shape;1058;p3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01: acceso seguro y recuperación controlada." id="1059" name="Google Shape;1059;p37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701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0" name="Google Shape;1060;p37"/>
          <p:cNvSpPr txBox="1"/>
          <p:nvPr/>
        </p:nvSpPr>
        <p:spPr>
          <a:xfrm>
            <a:off x="502920" y="7219208"/>
            <a:ext cx="8183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P05 · Historia clínica (RF-13 a RF-15, RF-18)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7"/>
          <p:cNvSpPr txBox="1"/>
          <p:nvPr/>
        </p:nvSpPr>
        <p:spPr>
          <a:xfrm>
            <a:off x="502920" y="7658120"/>
            <a:ext cx="8183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Línea de tiempo clínica, firma con diagnóstico principal (RN-04).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02: panel principal adaptado al rol." id="1062" name="Google Shape;1062;p37"/>
          <p:cNvPicPr preferRelativeResize="0"/>
          <p:nvPr/>
        </p:nvPicPr>
        <p:blipFill rotWithShape="1">
          <a:blip r:embed="rId8">
            <a:alphaModFix/>
          </a:blip>
          <a:stretch/>
        </p:blipFill>
        <p:spPr>
          <a:xfrm>
            <a:off x="999529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3" name="Google Shape;1063;p37"/>
          <p:cNvSpPr txBox="1"/>
          <p:nvPr/>
        </p:nvSpPr>
        <p:spPr>
          <a:xfrm>
            <a:off x="9601200" y="7219208"/>
            <a:ext cx="81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P06 · Procedimientos y receta (RF-16 a RF-19)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7"/>
          <p:cNvSpPr txBox="1"/>
          <p:nvPr/>
        </p:nvSpPr>
        <p:spPr>
          <a:xfrm>
            <a:off x="9601200" y="7658120"/>
            <a:ext cx="8184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Procedimiento con tarifa, receta imprimible y firma con control.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5" name="Google Shape;1065;p3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066" name="Google Shape;1066;p3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7" name="Google Shape;1067;p3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3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50" name="Google Shape;1050;p3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1" name="Google Shape;1051;p3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3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53" name="Google Shape;1053;p37"/>
          <p:cNvGrpSpPr/>
          <p:nvPr/>
        </p:nvGrpSpPr>
        <p:grpSpPr>
          <a:xfrm>
            <a:off x="6783525" y="976908"/>
            <a:ext cx="8128385" cy="982000"/>
            <a:chOff x="459608" y="894183"/>
            <a:chExt cx="8128385" cy="982000"/>
          </a:xfrm>
        </p:grpSpPr>
        <p:sp>
          <p:nvSpPr>
            <p:cNvPr id="1054" name="Google Shape;1054;p37"/>
            <p:cNvSpPr/>
            <p:nvPr/>
          </p:nvSpPr>
          <p:spPr>
            <a:xfrm rot="10800000">
              <a:off x="459608" y="894183"/>
              <a:ext cx="65925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37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88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0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INTERFACES GRÁFICAS IMPLEMENTADAS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56" name="Google Shape;1056;p3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8" name="Google Shape;1058;p3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01: acceso seguro y recuperación controlada." id="1059" name="Google Shape;1059;p37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701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0" name="Google Shape;1060;p37"/>
          <p:cNvSpPr txBox="1"/>
          <p:nvPr/>
        </p:nvSpPr>
        <p:spPr>
          <a:xfrm>
            <a:off x="502920" y="7219208"/>
            <a:ext cx="8183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P07 · Inventario por lotes (RF-20 a RF-25)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7"/>
          <p:cNvSpPr txBox="1"/>
          <p:nvPr/>
        </p:nvSpPr>
        <p:spPr>
          <a:xfrm>
            <a:off x="502920" y="7658120"/>
            <a:ext cx="8183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Catálogo, ingreso por lote, FEFO, kardex conciliado y alertas.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02: panel principal adaptado al rol." id="1062" name="Google Shape;1062;p37"/>
          <p:cNvPicPr preferRelativeResize="0"/>
          <p:nvPr/>
        </p:nvPicPr>
        <p:blipFill rotWithShape="1">
          <a:blip r:embed="rId8">
            <a:alphaModFix/>
          </a:blip>
          <a:stretch/>
        </p:blipFill>
        <p:spPr>
          <a:xfrm>
            <a:off x="999529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3" name="Google Shape;1063;p37"/>
          <p:cNvSpPr txBox="1"/>
          <p:nvPr/>
        </p:nvSpPr>
        <p:spPr>
          <a:xfrm>
            <a:off x="9601200" y="7219208"/>
            <a:ext cx="81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P08 · Venta y pago (RF-23, RF-26 a RF-29, RF-31)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7"/>
          <p:cNvSpPr txBox="1"/>
          <p:nvPr/>
        </p:nvSpPr>
        <p:spPr>
          <a:xfrm>
            <a:off x="9601200" y="7658120"/>
            <a:ext cx="8184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Cobro de la atención, lote FEFO, descuento autorizado, pagos exactos.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5" name="Google Shape;1065;p3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066" name="Google Shape;1066;p3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7" name="Google Shape;1067;p3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3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50" name="Google Shape;1050;p3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1" name="Google Shape;1051;p3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3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53" name="Google Shape;1053;p37"/>
          <p:cNvGrpSpPr/>
          <p:nvPr/>
        </p:nvGrpSpPr>
        <p:grpSpPr>
          <a:xfrm>
            <a:off x="6783525" y="976908"/>
            <a:ext cx="8128385" cy="982000"/>
            <a:chOff x="459608" y="894183"/>
            <a:chExt cx="8128385" cy="982000"/>
          </a:xfrm>
        </p:grpSpPr>
        <p:sp>
          <p:nvSpPr>
            <p:cNvPr id="1054" name="Google Shape;1054;p37"/>
            <p:cNvSpPr/>
            <p:nvPr/>
          </p:nvSpPr>
          <p:spPr>
            <a:xfrm rot="10800000">
              <a:off x="459608" y="894183"/>
              <a:ext cx="65925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37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88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0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INTERFACES GRÁFICAS IMPLEMENTADAS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56" name="Google Shape;1056;p3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8" name="Google Shape;1058;p3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01: acceso seguro y recuperación controlada." id="1059" name="Google Shape;1059;p37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701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0" name="Google Shape;1060;p37"/>
          <p:cNvSpPr txBox="1"/>
          <p:nvPr/>
        </p:nvSpPr>
        <p:spPr>
          <a:xfrm>
            <a:off x="502920" y="7219208"/>
            <a:ext cx="8183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P09 · Cierre de caja (RF-30)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7"/>
          <p:cNvSpPr txBox="1"/>
          <p:nvPr/>
        </p:nvSpPr>
        <p:spPr>
          <a:xfrm>
            <a:off x="502920" y="7658120"/>
            <a:ext cx="8183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Turno con cuadre por medio de pago y diferencia justificada.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02: panel principal adaptado al rol." id="1062" name="Google Shape;1062;p37"/>
          <p:cNvPicPr preferRelativeResize="0"/>
          <p:nvPr/>
        </p:nvPicPr>
        <p:blipFill rotWithShape="1">
          <a:blip r:embed="rId8">
            <a:alphaModFix/>
          </a:blip>
          <a:stretch/>
        </p:blipFill>
        <p:spPr>
          <a:xfrm>
            <a:off x="999529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3" name="Google Shape;1063;p37"/>
          <p:cNvSpPr txBox="1"/>
          <p:nvPr/>
        </p:nvSpPr>
        <p:spPr>
          <a:xfrm>
            <a:off x="9601200" y="7219208"/>
            <a:ext cx="81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P10 · Reportes (RF-32 a RF-36)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7"/>
          <p:cNvSpPr txBox="1"/>
          <p:nvPr/>
        </p:nvSpPr>
        <p:spPr>
          <a:xfrm>
            <a:off x="9601200" y="7658120"/>
            <a:ext cx="8184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Ventas, inventario y clínica con gráficos y exportación CSV/Excel.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5" name="Google Shape;1065;p3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066" name="Google Shape;1066;p3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7" name="Google Shape;1067;p3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3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1050" name="Google Shape;1050;p37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1" name="Google Shape;1051;p37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37"/>
          <p:cNvSpPr/>
          <p:nvPr/>
        </p:nvSpPr>
        <p:spPr>
          <a:xfrm>
            <a:off x="16147867" y="387254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53" name="Google Shape;1053;p37"/>
          <p:cNvGrpSpPr/>
          <p:nvPr/>
        </p:nvGrpSpPr>
        <p:grpSpPr>
          <a:xfrm>
            <a:off x="6783525" y="976908"/>
            <a:ext cx="8128385" cy="982000"/>
            <a:chOff x="459608" y="894183"/>
            <a:chExt cx="8128385" cy="982000"/>
          </a:xfrm>
        </p:grpSpPr>
        <p:sp>
          <p:nvSpPr>
            <p:cNvPr id="1054" name="Google Shape;1054;p37"/>
            <p:cNvSpPr/>
            <p:nvPr/>
          </p:nvSpPr>
          <p:spPr>
            <a:xfrm rot="10800000">
              <a:off x="459608" y="894183"/>
              <a:ext cx="6592500" cy="6801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rgbClr val="08122E">
                    <a:alpha val="0"/>
                  </a:srgbClr>
                </a:gs>
                <a:gs pos="9000">
                  <a:srgbClr val="08122E">
                    <a:alpha val="0"/>
                  </a:srgbClr>
                </a:gs>
                <a:gs pos="33000">
                  <a:srgbClr val="0B1736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37"/>
            <p:cNvSpPr txBox="1"/>
            <p:nvPr/>
          </p:nvSpPr>
          <p:spPr>
            <a:xfrm>
              <a:off x="887993" y="1047879"/>
              <a:ext cx="7700000" cy="8283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388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0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INTERFACES GRÁFICAS IMPLEMENTADAS</a:t>
              </a:r>
              <a:endParaRPr b="1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56" name="Google Shape;1056;p37"/>
          <p:cNvSpPr/>
          <p:nvPr/>
        </p:nvSpPr>
        <p:spPr>
          <a:xfrm>
            <a:off x="-363290" y="2265461"/>
            <a:ext cx="19260889" cy="711613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8" name="Google Shape;1058;p37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6.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CONSTRUCCIÓN DE LA SOLUCIÓN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01: acceso seguro y recuperación controlada." id="1059" name="Google Shape;1059;p37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89701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0" name="Google Shape;1060;p37"/>
          <p:cNvSpPr txBox="1"/>
          <p:nvPr/>
        </p:nvSpPr>
        <p:spPr>
          <a:xfrm>
            <a:off x="502920" y="7219208"/>
            <a:ext cx="8183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P11 · Portal del cliente (RF-09, RF-19, RF-37)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7"/>
          <p:cNvSpPr txBox="1"/>
          <p:nvPr/>
        </p:nvSpPr>
        <p:spPr>
          <a:xfrm>
            <a:off x="502920" y="7658120"/>
            <a:ext cx="8183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El dueño ve solo sus mascotas, citas, controles y recordatorios.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02: panel principal adaptado al rol." id="1062" name="Google Shape;1062;p37"/>
          <p:cNvPicPr preferRelativeResize="0"/>
          <p:nvPr/>
        </p:nvPicPr>
        <p:blipFill rotWithShape="1">
          <a:blip r:embed="rId8">
            <a:alphaModFix/>
          </a:blip>
          <a:stretch/>
        </p:blipFill>
        <p:spPr>
          <a:xfrm>
            <a:off x="9995290" y="2487168"/>
            <a:ext cx="7395699" cy="4622312"/>
          </a:xfrm>
          <a:prstGeom prst="rect">
            <a:avLst/>
          </a:prstGeom>
          <a:noFill/>
          <a:ln cap="flat" cmpd="sng" w="12700">
            <a:solidFill>
              <a:srgbClr val="C9D3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3" name="Google Shape;1063;p37"/>
          <p:cNvSpPr txBox="1"/>
          <p:nvPr/>
        </p:nvSpPr>
        <p:spPr>
          <a:xfrm>
            <a:off x="9601200" y="7219208"/>
            <a:ext cx="81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1500">
                <a:solidFill>
                  <a:srgbClr val="5A6478"/>
                </a:solidFill>
                <a:latin typeface="Proxima Nova"/>
                <a:ea typeface="Proxima Nova"/>
                <a:cs typeface="Proxima Nova"/>
                <a:sym typeface="Proxima Nova"/>
              </a:rPr>
              <a:t>P12 · Usuarios y auditoría (RF-01 a RF-04, RF-24, RF-38)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7"/>
          <p:cNvSpPr txBox="1"/>
          <p:nvPr/>
        </p:nvSpPr>
        <p:spPr>
          <a:xfrm>
            <a:off x="9601200" y="7658120"/>
            <a:ext cx="8184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>
                <a:solidFill>
                  <a:srgbClr val="0F243E"/>
                </a:solidFill>
                <a:latin typeface="Proxima Nova"/>
                <a:ea typeface="Proxima Nova"/>
                <a:cs typeface="Proxima Nova"/>
                <a:sym typeface="Proxima Nova"/>
              </a:rPr>
              <a:t>Usuarios, matriz de permisos, auditoría antes/después y parámetros.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5" name="Google Shape;1065;p37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066" name="Google Shape;1066;p37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7" name="Google Shape;1067;p3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9" name="Google Shape;149;p3"/>
          <p:cNvGrpSpPr/>
          <p:nvPr/>
        </p:nvGrpSpPr>
        <p:grpSpPr>
          <a:xfrm>
            <a:off x="643758" y="2367835"/>
            <a:ext cx="5299842" cy="4182302"/>
            <a:chOff x="0" y="-192881"/>
            <a:chExt cx="9224487" cy="7181718"/>
          </a:xfrm>
        </p:grpSpPr>
        <p:grpSp>
          <p:nvGrpSpPr>
            <p:cNvPr id="150" name="Google Shape;150;p3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151" name="Google Shape;151;p3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3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3" name="Google Shape;153;p3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154" name="Google Shape;154;p3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3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56" name="Google Shape;156;p3"/>
          <p:cNvGrpSpPr/>
          <p:nvPr/>
        </p:nvGrpSpPr>
        <p:grpSpPr>
          <a:xfrm>
            <a:off x="1340605" y="1622041"/>
            <a:ext cx="3906147" cy="1421259"/>
            <a:chOff x="2180343" y="1597578"/>
            <a:chExt cx="3906147" cy="1421259"/>
          </a:xfrm>
        </p:grpSpPr>
        <p:grpSp>
          <p:nvGrpSpPr>
            <p:cNvPr id="157" name="Google Shape;157;p3"/>
            <p:cNvGrpSpPr/>
            <p:nvPr/>
          </p:nvGrpSpPr>
          <p:grpSpPr>
            <a:xfrm>
              <a:off x="2180343" y="1597578"/>
              <a:ext cx="3906147" cy="1421259"/>
              <a:chOff x="0" y="-96933"/>
              <a:chExt cx="1652322" cy="601200"/>
            </a:xfrm>
          </p:grpSpPr>
          <p:sp>
            <p:nvSpPr>
              <p:cNvPr id="158" name="Google Shape;158;p3"/>
              <p:cNvSpPr/>
              <p:nvPr/>
            </p:nvSpPr>
            <p:spPr>
              <a:xfrm>
                <a:off x="25783" y="61439"/>
                <a:ext cx="1626539" cy="441657"/>
              </a:xfrm>
              <a:custGeom>
                <a:rect b="b" l="l" r="r" t="t"/>
                <a:pathLst>
                  <a:path extrusionOk="0" h="553713" w="1626539">
                    <a:moveTo>
                      <a:pt x="40268" y="0"/>
                    </a:moveTo>
                    <a:lnTo>
                      <a:pt x="1586271" y="0"/>
                    </a:lnTo>
                    <a:cubicBezTo>
                      <a:pt x="1596950" y="0"/>
                      <a:pt x="1607193" y="4243"/>
                      <a:pt x="1614744" y="11794"/>
                    </a:cubicBezTo>
                    <a:cubicBezTo>
                      <a:pt x="1622296" y="19346"/>
                      <a:pt x="1626539" y="29588"/>
                      <a:pt x="1626539" y="40268"/>
                    </a:cubicBezTo>
                    <a:lnTo>
                      <a:pt x="1626539" y="513445"/>
                    </a:lnTo>
                    <a:cubicBezTo>
                      <a:pt x="1626539" y="524125"/>
                      <a:pt x="1622296" y="534367"/>
                      <a:pt x="1614744" y="541919"/>
                    </a:cubicBezTo>
                    <a:cubicBezTo>
                      <a:pt x="1607193" y="549471"/>
                      <a:pt x="1596950" y="553713"/>
                      <a:pt x="1586271" y="553713"/>
                    </a:cubicBezTo>
                    <a:lnTo>
                      <a:pt x="40268" y="553713"/>
                    </a:lnTo>
                    <a:cubicBezTo>
                      <a:pt x="29588" y="553713"/>
                      <a:pt x="19346" y="549471"/>
                      <a:pt x="11794" y="541919"/>
                    </a:cubicBezTo>
                    <a:cubicBezTo>
                      <a:pt x="4243" y="534367"/>
                      <a:pt x="0" y="524125"/>
                      <a:pt x="0" y="513445"/>
                    </a:cubicBezTo>
                    <a:lnTo>
                      <a:pt x="0" y="40268"/>
                    </a:lnTo>
                    <a:cubicBezTo>
                      <a:pt x="0" y="29588"/>
                      <a:pt x="4243" y="19346"/>
                      <a:pt x="11794" y="11794"/>
                    </a:cubicBezTo>
                    <a:cubicBezTo>
                      <a:pt x="19346" y="4243"/>
                      <a:pt x="29588" y="0"/>
                      <a:pt x="40268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8122E"/>
                  </a:gs>
                  <a:gs pos="100000">
                    <a:srgbClr val="2D5297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3"/>
              <p:cNvSpPr txBox="1"/>
              <p:nvPr/>
            </p:nvSpPr>
            <p:spPr>
              <a:xfrm>
                <a:off x="0" y="-96933"/>
                <a:ext cx="1626600" cy="60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7525" lIns="47525" spcFirstLastPara="1" rIns="47525" wrap="square" tIns="47525">
                <a:noAutofit/>
              </a:bodyPr>
              <a:lstStyle/>
              <a:p>
                <a:pPr indent="0" lvl="0" marL="0" marR="0" rtl="0" algn="ctr">
                  <a:lnSpc>
                    <a:spcPct val="1898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0" name="Google Shape;160;p3"/>
            <p:cNvSpPr txBox="1"/>
            <p:nvPr/>
          </p:nvSpPr>
          <p:spPr>
            <a:xfrm>
              <a:off x="2579429" y="2153020"/>
              <a:ext cx="3059371" cy="5397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015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237 PRUEBAS JUNIT</a:t>
              </a:r>
              <a:endParaRPr/>
            </a:p>
          </p:txBody>
        </p:sp>
      </p:grpSp>
      <p:sp>
        <p:nvSpPr>
          <p:cNvPr id="161" name="Google Shape;161;p3"/>
          <p:cNvSpPr txBox="1"/>
          <p:nvPr/>
        </p:nvSpPr>
        <p:spPr>
          <a:xfrm>
            <a:off x="852122" y="3515281"/>
            <a:ext cx="5072428" cy="1753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Reglas de negocio verificadas con dobles en memoria: 0 fallas con mvn test.</a:t>
            </a:r>
            <a:endParaRPr/>
          </a:p>
        </p:txBody>
      </p:sp>
      <p:cxnSp>
        <p:nvCxnSpPr>
          <p:cNvPr id="162" name="Google Shape;162;p3"/>
          <p:cNvCxnSpPr/>
          <p:nvPr/>
        </p:nvCxnSpPr>
        <p:spPr>
          <a:xfrm>
            <a:off x="1205974" y="9122068"/>
            <a:ext cx="15781831" cy="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3" name="Google Shape;163;p3"/>
          <p:cNvSpPr/>
          <p:nvPr/>
        </p:nvSpPr>
        <p:spPr>
          <a:xfrm>
            <a:off x="16580809" y="0"/>
            <a:ext cx="2927694" cy="2235694"/>
          </a:xfrm>
          <a:custGeom>
            <a:rect b="b" l="l" r="r" t="t"/>
            <a:pathLst>
              <a:path extrusionOk="0" h="2235694" w="2927694">
                <a:moveTo>
                  <a:pt x="0" y="0"/>
                </a:moveTo>
                <a:lnTo>
                  <a:pt x="2927695" y="0"/>
                </a:lnTo>
                <a:lnTo>
                  <a:pt x="2927695" y="2235694"/>
                </a:lnTo>
                <a:lnTo>
                  <a:pt x="0" y="22356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4" name="Google Shape;164;p3"/>
          <p:cNvSpPr txBox="1"/>
          <p:nvPr/>
        </p:nvSpPr>
        <p:spPr>
          <a:xfrm>
            <a:off x="191063" y="382127"/>
            <a:ext cx="11619937" cy="539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1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7.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RESULTADOS Y VERIFICACIÓN</a:t>
            </a:r>
            <a:endParaRPr/>
          </a:p>
        </p:txBody>
      </p:sp>
      <p:grpSp>
        <p:nvGrpSpPr>
          <p:cNvPr id="165" name="Google Shape;165;p3"/>
          <p:cNvGrpSpPr/>
          <p:nvPr/>
        </p:nvGrpSpPr>
        <p:grpSpPr>
          <a:xfrm>
            <a:off x="6509132" y="2367835"/>
            <a:ext cx="5299842" cy="4182302"/>
            <a:chOff x="0" y="-192881"/>
            <a:chExt cx="9224487" cy="7181718"/>
          </a:xfrm>
        </p:grpSpPr>
        <p:grpSp>
          <p:nvGrpSpPr>
            <p:cNvPr id="166" name="Google Shape;166;p3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167" name="Google Shape;167;p3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3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9" name="Google Shape;169;p3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170" name="Google Shape;170;p3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3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72" name="Google Shape;172;p3"/>
          <p:cNvGrpSpPr/>
          <p:nvPr/>
        </p:nvGrpSpPr>
        <p:grpSpPr>
          <a:xfrm>
            <a:off x="7205979" y="1738608"/>
            <a:ext cx="3906147" cy="1421585"/>
            <a:chOff x="2180343" y="1714145"/>
            <a:chExt cx="3906147" cy="1421585"/>
          </a:xfrm>
        </p:grpSpPr>
        <p:grpSp>
          <p:nvGrpSpPr>
            <p:cNvPr id="173" name="Google Shape;173;p3"/>
            <p:cNvGrpSpPr/>
            <p:nvPr/>
          </p:nvGrpSpPr>
          <p:grpSpPr>
            <a:xfrm>
              <a:off x="2180343" y="1714145"/>
              <a:ext cx="3906147" cy="1421585"/>
              <a:chOff x="0" y="-47625"/>
              <a:chExt cx="1652322" cy="601338"/>
            </a:xfrm>
          </p:grpSpPr>
          <p:sp>
            <p:nvSpPr>
              <p:cNvPr id="174" name="Google Shape;174;p3"/>
              <p:cNvSpPr/>
              <p:nvPr/>
            </p:nvSpPr>
            <p:spPr>
              <a:xfrm>
                <a:off x="25783" y="61439"/>
                <a:ext cx="1626539" cy="441657"/>
              </a:xfrm>
              <a:custGeom>
                <a:rect b="b" l="l" r="r" t="t"/>
                <a:pathLst>
                  <a:path extrusionOk="0" h="553713" w="1626539">
                    <a:moveTo>
                      <a:pt x="40268" y="0"/>
                    </a:moveTo>
                    <a:lnTo>
                      <a:pt x="1586271" y="0"/>
                    </a:lnTo>
                    <a:cubicBezTo>
                      <a:pt x="1596950" y="0"/>
                      <a:pt x="1607193" y="4243"/>
                      <a:pt x="1614744" y="11794"/>
                    </a:cubicBezTo>
                    <a:cubicBezTo>
                      <a:pt x="1622296" y="19346"/>
                      <a:pt x="1626539" y="29588"/>
                      <a:pt x="1626539" y="40268"/>
                    </a:cubicBezTo>
                    <a:lnTo>
                      <a:pt x="1626539" y="513445"/>
                    </a:lnTo>
                    <a:cubicBezTo>
                      <a:pt x="1626539" y="524125"/>
                      <a:pt x="1622296" y="534367"/>
                      <a:pt x="1614744" y="541919"/>
                    </a:cubicBezTo>
                    <a:cubicBezTo>
                      <a:pt x="1607193" y="549471"/>
                      <a:pt x="1596950" y="553713"/>
                      <a:pt x="1586271" y="553713"/>
                    </a:cubicBezTo>
                    <a:lnTo>
                      <a:pt x="40268" y="553713"/>
                    </a:lnTo>
                    <a:cubicBezTo>
                      <a:pt x="29588" y="553713"/>
                      <a:pt x="19346" y="549471"/>
                      <a:pt x="11794" y="541919"/>
                    </a:cubicBezTo>
                    <a:cubicBezTo>
                      <a:pt x="4243" y="534367"/>
                      <a:pt x="0" y="524125"/>
                      <a:pt x="0" y="513445"/>
                    </a:cubicBezTo>
                    <a:lnTo>
                      <a:pt x="0" y="40268"/>
                    </a:lnTo>
                    <a:cubicBezTo>
                      <a:pt x="0" y="29588"/>
                      <a:pt x="4243" y="19346"/>
                      <a:pt x="11794" y="11794"/>
                    </a:cubicBezTo>
                    <a:cubicBezTo>
                      <a:pt x="19346" y="4243"/>
                      <a:pt x="29588" y="0"/>
                      <a:pt x="40268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8122E"/>
                  </a:gs>
                  <a:gs pos="100000">
                    <a:srgbClr val="2D5297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3"/>
              <p:cNvSpPr txBox="1"/>
              <p:nvPr/>
            </p:nvSpPr>
            <p:spPr>
              <a:xfrm>
                <a:off x="0" y="-47625"/>
                <a:ext cx="1626538" cy="6013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7525" lIns="47525" spcFirstLastPara="1" rIns="47525" wrap="square" tIns="47525">
                <a:noAutofit/>
              </a:bodyPr>
              <a:lstStyle/>
              <a:p>
                <a:pPr indent="0" lvl="0" marL="0" marR="0" rtl="0" algn="ctr">
                  <a:lnSpc>
                    <a:spcPct val="1898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6" name="Google Shape;176;p3"/>
            <p:cNvSpPr txBox="1"/>
            <p:nvPr/>
          </p:nvSpPr>
          <p:spPr>
            <a:xfrm>
              <a:off x="2569605" y="2153020"/>
              <a:ext cx="3196836" cy="5397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015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81,8 % COBERTURA</a:t>
              </a:r>
              <a:endParaRPr/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12402165" y="2335634"/>
            <a:ext cx="5299842" cy="4182302"/>
            <a:chOff x="0" y="-192881"/>
            <a:chExt cx="9224487" cy="7181718"/>
          </a:xfrm>
        </p:grpSpPr>
        <p:grpSp>
          <p:nvGrpSpPr>
            <p:cNvPr id="178" name="Google Shape;178;p3"/>
            <p:cNvGrpSpPr/>
            <p:nvPr/>
          </p:nvGrpSpPr>
          <p:grpSpPr>
            <a:xfrm rot="10800000">
              <a:off x="0" y="4514158"/>
              <a:ext cx="9224487" cy="2474679"/>
              <a:chOff x="0" y="-38100"/>
              <a:chExt cx="1822121" cy="488826"/>
            </a:xfrm>
          </p:grpSpPr>
          <p:sp>
            <p:nvSpPr>
              <p:cNvPr id="179" name="Google Shape;179;p3"/>
              <p:cNvSpPr/>
              <p:nvPr/>
            </p:nvSpPr>
            <p:spPr>
              <a:xfrm>
                <a:off x="0" y="0"/>
                <a:ext cx="1822121" cy="450726"/>
              </a:xfrm>
              <a:custGeom>
                <a:rect b="b" l="l" r="r" t="t"/>
                <a:pathLst>
                  <a:path extrusionOk="0" h="450726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417154"/>
                    </a:lnTo>
                    <a:cubicBezTo>
                      <a:pt x="1822121" y="435695"/>
                      <a:pt x="1807091" y="450726"/>
                      <a:pt x="1788550" y="450726"/>
                    </a:cubicBezTo>
                    <a:lnTo>
                      <a:pt x="33571" y="450726"/>
                    </a:lnTo>
                    <a:cubicBezTo>
                      <a:pt x="15030" y="450726"/>
                      <a:pt x="0" y="435695"/>
                      <a:pt x="0" y="417154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64E99"/>
                  </a:gs>
                  <a:gs pos="50000">
                    <a:srgbClr val="7194CD"/>
                  </a:gs>
                  <a:gs pos="100000">
                    <a:srgbClr val="CBDFFF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3"/>
              <p:cNvSpPr txBox="1"/>
              <p:nvPr/>
            </p:nvSpPr>
            <p:spPr>
              <a:xfrm>
                <a:off x="0" y="-38100"/>
                <a:ext cx="1822121" cy="488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1" name="Google Shape;181;p3"/>
            <p:cNvGrpSpPr/>
            <p:nvPr/>
          </p:nvGrpSpPr>
          <p:grpSpPr>
            <a:xfrm>
              <a:off x="0" y="-192881"/>
              <a:ext cx="9224487" cy="6516913"/>
              <a:chOff x="0" y="-38100"/>
              <a:chExt cx="1822121" cy="1287291"/>
            </a:xfrm>
          </p:grpSpPr>
          <p:sp>
            <p:nvSpPr>
              <p:cNvPr id="182" name="Google Shape;182;p3"/>
              <p:cNvSpPr/>
              <p:nvPr/>
            </p:nvSpPr>
            <p:spPr>
              <a:xfrm>
                <a:off x="0" y="0"/>
                <a:ext cx="1822121" cy="1249191"/>
              </a:xfrm>
              <a:custGeom>
                <a:rect b="b" l="l" r="r" t="t"/>
                <a:pathLst>
                  <a:path extrusionOk="0" h="1249191" w="1822121">
                    <a:moveTo>
                      <a:pt x="33571" y="0"/>
                    </a:moveTo>
                    <a:lnTo>
                      <a:pt x="1788550" y="0"/>
                    </a:lnTo>
                    <a:cubicBezTo>
                      <a:pt x="1797453" y="0"/>
                      <a:pt x="1805992" y="3537"/>
                      <a:pt x="1812288" y="9833"/>
                    </a:cubicBezTo>
                    <a:cubicBezTo>
                      <a:pt x="1818584" y="16129"/>
                      <a:pt x="1822121" y="24668"/>
                      <a:pt x="1822121" y="33571"/>
                    </a:cubicBezTo>
                    <a:lnTo>
                      <a:pt x="1822121" y="1215619"/>
                    </a:lnTo>
                    <a:cubicBezTo>
                      <a:pt x="1822121" y="1234160"/>
                      <a:pt x="1807091" y="1249191"/>
                      <a:pt x="1788550" y="1249191"/>
                    </a:cubicBezTo>
                    <a:lnTo>
                      <a:pt x="33571" y="1249191"/>
                    </a:lnTo>
                    <a:cubicBezTo>
                      <a:pt x="15030" y="1249191"/>
                      <a:pt x="0" y="1234160"/>
                      <a:pt x="0" y="1215619"/>
                    </a:cubicBezTo>
                    <a:lnTo>
                      <a:pt x="0" y="33571"/>
                    </a:lnTo>
                    <a:cubicBezTo>
                      <a:pt x="0" y="15030"/>
                      <a:pt x="15030" y="0"/>
                      <a:pt x="335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3"/>
              <p:cNvSpPr txBox="1"/>
              <p:nvPr/>
            </p:nvSpPr>
            <p:spPr>
              <a:xfrm>
                <a:off x="0" y="-38100"/>
                <a:ext cx="1822121" cy="1287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6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84" name="Google Shape;184;p3"/>
          <p:cNvGrpSpPr/>
          <p:nvPr/>
        </p:nvGrpSpPr>
        <p:grpSpPr>
          <a:xfrm>
            <a:off x="13099012" y="1706407"/>
            <a:ext cx="3906147" cy="1421585"/>
            <a:chOff x="2180343" y="1714145"/>
            <a:chExt cx="3906147" cy="1421585"/>
          </a:xfrm>
        </p:grpSpPr>
        <p:grpSp>
          <p:nvGrpSpPr>
            <p:cNvPr id="185" name="Google Shape;185;p3"/>
            <p:cNvGrpSpPr/>
            <p:nvPr/>
          </p:nvGrpSpPr>
          <p:grpSpPr>
            <a:xfrm>
              <a:off x="2180343" y="1714145"/>
              <a:ext cx="3906147" cy="1421585"/>
              <a:chOff x="0" y="-47625"/>
              <a:chExt cx="1652322" cy="601338"/>
            </a:xfrm>
          </p:grpSpPr>
          <p:sp>
            <p:nvSpPr>
              <p:cNvPr id="186" name="Google Shape;186;p3"/>
              <p:cNvSpPr/>
              <p:nvPr/>
            </p:nvSpPr>
            <p:spPr>
              <a:xfrm>
                <a:off x="25783" y="61439"/>
                <a:ext cx="1626539" cy="441657"/>
              </a:xfrm>
              <a:custGeom>
                <a:rect b="b" l="l" r="r" t="t"/>
                <a:pathLst>
                  <a:path extrusionOk="0" h="553713" w="1626539">
                    <a:moveTo>
                      <a:pt x="40268" y="0"/>
                    </a:moveTo>
                    <a:lnTo>
                      <a:pt x="1586271" y="0"/>
                    </a:lnTo>
                    <a:cubicBezTo>
                      <a:pt x="1596950" y="0"/>
                      <a:pt x="1607193" y="4243"/>
                      <a:pt x="1614744" y="11794"/>
                    </a:cubicBezTo>
                    <a:cubicBezTo>
                      <a:pt x="1622296" y="19346"/>
                      <a:pt x="1626539" y="29588"/>
                      <a:pt x="1626539" y="40268"/>
                    </a:cubicBezTo>
                    <a:lnTo>
                      <a:pt x="1626539" y="513445"/>
                    </a:lnTo>
                    <a:cubicBezTo>
                      <a:pt x="1626539" y="524125"/>
                      <a:pt x="1622296" y="534367"/>
                      <a:pt x="1614744" y="541919"/>
                    </a:cubicBezTo>
                    <a:cubicBezTo>
                      <a:pt x="1607193" y="549471"/>
                      <a:pt x="1596950" y="553713"/>
                      <a:pt x="1586271" y="553713"/>
                    </a:cubicBezTo>
                    <a:lnTo>
                      <a:pt x="40268" y="553713"/>
                    </a:lnTo>
                    <a:cubicBezTo>
                      <a:pt x="29588" y="553713"/>
                      <a:pt x="19346" y="549471"/>
                      <a:pt x="11794" y="541919"/>
                    </a:cubicBezTo>
                    <a:cubicBezTo>
                      <a:pt x="4243" y="534367"/>
                      <a:pt x="0" y="524125"/>
                      <a:pt x="0" y="513445"/>
                    </a:cubicBezTo>
                    <a:lnTo>
                      <a:pt x="0" y="40268"/>
                    </a:lnTo>
                    <a:cubicBezTo>
                      <a:pt x="0" y="29588"/>
                      <a:pt x="4243" y="19346"/>
                      <a:pt x="11794" y="11794"/>
                    </a:cubicBezTo>
                    <a:cubicBezTo>
                      <a:pt x="19346" y="4243"/>
                      <a:pt x="29588" y="0"/>
                      <a:pt x="40268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8122E"/>
                  </a:gs>
                  <a:gs pos="100000">
                    <a:srgbClr val="2D5297"/>
                  </a:gs>
                </a:gsLst>
                <a:path path="circle">
                  <a:fillToRect b="100%" l="0%" r="100%" t="0%"/>
                </a:path>
                <a:tileRect b="0%" l="-100%" r="0%" t="-100%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3"/>
              <p:cNvSpPr txBox="1"/>
              <p:nvPr/>
            </p:nvSpPr>
            <p:spPr>
              <a:xfrm>
                <a:off x="0" y="-47625"/>
                <a:ext cx="1626538" cy="6013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7525" lIns="47525" spcFirstLastPara="1" rIns="47525" wrap="square" tIns="47525">
                <a:noAutofit/>
              </a:bodyPr>
              <a:lstStyle/>
              <a:p>
                <a:pPr indent="0" lvl="0" marL="0" marR="0" rtl="0" algn="ctr">
                  <a:lnSpc>
                    <a:spcPct val="1898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88" name="Google Shape;188;p3"/>
            <p:cNvSpPr txBox="1"/>
            <p:nvPr/>
          </p:nvSpPr>
          <p:spPr>
            <a:xfrm>
              <a:off x="2579429" y="2153020"/>
              <a:ext cx="3059371" cy="5397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015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24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12 PANTALLAS</a:t>
              </a:r>
              <a:endParaRPr/>
            </a:p>
          </p:txBody>
        </p:sp>
      </p:grpSp>
      <p:sp>
        <p:nvSpPr>
          <p:cNvPr id="189" name="Google Shape;189;p3"/>
          <p:cNvSpPr txBox="1"/>
          <p:nvPr/>
        </p:nvSpPr>
        <p:spPr>
          <a:xfrm>
            <a:off x="6755596" y="3515281"/>
            <a:ext cx="5072428" cy="1305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Líneas cubiertas en el paquete de servicios según JaCoCo (RNF-12 pide 70 %).</a:t>
            </a:r>
            <a:endParaRPr/>
          </a:p>
        </p:txBody>
      </p:sp>
      <p:sp>
        <p:nvSpPr>
          <p:cNvPr id="190" name="Google Shape;190;p3"/>
          <p:cNvSpPr txBox="1"/>
          <p:nvPr/>
        </p:nvSpPr>
        <p:spPr>
          <a:xfrm>
            <a:off x="12546347" y="3559431"/>
            <a:ext cx="5072428" cy="1305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32 casos funcionales aprobados en el servidor, con 48 capturas de evidencia.</a:t>
            </a:r>
            <a:endParaRPr/>
          </a:p>
        </p:txBody>
      </p:sp>
      <p:sp>
        <p:nvSpPr>
          <p:cNvPr id="191" name="Google Shape;191;p3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2" name="Google Shape;192;p3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193" name="Google Shape;193;p3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94" name="Google Shape;194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sp>
        <p:nvSpPr>
          <p:cNvPr id="664" name="Google Shape;664;p20"/>
          <p:cNvSpPr/>
          <p:nvPr/>
        </p:nvSpPr>
        <p:spPr>
          <a:xfrm>
            <a:off x="5963354" y="662936"/>
            <a:ext cx="6778132" cy="3534032"/>
          </a:xfrm>
          <a:custGeom>
            <a:rect b="b" l="l" r="r" t="t"/>
            <a:pathLst>
              <a:path extrusionOk="0" h="3534032" w="6778132">
                <a:moveTo>
                  <a:pt x="0" y="0"/>
                </a:moveTo>
                <a:lnTo>
                  <a:pt x="6778132" y="0"/>
                </a:lnTo>
                <a:lnTo>
                  <a:pt x="6778132" y="3534032"/>
                </a:lnTo>
                <a:lnTo>
                  <a:pt x="0" y="3534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5" name="Google Shape;665;p20"/>
          <p:cNvSpPr/>
          <p:nvPr/>
        </p:nvSpPr>
        <p:spPr>
          <a:xfrm>
            <a:off x="9247393" y="1866900"/>
            <a:ext cx="10024902" cy="7610929"/>
          </a:xfrm>
          <a:custGeom>
            <a:rect b="b" l="l" r="r" t="t"/>
            <a:pathLst>
              <a:path extrusionOk="0" h="1274980" w="1260374">
                <a:moveTo>
                  <a:pt x="34404" y="0"/>
                </a:moveTo>
                <a:lnTo>
                  <a:pt x="1225970" y="0"/>
                </a:lnTo>
                <a:cubicBezTo>
                  <a:pt x="1235095" y="0"/>
                  <a:pt x="1243846" y="3625"/>
                  <a:pt x="1250298" y="10077"/>
                </a:cubicBezTo>
                <a:cubicBezTo>
                  <a:pt x="1256749" y="16529"/>
                  <a:pt x="1260374" y="25279"/>
                  <a:pt x="1260374" y="34404"/>
                </a:cubicBezTo>
                <a:lnTo>
                  <a:pt x="1260374" y="1240577"/>
                </a:lnTo>
                <a:cubicBezTo>
                  <a:pt x="1260374" y="1249701"/>
                  <a:pt x="1256749" y="1258452"/>
                  <a:pt x="1250298" y="1264904"/>
                </a:cubicBezTo>
                <a:cubicBezTo>
                  <a:pt x="1243846" y="1271356"/>
                  <a:pt x="1235095" y="1274980"/>
                  <a:pt x="1225970" y="1274980"/>
                </a:cubicBezTo>
                <a:lnTo>
                  <a:pt x="34404" y="1274980"/>
                </a:lnTo>
                <a:cubicBezTo>
                  <a:pt x="25279" y="1274980"/>
                  <a:pt x="16529" y="1271356"/>
                  <a:pt x="10077" y="1264904"/>
                </a:cubicBezTo>
                <a:cubicBezTo>
                  <a:pt x="3625" y="1258452"/>
                  <a:pt x="0" y="1249701"/>
                  <a:pt x="0" y="1240577"/>
                </a:cubicBezTo>
                <a:lnTo>
                  <a:pt x="0" y="34404"/>
                </a:lnTo>
                <a:cubicBezTo>
                  <a:pt x="0" y="25279"/>
                  <a:pt x="3625" y="16529"/>
                  <a:pt x="10077" y="10077"/>
                </a:cubicBezTo>
                <a:cubicBezTo>
                  <a:pt x="16529" y="3625"/>
                  <a:pt x="25279" y="0"/>
                  <a:pt x="34404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0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0"/>
          <p:cNvSpPr txBox="1"/>
          <p:nvPr/>
        </p:nvSpPr>
        <p:spPr>
          <a:xfrm>
            <a:off x="644150" y="4100357"/>
            <a:ext cx="7743875" cy="310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47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mvn test ejecuta las 237 pruebas en 22 clases sin necesitar la base de datos. Además, db/06_pruebas.sql verifica 15 reglas en PostgreSQL: 14 violaciones bloqueadas (cliente duplicado, cruce de citas, firma sin diagnóstico, lote vencido, entre otras) y una venta FEFO con anulación.</a:t>
            </a:r>
            <a:endParaRPr sz="2477" u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68" name="Google Shape;668;p20"/>
          <p:cNvSpPr/>
          <p:nvPr/>
        </p:nvSpPr>
        <p:spPr>
          <a:xfrm>
            <a:off x="16221125" y="-520191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9" name="Google Shape;669;p20"/>
          <p:cNvSpPr/>
          <p:nvPr/>
        </p:nvSpPr>
        <p:spPr>
          <a:xfrm rot="10800000">
            <a:off x="571129" y="2292425"/>
            <a:ext cx="4310100" cy="1044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08122E">
                  <a:alpha val="0"/>
                </a:srgbClr>
              </a:gs>
              <a:gs pos="9000">
                <a:srgbClr val="08122E">
                  <a:alpha val="0"/>
                </a:srgbClr>
              </a:gs>
              <a:gs pos="33000">
                <a:srgbClr val="0B1736"/>
              </a:gs>
              <a:gs pos="100000">
                <a:srgbClr val="2D5297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20"/>
          <p:cNvSpPr txBox="1"/>
          <p:nvPr/>
        </p:nvSpPr>
        <p:spPr>
          <a:xfrm>
            <a:off x="932542" y="2508126"/>
            <a:ext cx="8059939" cy="828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32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EJECUCIÓN DE LAS PRUEBAS</a:t>
            </a:r>
            <a:endParaRPr b="1" sz="24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1" name="Google Shape;671;p20"/>
          <p:cNvSpPr/>
          <p:nvPr/>
        </p:nvSpPr>
        <p:spPr>
          <a:xfrm>
            <a:off x="8817709" y="2095500"/>
            <a:ext cx="13848660" cy="7162800"/>
          </a:xfrm>
          <a:prstGeom prst="roundRect">
            <a:avLst>
              <a:gd fmla="val 54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20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73" name="Google Shape;673;p20"/>
          <p:cNvSpPr txBox="1"/>
          <p:nvPr/>
        </p:nvSpPr>
        <p:spPr>
          <a:xfrm>
            <a:off x="191063" y="225286"/>
            <a:ext cx="11619937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7.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RESULTADOS Y VERIFICACIÓN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Cronograma de barras con doce actividades distribuidas en dieciséis semanas." id="674" name="Google Shape;674;p20" title="Cronograma de Gantt del proyecto en dieciséis semanas."/>
          <p:cNvPicPr preferRelativeResize="0"/>
          <p:nvPr/>
        </p:nvPicPr>
        <p:blipFill rotWithShape="1">
          <a:blip r:embed="rId7">
            <a:alphaModFix/>
          </a:blip>
          <a:stretch/>
        </p:blipFill>
        <p:spPr>
          <a:xfrm>
            <a:off x="9767198" y="2779126"/>
            <a:ext cx="7680608" cy="57933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75" name="Google Shape;675;p20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676" name="Google Shape;676;p20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77" name="Google Shape;677;p20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444" name="Google Shape;444;p11"/>
          <p:cNvGrpSpPr/>
          <p:nvPr/>
        </p:nvGrpSpPr>
        <p:grpSpPr>
          <a:xfrm>
            <a:off x="1446813" y="3015052"/>
            <a:ext cx="4873991" cy="1526139"/>
            <a:chOff x="0" y="-38100"/>
            <a:chExt cx="1040052" cy="1397054"/>
          </a:xfrm>
        </p:grpSpPr>
        <p:sp>
          <p:nvSpPr>
            <p:cNvPr id="445" name="Google Shape;445;p11"/>
            <p:cNvSpPr/>
            <p:nvPr/>
          </p:nvSpPr>
          <p:spPr>
            <a:xfrm>
              <a:off x="0" y="0"/>
              <a:ext cx="948148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11"/>
            <p:cNvSpPr/>
            <p:nvPr/>
          </p:nvSpPr>
          <p:spPr>
            <a:xfrm>
              <a:off x="0" y="-38100"/>
              <a:ext cx="1040052" cy="1397054"/>
            </a:xfrm>
            <a:prstGeom prst="roundRect">
              <a:avLst>
                <a:gd fmla="val 26807" name="adj"/>
              </a:avLst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7" name="Google Shape;447;p11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16590199" y="373368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49" name="Google Shape;449;p11"/>
          <p:cNvGrpSpPr/>
          <p:nvPr/>
        </p:nvGrpSpPr>
        <p:grpSpPr>
          <a:xfrm>
            <a:off x="503384" y="3003242"/>
            <a:ext cx="1547861" cy="1536821"/>
            <a:chOff x="2125482" y="2588485"/>
            <a:chExt cx="1547861" cy="1536821"/>
          </a:xfrm>
        </p:grpSpPr>
        <p:sp>
          <p:nvSpPr>
            <p:cNvPr id="450" name="Google Shape;450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452" name="Google Shape;452;p11"/>
          <p:cNvSpPr txBox="1"/>
          <p:nvPr/>
        </p:nvSpPr>
        <p:spPr>
          <a:xfrm>
            <a:off x="2186086" y="3263066"/>
            <a:ext cx="3482367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Versión 0.4.0 construida: 12 pantallas y 38 requisitos funcionales operativos.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53" name="Google Shape;453;p11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454" name="Google Shape;454;p11"/>
            <p:cNvSpPr/>
            <p:nvPr/>
          </p:nvSpPr>
          <p:spPr>
            <a:xfrm>
              <a:off x="0" y="0"/>
              <a:ext cx="3871319" cy="553713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>
                    <a:alpha val="0"/>
                  </a:srgbClr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11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6" name="Google Shape;456;p11"/>
          <p:cNvSpPr txBox="1"/>
          <p:nvPr/>
        </p:nvSpPr>
        <p:spPr>
          <a:xfrm>
            <a:off x="4122190" y="1416458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CONCLUSIONES</a:t>
            </a:r>
            <a:endParaRPr/>
          </a:p>
        </p:txBody>
      </p:sp>
      <p:grpSp>
        <p:nvGrpSpPr>
          <p:cNvPr id="457" name="Google Shape;457;p11"/>
          <p:cNvGrpSpPr/>
          <p:nvPr/>
        </p:nvGrpSpPr>
        <p:grpSpPr>
          <a:xfrm>
            <a:off x="11598304" y="2988770"/>
            <a:ext cx="5747086" cy="7435352"/>
            <a:chOff x="0" y="-701436"/>
            <a:chExt cx="2151083" cy="2060390"/>
          </a:xfrm>
        </p:grpSpPr>
        <p:sp>
          <p:nvSpPr>
            <p:cNvPr id="458" name="Google Shape;458;p11"/>
            <p:cNvSpPr/>
            <p:nvPr/>
          </p:nvSpPr>
          <p:spPr>
            <a:xfrm>
              <a:off x="568860" y="-701436"/>
              <a:ext cx="1582223" cy="399805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11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" name="Google Shape;460;p11"/>
          <p:cNvGrpSpPr/>
          <p:nvPr/>
        </p:nvGrpSpPr>
        <p:grpSpPr>
          <a:xfrm>
            <a:off x="1446813" y="5848147"/>
            <a:ext cx="4443302" cy="1545649"/>
            <a:chOff x="0" y="-38100"/>
            <a:chExt cx="1040052" cy="1397054"/>
          </a:xfrm>
        </p:grpSpPr>
        <p:sp>
          <p:nvSpPr>
            <p:cNvPr id="461" name="Google Shape;461;p11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11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" name="Google Shape;463;p11"/>
          <p:cNvGrpSpPr/>
          <p:nvPr/>
        </p:nvGrpSpPr>
        <p:grpSpPr>
          <a:xfrm>
            <a:off x="7171748" y="5858167"/>
            <a:ext cx="4443302" cy="1526139"/>
            <a:chOff x="0" y="-38100"/>
            <a:chExt cx="1040052" cy="1397054"/>
          </a:xfrm>
        </p:grpSpPr>
        <p:sp>
          <p:nvSpPr>
            <p:cNvPr id="464" name="Google Shape;464;p11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11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6" name="Google Shape;466;p11"/>
          <p:cNvGrpSpPr/>
          <p:nvPr/>
        </p:nvGrpSpPr>
        <p:grpSpPr>
          <a:xfrm>
            <a:off x="12332279" y="2938960"/>
            <a:ext cx="1547861" cy="1536821"/>
            <a:chOff x="2125482" y="2588485"/>
            <a:chExt cx="1547861" cy="1536821"/>
          </a:xfrm>
        </p:grpSpPr>
        <p:sp>
          <p:nvSpPr>
            <p:cNvPr id="467" name="Google Shape;467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469" name="Google Shape;469;p11"/>
          <p:cNvGrpSpPr/>
          <p:nvPr/>
        </p:nvGrpSpPr>
        <p:grpSpPr>
          <a:xfrm>
            <a:off x="489211" y="5864479"/>
            <a:ext cx="1547861" cy="1536821"/>
            <a:chOff x="2125482" y="2588485"/>
            <a:chExt cx="1547861" cy="1536821"/>
          </a:xfrm>
        </p:grpSpPr>
        <p:sp>
          <p:nvSpPr>
            <p:cNvPr id="470" name="Google Shape;470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472" name="Google Shape;472;p11"/>
          <p:cNvGrpSpPr/>
          <p:nvPr/>
        </p:nvGrpSpPr>
        <p:grpSpPr>
          <a:xfrm>
            <a:off x="6625124" y="5873652"/>
            <a:ext cx="1547861" cy="1536821"/>
            <a:chOff x="2125482" y="2588485"/>
            <a:chExt cx="1547861" cy="1536821"/>
          </a:xfrm>
        </p:grpSpPr>
        <p:sp>
          <p:nvSpPr>
            <p:cNvPr id="473" name="Google Shape;473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sp>
        <p:nvSpPr>
          <p:cNvPr id="475" name="Google Shape;475;p11"/>
          <p:cNvSpPr txBox="1"/>
          <p:nvPr/>
        </p:nvSpPr>
        <p:spPr>
          <a:xfrm>
            <a:off x="14002442" y="3048604"/>
            <a:ext cx="3342948" cy="13544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Seguridad aplicada en todas las capas, de la sesión a la base de datos.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6" name="Google Shape;476;p11"/>
          <p:cNvSpPr txBox="1"/>
          <p:nvPr/>
        </p:nvSpPr>
        <p:spPr>
          <a:xfrm>
            <a:off x="2147831" y="6080809"/>
            <a:ext cx="3471953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Guava, Commons, POI y Logback aportan validación, caché, exportación y logs.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7" name="Google Shape;477;p11"/>
          <p:cNvSpPr txBox="1"/>
          <p:nvPr/>
        </p:nvSpPr>
        <p:spPr>
          <a:xfrm>
            <a:off x="8263655" y="5964809"/>
            <a:ext cx="3305817" cy="13544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237 pruebas en verde y el historial en GitHub evidencian la construcción.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8" name="Google Shape;478;p11"/>
          <p:cNvSpPr txBox="1"/>
          <p:nvPr/>
        </p:nvSpPr>
        <p:spPr>
          <a:xfrm>
            <a:off x="191063" y="225286"/>
            <a:ext cx="10799681" cy="6801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6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8.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CONCLUSIONES Y RECOMENDACIONES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79" name="Google Shape;479;p11"/>
          <p:cNvSpPr/>
          <p:nvPr/>
        </p:nvSpPr>
        <p:spPr>
          <a:xfrm>
            <a:off x="7141890" y="2997819"/>
            <a:ext cx="4443302" cy="1484519"/>
          </a:xfrm>
          <a:custGeom>
            <a:rect b="b" l="l" r="r" t="t"/>
            <a:pathLst>
              <a:path extrusionOk="0" h="1358954" w="1040052">
                <a:moveTo>
                  <a:pt x="61882" y="0"/>
                </a:moveTo>
                <a:lnTo>
                  <a:pt x="978171" y="0"/>
                </a:lnTo>
                <a:cubicBezTo>
                  <a:pt x="1012347" y="0"/>
                  <a:pt x="1040052" y="27705"/>
                  <a:pt x="1040052" y="61882"/>
                </a:cubicBezTo>
                <a:lnTo>
                  <a:pt x="1040052" y="1297073"/>
                </a:lnTo>
                <a:cubicBezTo>
                  <a:pt x="1040052" y="1331249"/>
                  <a:pt x="1012347" y="1358954"/>
                  <a:pt x="978171" y="1358954"/>
                </a:cubicBezTo>
                <a:lnTo>
                  <a:pt x="61882" y="1358954"/>
                </a:lnTo>
                <a:cubicBezTo>
                  <a:pt x="27705" y="1358954"/>
                  <a:pt x="0" y="1331249"/>
                  <a:pt x="0" y="1297073"/>
                </a:cubicBezTo>
                <a:lnTo>
                  <a:pt x="0" y="61882"/>
                </a:lnTo>
                <a:cubicBezTo>
                  <a:pt x="0" y="27705"/>
                  <a:pt x="27705" y="0"/>
                  <a:pt x="618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1"/>
          <p:cNvSpPr txBox="1"/>
          <p:nvPr/>
        </p:nvSpPr>
        <p:spPr>
          <a:xfrm>
            <a:off x="8263656" y="3204842"/>
            <a:ext cx="3305817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MVC, DAO y SOLID separan presentación, control, negocio y persistencia.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81" name="Google Shape;481;p11"/>
          <p:cNvGrpSpPr/>
          <p:nvPr/>
        </p:nvGrpSpPr>
        <p:grpSpPr>
          <a:xfrm>
            <a:off x="6551067" y="2988770"/>
            <a:ext cx="1547861" cy="1536821"/>
            <a:chOff x="2125482" y="2588485"/>
            <a:chExt cx="1547861" cy="1536821"/>
          </a:xfrm>
        </p:grpSpPr>
        <p:sp>
          <p:nvSpPr>
            <p:cNvPr id="482" name="Google Shape;482;p11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11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grpSp>
        <p:nvGrpSpPr>
          <p:cNvPr id="484" name="Google Shape;484;p11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485" name="Google Shape;485;p11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486" name="Google Shape;486;p1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14" l="0" r="0" t="-814"/>
            </a:stretch>
          </a:blipFill>
          <a:ln>
            <a:noFill/>
          </a:ln>
        </p:spPr>
      </p:sp>
      <p:grpSp>
        <p:nvGrpSpPr>
          <p:cNvPr id="395" name="Google Shape;395;p10"/>
          <p:cNvGrpSpPr/>
          <p:nvPr/>
        </p:nvGrpSpPr>
        <p:grpSpPr>
          <a:xfrm>
            <a:off x="1446825" y="3015048"/>
            <a:ext cx="4873996" cy="1712928"/>
            <a:chOff x="0" y="-38100"/>
            <a:chExt cx="1040052" cy="1397054"/>
          </a:xfrm>
        </p:grpSpPr>
        <p:sp>
          <p:nvSpPr>
            <p:cNvPr id="396" name="Google Shape;396;p10"/>
            <p:cNvSpPr/>
            <p:nvPr/>
          </p:nvSpPr>
          <p:spPr>
            <a:xfrm>
              <a:off x="0" y="0"/>
              <a:ext cx="948148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0"/>
            <p:cNvSpPr/>
            <p:nvPr/>
          </p:nvSpPr>
          <p:spPr>
            <a:xfrm>
              <a:off x="0" y="-38100"/>
              <a:ext cx="1040052" cy="1397054"/>
            </a:xfrm>
            <a:prstGeom prst="roundRect">
              <a:avLst>
                <a:gd fmla="val 26807" name="adj"/>
              </a:avLst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8" name="Google Shape;398;p10"/>
          <p:cNvSpPr/>
          <p:nvPr/>
        </p:nvSpPr>
        <p:spPr>
          <a:xfrm>
            <a:off x="-314691" y="9987522"/>
            <a:ext cx="18917381" cy="617085"/>
          </a:xfrm>
          <a:custGeom>
            <a:rect b="b" l="l" r="r" t="t"/>
            <a:pathLst>
              <a:path extrusionOk="0" h="90953" w="2788263">
                <a:moveTo>
                  <a:pt x="15551" y="0"/>
                </a:moveTo>
                <a:lnTo>
                  <a:pt x="2772711" y="0"/>
                </a:lnTo>
                <a:cubicBezTo>
                  <a:pt x="2776836" y="0"/>
                  <a:pt x="2780791" y="1638"/>
                  <a:pt x="2783708" y="4555"/>
                </a:cubicBezTo>
                <a:cubicBezTo>
                  <a:pt x="2786624" y="7471"/>
                  <a:pt x="2788263" y="11427"/>
                  <a:pt x="2788263" y="15551"/>
                </a:cubicBezTo>
                <a:lnTo>
                  <a:pt x="2788263" y="75402"/>
                </a:lnTo>
                <a:cubicBezTo>
                  <a:pt x="2788263" y="79526"/>
                  <a:pt x="2786624" y="83482"/>
                  <a:pt x="2783708" y="86398"/>
                </a:cubicBezTo>
                <a:cubicBezTo>
                  <a:pt x="2780791" y="89315"/>
                  <a:pt x="2776836" y="90953"/>
                  <a:pt x="2772711" y="90953"/>
                </a:cubicBezTo>
                <a:lnTo>
                  <a:pt x="15551" y="90953"/>
                </a:lnTo>
                <a:cubicBezTo>
                  <a:pt x="11427" y="90953"/>
                  <a:pt x="7471" y="89315"/>
                  <a:pt x="4555" y="86398"/>
                </a:cubicBezTo>
                <a:cubicBezTo>
                  <a:pt x="1638" y="83482"/>
                  <a:pt x="0" y="79526"/>
                  <a:pt x="0" y="75402"/>
                </a:cubicBezTo>
                <a:lnTo>
                  <a:pt x="0" y="15551"/>
                </a:lnTo>
                <a:cubicBezTo>
                  <a:pt x="0" y="11427"/>
                  <a:pt x="1638" y="7471"/>
                  <a:pt x="4555" y="4555"/>
                </a:cubicBezTo>
                <a:cubicBezTo>
                  <a:pt x="7471" y="1638"/>
                  <a:pt x="11427" y="0"/>
                  <a:pt x="15551" y="0"/>
                </a:cubicBezTo>
                <a:close/>
              </a:path>
            </a:pathLst>
          </a:custGeom>
          <a:gradFill>
            <a:gsLst>
              <a:gs pos="0">
                <a:srgbClr val="064E99"/>
              </a:gs>
              <a:gs pos="50000">
                <a:srgbClr val="7194CD"/>
              </a:gs>
              <a:gs pos="100000">
                <a:srgbClr val="CBDFFF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0"/>
          <p:cNvSpPr/>
          <p:nvPr/>
        </p:nvSpPr>
        <p:spPr>
          <a:xfrm>
            <a:off x="16611600" y="419100"/>
            <a:ext cx="2724332" cy="1490953"/>
          </a:xfrm>
          <a:custGeom>
            <a:rect b="b" l="l" r="r" t="t"/>
            <a:pathLst>
              <a:path extrusionOk="0" h="1490953" w="2724332">
                <a:moveTo>
                  <a:pt x="0" y="0"/>
                </a:moveTo>
                <a:lnTo>
                  <a:pt x="2724332" y="0"/>
                </a:lnTo>
                <a:lnTo>
                  <a:pt x="2724332" y="1490953"/>
                </a:lnTo>
                <a:lnTo>
                  <a:pt x="0" y="14909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00" name="Google Shape;400;p10"/>
          <p:cNvGrpSpPr/>
          <p:nvPr/>
        </p:nvGrpSpPr>
        <p:grpSpPr>
          <a:xfrm>
            <a:off x="494724" y="3085542"/>
            <a:ext cx="1549771" cy="1536192"/>
            <a:chOff x="2116822" y="2670785"/>
            <a:chExt cx="1549771" cy="1536192"/>
          </a:xfrm>
        </p:grpSpPr>
        <p:sp>
          <p:nvSpPr>
            <p:cNvPr id="401" name="Google Shape;401;p10"/>
            <p:cNvSpPr/>
            <p:nvPr/>
          </p:nvSpPr>
          <p:spPr>
            <a:xfrm>
              <a:off x="2116822" y="2670785"/>
              <a:ext cx="1536192" cy="1536192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10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01</a:t>
              </a:r>
              <a:endParaRPr/>
            </a:p>
          </p:txBody>
        </p:sp>
      </p:grpSp>
      <p:sp>
        <p:nvSpPr>
          <p:cNvPr id="403" name="Google Shape;403;p10"/>
          <p:cNvSpPr txBox="1"/>
          <p:nvPr/>
        </p:nvSpPr>
        <p:spPr>
          <a:xfrm>
            <a:off x="2140737" y="3116985"/>
            <a:ext cx="3482400" cy="15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Prueba de carga con 50 usuarios concurrentes (JMeter) antes del despliegue.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04" name="Google Shape;404;p10"/>
          <p:cNvGrpSpPr/>
          <p:nvPr/>
        </p:nvGrpSpPr>
        <p:grpSpPr>
          <a:xfrm>
            <a:off x="3630393" y="893043"/>
            <a:ext cx="11027215" cy="1712875"/>
            <a:chOff x="0" y="-47625"/>
            <a:chExt cx="3871319" cy="601338"/>
          </a:xfrm>
        </p:grpSpPr>
        <p:sp>
          <p:nvSpPr>
            <p:cNvPr id="405" name="Google Shape;405;p10"/>
            <p:cNvSpPr/>
            <p:nvPr/>
          </p:nvSpPr>
          <p:spPr>
            <a:xfrm>
              <a:off x="0" y="0"/>
              <a:ext cx="3871319" cy="553713"/>
            </a:xfrm>
            <a:custGeom>
              <a:rect b="b" l="l" r="r" t="t"/>
              <a:pathLst>
                <a:path extrusionOk="0" h="553713" w="3871319">
                  <a:moveTo>
                    <a:pt x="14041" y="0"/>
                  </a:moveTo>
                  <a:lnTo>
                    <a:pt x="3857278" y="0"/>
                  </a:lnTo>
                  <a:cubicBezTo>
                    <a:pt x="3861002" y="0"/>
                    <a:pt x="3864573" y="1479"/>
                    <a:pt x="3867207" y="4113"/>
                  </a:cubicBezTo>
                  <a:cubicBezTo>
                    <a:pt x="3869840" y="6746"/>
                    <a:pt x="3871319" y="10317"/>
                    <a:pt x="3871319" y="14041"/>
                  </a:cubicBezTo>
                  <a:lnTo>
                    <a:pt x="3871319" y="539672"/>
                  </a:lnTo>
                  <a:cubicBezTo>
                    <a:pt x="3871319" y="543396"/>
                    <a:pt x="3869840" y="546967"/>
                    <a:pt x="3867207" y="549601"/>
                  </a:cubicBezTo>
                  <a:cubicBezTo>
                    <a:pt x="3864573" y="552234"/>
                    <a:pt x="3861002" y="553713"/>
                    <a:pt x="3857278" y="553713"/>
                  </a:cubicBezTo>
                  <a:lnTo>
                    <a:pt x="14041" y="553713"/>
                  </a:lnTo>
                  <a:cubicBezTo>
                    <a:pt x="6287" y="553713"/>
                    <a:pt x="0" y="547427"/>
                    <a:pt x="0" y="539672"/>
                  </a:cubicBezTo>
                  <a:lnTo>
                    <a:pt x="0" y="14041"/>
                  </a:lnTo>
                  <a:cubicBezTo>
                    <a:pt x="0" y="6287"/>
                    <a:pt x="6287" y="0"/>
                    <a:pt x="14041" y="0"/>
                  </a:cubicBezTo>
                  <a:close/>
                </a:path>
              </a:pathLst>
            </a:custGeom>
            <a:gradFill>
              <a:gsLst>
                <a:gs pos="0">
                  <a:srgbClr val="08122E"/>
                </a:gs>
                <a:gs pos="100000">
                  <a:srgbClr val="2D5297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10"/>
            <p:cNvSpPr txBox="1"/>
            <p:nvPr/>
          </p:nvSpPr>
          <p:spPr>
            <a:xfrm>
              <a:off x="0" y="-47625"/>
              <a:ext cx="3871319" cy="60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525" lIns="47525" spcFirstLastPara="1" rIns="47525" wrap="square" tIns="47525">
              <a:noAutofit/>
            </a:bodyPr>
            <a:lstStyle/>
            <a:p>
              <a:pPr indent="0" lvl="0" marL="0" marR="0" rtl="0" algn="ctr">
                <a:lnSpc>
                  <a:spcPct val="189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7" name="Google Shape;407;p10"/>
          <p:cNvSpPr txBox="1"/>
          <p:nvPr/>
        </p:nvSpPr>
        <p:spPr>
          <a:xfrm>
            <a:off x="4122190" y="1416458"/>
            <a:ext cx="10043621" cy="71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163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RECOMENDACIONES</a:t>
            </a:r>
            <a:endParaRPr/>
          </a:p>
        </p:txBody>
      </p:sp>
      <p:grpSp>
        <p:nvGrpSpPr>
          <p:cNvPr id="408" name="Google Shape;408;p10"/>
          <p:cNvGrpSpPr/>
          <p:nvPr/>
        </p:nvGrpSpPr>
        <p:grpSpPr>
          <a:xfrm>
            <a:off x="11598299" y="2988775"/>
            <a:ext cx="6473372" cy="7435336"/>
            <a:chOff x="0" y="-701438"/>
            <a:chExt cx="2152338" cy="2060392"/>
          </a:xfrm>
        </p:grpSpPr>
        <p:sp>
          <p:nvSpPr>
            <p:cNvPr id="409" name="Google Shape;409;p10"/>
            <p:cNvSpPr/>
            <p:nvPr/>
          </p:nvSpPr>
          <p:spPr>
            <a:xfrm>
              <a:off x="568859" y="-701438"/>
              <a:ext cx="1583479" cy="47563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10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1" name="Google Shape;411;p10"/>
          <p:cNvGrpSpPr/>
          <p:nvPr/>
        </p:nvGrpSpPr>
        <p:grpSpPr>
          <a:xfrm>
            <a:off x="1446813" y="5848147"/>
            <a:ext cx="4443302" cy="1545649"/>
            <a:chOff x="0" y="-38100"/>
            <a:chExt cx="1040052" cy="1397054"/>
          </a:xfrm>
        </p:grpSpPr>
        <p:sp>
          <p:nvSpPr>
            <p:cNvPr id="412" name="Google Shape;412;p10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10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4" name="Google Shape;414;p10"/>
          <p:cNvGrpSpPr/>
          <p:nvPr/>
        </p:nvGrpSpPr>
        <p:grpSpPr>
          <a:xfrm>
            <a:off x="7171748" y="5858167"/>
            <a:ext cx="4443302" cy="1526139"/>
            <a:chOff x="0" y="-38100"/>
            <a:chExt cx="1040052" cy="1397054"/>
          </a:xfrm>
        </p:grpSpPr>
        <p:sp>
          <p:nvSpPr>
            <p:cNvPr id="415" name="Google Shape;415;p10"/>
            <p:cNvSpPr/>
            <p:nvPr/>
          </p:nvSpPr>
          <p:spPr>
            <a:xfrm>
              <a:off x="0" y="0"/>
              <a:ext cx="1040052" cy="1358954"/>
            </a:xfrm>
            <a:custGeom>
              <a:rect b="b" l="l" r="r" t="t"/>
              <a:pathLst>
                <a:path extrusionOk="0" h="1358954" w="1040052">
                  <a:moveTo>
                    <a:pt x="61882" y="0"/>
                  </a:moveTo>
                  <a:lnTo>
                    <a:pt x="978171" y="0"/>
                  </a:lnTo>
                  <a:cubicBezTo>
                    <a:pt x="1012347" y="0"/>
                    <a:pt x="1040052" y="27705"/>
                    <a:pt x="1040052" y="61882"/>
                  </a:cubicBezTo>
                  <a:lnTo>
                    <a:pt x="1040052" y="1297073"/>
                  </a:lnTo>
                  <a:cubicBezTo>
                    <a:pt x="1040052" y="1331249"/>
                    <a:pt x="1012347" y="1358954"/>
                    <a:pt x="978171" y="1358954"/>
                  </a:cubicBezTo>
                  <a:lnTo>
                    <a:pt x="61882" y="1358954"/>
                  </a:lnTo>
                  <a:cubicBezTo>
                    <a:pt x="27705" y="1358954"/>
                    <a:pt x="0" y="1331249"/>
                    <a:pt x="0" y="1297073"/>
                  </a:cubicBezTo>
                  <a:lnTo>
                    <a:pt x="0" y="61882"/>
                  </a:lnTo>
                  <a:cubicBezTo>
                    <a:pt x="0" y="27705"/>
                    <a:pt x="27705" y="0"/>
                    <a:pt x="61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10"/>
            <p:cNvSpPr txBox="1"/>
            <p:nvPr/>
          </p:nvSpPr>
          <p:spPr>
            <a:xfrm>
              <a:off x="0" y="-38100"/>
              <a:ext cx="1040052" cy="139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10"/>
          <p:cNvGrpSpPr/>
          <p:nvPr/>
        </p:nvGrpSpPr>
        <p:grpSpPr>
          <a:xfrm>
            <a:off x="12406604" y="3064548"/>
            <a:ext cx="1547861" cy="1536821"/>
            <a:chOff x="2125482" y="2588485"/>
            <a:chExt cx="1547861" cy="1536821"/>
          </a:xfrm>
        </p:grpSpPr>
        <p:sp>
          <p:nvSpPr>
            <p:cNvPr id="418" name="Google Shape;418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10"/>
            <p:cNvSpPr txBox="1"/>
            <p:nvPr/>
          </p:nvSpPr>
          <p:spPr>
            <a:xfrm>
              <a:off x="2125482" y="2946052"/>
              <a:ext cx="1541100" cy="64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03</a:t>
              </a:r>
              <a:endParaRPr/>
            </a:p>
          </p:txBody>
        </p:sp>
      </p:grpSp>
      <p:grpSp>
        <p:nvGrpSpPr>
          <p:cNvPr id="420" name="Google Shape;420;p10"/>
          <p:cNvGrpSpPr/>
          <p:nvPr/>
        </p:nvGrpSpPr>
        <p:grpSpPr>
          <a:xfrm>
            <a:off x="489211" y="5864479"/>
            <a:ext cx="1547861" cy="1536821"/>
            <a:chOff x="2125482" y="2588485"/>
            <a:chExt cx="1547861" cy="1536821"/>
          </a:xfrm>
        </p:grpSpPr>
        <p:sp>
          <p:nvSpPr>
            <p:cNvPr id="421" name="Google Shape;421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10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04</a:t>
              </a:r>
              <a:endParaRPr/>
            </a:p>
          </p:txBody>
        </p:sp>
      </p:grpSp>
      <p:grpSp>
        <p:nvGrpSpPr>
          <p:cNvPr id="423" name="Google Shape;423;p10"/>
          <p:cNvGrpSpPr/>
          <p:nvPr/>
        </p:nvGrpSpPr>
        <p:grpSpPr>
          <a:xfrm>
            <a:off x="6625124" y="5873652"/>
            <a:ext cx="1547861" cy="1536821"/>
            <a:chOff x="2125482" y="2588485"/>
            <a:chExt cx="1547861" cy="1536821"/>
          </a:xfrm>
        </p:grpSpPr>
        <p:sp>
          <p:nvSpPr>
            <p:cNvPr id="424" name="Google Shape;424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10"/>
            <p:cNvSpPr txBox="1"/>
            <p:nvPr/>
          </p:nvSpPr>
          <p:spPr>
            <a:xfrm>
              <a:off x="2125482" y="2946052"/>
              <a:ext cx="1541111" cy="7257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05</a:t>
              </a:r>
              <a:endParaRPr/>
            </a:p>
          </p:txBody>
        </p:sp>
      </p:grpSp>
      <p:sp>
        <p:nvSpPr>
          <p:cNvPr id="426" name="Google Shape;426;p10"/>
          <p:cNvSpPr txBox="1"/>
          <p:nvPr/>
        </p:nvSpPr>
        <p:spPr>
          <a:xfrm>
            <a:off x="14002450" y="3048600"/>
            <a:ext cx="3846900" cy="15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Conectar los recordatorios a un servidor de correo real (RF-37).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7" name="Google Shape;427;p10"/>
          <p:cNvSpPr txBox="1"/>
          <p:nvPr/>
        </p:nvSpPr>
        <p:spPr>
          <a:xfrm>
            <a:off x="2140926" y="6077011"/>
            <a:ext cx="3471953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Validar los flujos con cada área de la clínica antes del uso operativo.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8" name="Google Shape;428;p10"/>
          <p:cNvSpPr txBox="1"/>
          <p:nvPr/>
        </p:nvSpPr>
        <p:spPr>
          <a:xfrm>
            <a:off x="8251826" y="6067839"/>
            <a:ext cx="3305817" cy="100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Ejecutar mvn test en cada push con GitHub Actions.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9" name="Google Shape;429;p10"/>
          <p:cNvSpPr/>
          <p:nvPr/>
        </p:nvSpPr>
        <p:spPr>
          <a:xfrm>
            <a:off x="7141900" y="2997825"/>
            <a:ext cx="4443622" cy="1712282"/>
          </a:xfrm>
          <a:custGeom>
            <a:rect b="b" l="l" r="r" t="t"/>
            <a:pathLst>
              <a:path extrusionOk="0" h="1358954" w="1040052">
                <a:moveTo>
                  <a:pt x="61882" y="0"/>
                </a:moveTo>
                <a:lnTo>
                  <a:pt x="978171" y="0"/>
                </a:lnTo>
                <a:cubicBezTo>
                  <a:pt x="1012347" y="0"/>
                  <a:pt x="1040052" y="27705"/>
                  <a:pt x="1040052" y="61882"/>
                </a:cubicBezTo>
                <a:lnTo>
                  <a:pt x="1040052" y="1297073"/>
                </a:lnTo>
                <a:cubicBezTo>
                  <a:pt x="1040052" y="1331249"/>
                  <a:pt x="1012347" y="1358954"/>
                  <a:pt x="978171" y="1358954"/>
                </a:cubicBezTo>
                <a:lnTo>
                  <a:pt x="61882" y="1358954"/>
                </a:lnTo>
                <a:cubicBezTo>
                  <a:pt x="27705" y="1358954"/>
                  <a:pt x="0" y="1331249"/>
                  <a:pt x="0" y="1297073"/>
                </a:cubicBezTo>
                <a:lnTo>
                  <a:pt x="0" y="61882"/>
                </a:lnTo>
                <a:cubicBezTo>
                  <a:pt x="0" y="27705"/>
                  <a:pt x="27705" y="0"/>
                  <a:pt x="618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0"/>
          <p:cNvSpPr txBox="1"/>
          <p:nvPr/>
        </p:nvSpPr>
        <p:spPr>
          <a:xfrm>
            <a:off x="8251825" y="3205574"/>
            <a:ext cx="2965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960">
                <a:solidFill>
                  <a:srgbClr val="0B1B45"/>
                </a:solidFill>
                <a:latin typeface="Proxima Nova"/>
                <a:ea typeface="Proxima Nova"/>
                <a:cs typeface="Proxima Nova"/>
                <a:sym typeface="Proxima Nova"/>
              </a:rPr>
              <a:t>Configurar HTTPS y la cookie Secure en el Tomcat de producción.</a:t>
            </a:r>
            <a:endParaRPr sz="1960" u="none" strike="noStrike">
              <a:solidFill>
                <a:srgbClr val="0B1B4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31" name="Google Shape;431;p10"/>
          <p:cNvGrpSpPr/>
          <p:nvPr/>
        </p:nvGrpSpPr>
        <p:grpSpPr>
          <a:xfrm>
            <a:off x="6512392" y="3085558"/>
            <a:ext cx="1547861" cy="1536821"/>
            <a:chOff x="2125482" y="2588485"/>
            <a:chExt cx="1547861" cy="1536821"/>
          </a:xfrm>
        </p:grpSpPr>
        <p:sp>
          <p:nvSpPr>
            <p:cNvPr id="432" name="Google Shape;432;p10"/>
            <p:cNvSpPr/>
            <p:nvPr/>
          </p:nvSpPr>
          <p:spPr>
            <a:xfrm>
              <a:off x="2136522" y="2588485"/>
              <a:ext cx="1536821" cy="1536821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064E99"/>
                </a:gs>
                <a:gs pos="50000">
                  <a:srgbClr val="7194CD"/>
                </a:gs>
                <a:gs pos="100000">
                  <a:srgbClr val="CBDFFF"/>
                </a:gs>
              </a:gsLst>
              <a:path path="circle">
                <a:fillToRect b="100%" l="0%" r="100%" t="0%"/>
              </a:path>
              <a:tileRect b="0%" l="-100%" r="0%" t="-100%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10"/>
            <p:cNvSpPr txBox="1"/>
            <p:nvPr/>
          </p:nvSpPr>
          <p:spPr>
            <a:xfrm>
              <a:off x="2125482" y="2946052"/>
              <a:ext cx="1541100" cy="64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PE" sz="4217">
                  <a:solidFill>
                    <a:srgbClr val="0B1B45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02</a:t>
              </a:r>
              <a:endParaRPr/>
            </a:p>
          </p:txBody>
        </p:sp>
      </p:grpSp>
      <p:sp>
        <p:nvSpPr>
          <p:cNvPr id="434" name="Google Shape;434;p10"/>
          <p:cNvSpPr/>
          <p:nvPr/>
        </p:nvSpPr>
        <p:spPr>
          <a:xfrm flipH="1">
            <a:off x="459557" y="9588494"/>
            <a:ext cx="707704" cy="337125"/>
          </a:xfrm>
          <a:custGeom>
            <a:rect b="b" l="l" r="r" t="t"/>
            <a:pathLst>
              <a:path extrusionOk="0" h="337125" w="707704">
                <a:moveTo>
                  <a:pt x="707705" y="0"/>
                </a:moveTo>
                <a:lnTo>
                  <a:pt x="0" y="0"/>
                </a:lnTo>
                <a:lnTo>
                  <a:pt x="0" y="337125"/>
                </a:lnTo>
                <a:lnTo>
                  <a:pt x="707705" y="337125"/>
                </a:lnTo>
                <a:lnTo>
                  <a:pt x="70770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435" name="Google Shape;435;p10"/>
          <p:cNvGrpSpPr/>
          <p:nvPr/>
        </p:nvGrpSpPr>
        <p:grpSpPr>
          <a:xfrm>
            <a:off x="15227202" y="9951"/>
            <a:ext cx="2982687" cy="911939"/>
            <a:chOff x="13545534" y="-105482"/>
            <a:chExt cx="4492857" cy="1373665"/>
          </a:xfrm>
        </p:grpSpPr>
        <p:sp>
          <p:nvSpPr>
            <p:cNvPr id="436" name="Google Shape;436;p10"/>
            <p:cNvSpPr/>
            <p:nvPr/>
          </p:nvSpPr>
          <p:spPr>
            <a:xfrm>
              <a:off x="15509774" y="201676"/>
              <a:ext cx="2440339" cy="84139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437" name="Google Shape;437;p10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3545534" y="-105482"/>
              <a:ext cx="4492857" cy="137366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8" name="Google Shape;438;p10"/>
          <p:cNvSpPr txBox="1"/>
          <p:nvPr/>
        </p:nvSpPr>
        <p:spPr>
          <a:xfrm>
            <a:off x="191063" y="225286"/>
            <a:ext cx="10799681" cy="645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445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2400">
                <a:solidFill>
                  <a:srgbClr val="3165AA"/>
                </a:solidFill>
                <a:latin typeface="IBM Plex Sans"/>
                <a:ea typeface="IBM Plex Sans"/>
                <a:cs typeface="IBM Plex Sans"/>
                <a:sym typeface="IBM Plex Sans"/>
              </a:rPr>
              <a:t>8.  </a:t>
            </a:r>
            <a:r>
              <a:rPr b="1" lang="es-PE" sz="24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CONCLUSIONES Y RECOMENDACIONES</a:t>
            </a:r>
            <a:endParaRPr b="1" sz="2400">
              <a:solidFill>
                <a:srgbClr val="3165A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